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00c7bc9a6c9493d" /><Relationship Type="http://schemas.openxmlformats.org/officeDocument/2006/relationships/extended-properties" Target="/docProps/app.xml" Id="Rc95e3a43543d4223" /><Relationship Type="http://schemas.openxmlformats.org/officeDocument/2006/relationships/officeDocument" Target="/ppt/presentation.xml" Id="R791695eb58be4fde" /></Relationships>
</file>

<file path=ppt/presentation.xml><?xml version="1.0" encoding="utf-8"?>
<p:presentation xmlns:p="http://schemas.openxmlformats.org/presentationml/2006/main">
  <p:sldMasterIdLst>
    <p:sldMasterId xmlns:r="http://schemas.openxmlformats.org/officeDocument/2006/relationships" id="2147483648" r:id="R64bd20b660514e39"/>
  </p:sldMasterIdLst>
  <p:notesMasterIdLst>
    <p:notesMasterId xmlns:r="http://schemas.openxmlformats.org/officeDocument/2006/relationships" r:id="R3e560f2370824eb0"/>
  </p:notesMasterIdLst>
  <p:sldIdLst>
    <p:sldId xmlns:r="http://schemas.openxmlformats.org/officeDocument/2006/relationships" id="256" r:id="R04b4be3b1aaa40ef"/>
    <p:sldId xmlns:r="http://schemas.openxmlformats.org/officeDocument/2006/relationships" id="257" r:id="R9c1675c5ccd74342"/>
    <p:sldId xmlns:r="http://schemas.openxmlformats.org/officeDocument/2006/relationships" id="258" r:id="R838a1e270d0c4894"/>
    <p:sldId xmlns:r="http://schemas.openxmlformats.org/officeDocument/2006/relationships" id="259" r:id="R37f67a7ee6864f28"/>
    <p:sldId xmlns:r="http://schemas.openxmlformats.org/officeDocument/2006/relationships" id="260" r:id="R4eebb00905cd40b2"/>
    <p:sldId xmlns:r="http://schemas.openxmlformats.org/officeDocument/2006/relationships" id="261" r:id="R889d92ee5e2f465c"/>
    <p:sldId xmlns:r="http://schemas.openxmlformats.org/officeDocument/2006/relationships" id="262" r:id="Ra4be95877daa4c97"/>
    <p:sldId xmlns:r="http://schemas.openxmlformats.org/officeDocument/2006/relationships" id="263" r:id="Rce4f610344d9480e"/>
    <p:sldId xmlns:r="http://schemas.openxmlformats.org/officeDocument/2006/relationships" id="264" r:id="R9ca1c13bc2cc45c7"/>
    <p:sldId xmlns:r="http://schemas.openxmlformats.org/officeDocument/2006/relationships" id="265" r:id="Rb542e6f0730a43dd"/>
    <p:sldId xmlns:r="http://schemas.openxmlformats.org/officeDocument/2006/relationships" id="266" r:id="Rdfde7aef48c241b2"/>
    <p:sldId xmlns:r="http://schemas.openxmlformats.org/officeDocument/2006/relationships" id="267" r:id="R83020955a72c4c08"/>
    <p:sldId xmlns:r="http://schemas.openxmlformats.org/officeDocument/2006/relationships" id="268" r:id="Rc460c66109454053"/>
    <p:sldId xmlns:r="http://schemas.openxmlformats.org/officeDocument/2006/relationships" id="269" r:id="Rca230435ac184a56"/>
    <p:sldId xmlns:r="http://schemas.openxmlformats.org/officeDocument/2006/relationships" id="270" r:id="R899d50bd8e61437e"/>
    <p:sldId xmlns:r="http://schemas.openxmlformats.org/officeDocument/2006/relationships" id="271" r:id="Rcbe78aaad82a4072"/>
    <p:sldId xmlns:r="http://schemas.openxmlformats.org/officeDocument/2006/relationships" id="272" r:id="R091ac54b225f4514"/>
    <p:sldId xmlns:r="http://schemas.openxmlformats.org/officeDocument/2006/relationships" id="273" r:id="R6e650ebd46ac4a35"/>
    <p:sldId xmlns:r="http://schemas.openxmlformats.org/officeDocument/2006/relationships" id="274" r:id="R513f56e1511b4185"/>
    <p:sldId xmlns:r="http://schemas.openxmlformats.org/officeDocument/2006/relationships" id="275" r:id="Rae2b7c3cacea4cc4"/>
    <p:sldId xmlns:r="http://schemas.openxmlformats.org/officeDocument/2006/relationships" id="276" r:id="R11142fd7cb054527"/>
    <p:sldId xmlns:r="http://schemas.openxmlformats.org/officeDocument/2006/relationships" id="277" r:id="Rb6265466241d4b53"/>
    <p:sldId xmlns:r="http://schemas.openxmlformats.org/officeDocument/2006/relationships" id="278" r:id="R15472b456e594a0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9cb46fae1bb4413" /><Relationship Type="http://schemas.openxmlformats.org/officeDocument/2006/relationships/slideMaster" Target="/ppt/slideMasters/slideMaster1.xml" Id="R64bd20b660514e39" /><Relationship Type="http://schemas.openxmlformats.org/officeDocument/2006/relationships/notesMaster" Target="/ppt/notesMasters/notesMaster1.xml" Id="R3e560f2370824eb0" /><Relationship Type="http://schemas.openxmlformats.org/officeDocument/2006/relationships/presProps" Target="/ppt/presProps.xml" Id="Raa1dc28592f342ed" /><Relationship Type="http://schemas.openxmlformats.org/officeDocument/2006/relationships/tableStyles" Target="/ppt/tableStyles.xml" Id="R99253e6137964db6" /><Relationship Type="http://schemas.openxmlformats.org/officeDocument/2006/relationships/slide" Target="/ppt/slides/slide1.xml" Id="R04b4be3b1aaa40ef" /><Relationship Type="http://schemas.openxmlformats.org/officeDocument/2006/relationships/slide" Target="/ppt/slides/slide2.xml" Id="R9c1675c5ccd74342" /><Relationship Type="http://schemas.openxmlformats.org/officeDocument/2006/relationships/slide" Target="/ppt/slides/slide3.xml" Id="R838a1e270d0c4894" /><Relationship Type="http://schemas.openxmlformats.org/officeDocument/2006/relationships/slide" Target="/ppt/slides/slide4.xml" Id="R37f67a7ee6864f28" /><Relationship Type="http://schemas.openxmlformats.org/officeDocument/2006/relationships/slide" Target="/ppt/slides/slide5.xml" Id="R4eebb00905cd40b2" /><Relationship Type="http://schemas.openxmlformats.org/officeDocument/2006/relationships/slide" Target="/ppt/slides/slide6.xml" Id="R889d92ee5e2f465c" /><Relationship Type="http://schemas.openxmlformats.org/officeDocument/2006/relationships/slide" Target="/ppt/slides/slide7.xml" Id="Ra4be95877daa4c97" /><Relationship Type="http://schemas.openxmlformats.org/officeDocument/2006/relationships/slide" Target="/ppt/slides/slide8.xml" Id="Rce4f610344d9480e" /><Relationship Type="http://schemas.openxmlformats.org/officeDocument/2006/relationships/slide" Target="/ppt/slides/slide9.xml" Id="R9ca1c13bc2cc45c7" /><Relationship Type="http://schemas.openxmlformats.org/officeDocument/2006/relationships/slide" Target="/ppt/slides/slide10.xml" Id="Rb542e6f0730a43dd" /><Relationship Type="http://schemas.openxmlformats.org/officeDocument/2006/relationships/slide" Target="/ppt/slides/slide11.xml" Id="Rdfde7aef48c241b2" /><Relationship Type="http://schemas.openxmlformats.org/officeDocument/2006/relationships/slide" Target="/ppt/slides/slide12.xml" Id="R83020955a72c4c08" /><Relationship Type="http://schemas.openxmlformats.org/officeDocument/2006/relationships/slide" Target="/ppt/slides/slide13.xml" Id="Rc460c66109454053" /><Relationship Type="http://schemas.openxmlformats.org/officeDocument/2006/relationships/slide" Target="/ppt/slides/slide14.xml" Id="Rca230435ac184a56" /><Relationship Type="http://schemas.openxmlformats.org/officeDocument/2006/relationships/slide" Target="/ppt/slides/slide15.xml" Id="R899d50bd8e61437e" /><Relationship Type="http://schemas.openxmlformats.org/officeDocument/2006/relationships/slide" Target="/ppt/slides/slide16.xml" Id="Rcbe78aaad82a4072" /><Relationship Type="http://schemas.openxmlformats.org/officeDocument/2006/relationships/slide" Target="/ppt/slides/slide17.xml" Id="R091ac54b225f4514" /><Relationship Type="http://schemas.openxmlformats.org/officeDocument/2006/relationships/slide" Target="/ppt/slides/slide18.xml" Id="R6e650ebd46ac4a35" /><Relationship Type="http://schemas.openxmlformats.org/officeDocument/2006/relationships/slide" Target="/ppt/slides/slide19.xml" Id="R513f56e1511b4185" /><Relationship Type="http://schemas.openxmlformats.org/officeDocument/2006/relationships/slide" Target="/ppt/slides/slide20.xml" Id="Rae2b7c3cacea4cc4" /><Relationship Type="http://schemas.openxmlformats.org/officeDocument/2006/relationships/slide" Target="/ppt/slides/slide21.xml" Id="R11142fd7cb054527" /><Relationship Type="http://schemas.openxmlformats.org/officeDocument/2006/relationships/slide" Target="/ppt/slides/slide22.xml" Id="Rb6265466241d4b53" /><Relationship Type="http://schemas.openxmlformats.org/officeDocument/2006/relationships/slide" Target="/ppt/slides/slide23.xml" Id="R15472b456e594a0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827ab4342fc4a9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3c633d1c79041a3" /><Relationship Type="http://schemas.openxmlformats.org/officeDocument/2006/relationships/notesMaster" Target="/ppt/notesMasters/notesMaster1.xml" Id="Reb62dd7aaf7c4582" /></Relationships>
</file>

<file path=ppt/notesSlides/_rels/notesSlide2.xml.rels>&#65279;<?xml version="1.0" encoding="utf-8"?><Relationships xmlns="http://schemas.openxmlformats.org/package/2006/relationships"><Relationship Type="http://schemas.openxmlformats.org/officeDocument/2006/relationships/slide" Target="/ppt/slides/slide2.xml" Id="R15f6b2ee73514977" /><Relationship Type="http://schemas.openxmlformats.org/officeDocument/2006/relationships/notesMaster" Target="/ppt/notesMasters/notesMaster1.xml" Id="R5f780fce41a34a1a" /></Relationships>
</file>

<file path=ppt/notesSlides/_rels/notesSlide3.xml.rels>&#65279;<?xml version="1.0" encoding="utf-8"?><Relationships xmlns="http://schemas.openxmlformats.org/package/2006/relationships"><Relationship Type="http://schemas.openxmlformats.org/officeDocument/2006/relationships/slide" Target="/ppt/slides/slide3.xml" Id="Rc4f1916ac83d4bd3" /><Relationship Type="http://schemas.openxmlformats.org/officeDocument/2006/relationships/notesMaster" Target="/ppt/notesMasters/notesMaster1.xml" Id="Rf26a6f70b43b411c" /></Relationships>
</file>

<file path=ppt/notesSlides/_rels/notesSlide4.xml.rels>&#65279;<?xml version="1.0" encoding="utf-8"?><Relationships xmlns="http://schemas.openxmlformats.org/package/2006/relationships"><Relationship Type="http://schemas.openxmlformats.org/officeDocument/2006/relationships/slide" Target="/ppt/slides/slide4.xml" Id="R5bf9339fc8284ae8" /><Relationship Type="http://schemas.openxmlformats.org/officeDocument/2006/relationships/notesMaster" Target="/ppt/notesMasters/notesMaster1.xml" Id="R2422b838b5c84687" /></Relationships>
</file>

<file path=ppt/notesSlides/_rels/notesSlide5.xml.rels>&#65279;<?xml version="1.0" encoding="utf-8"?><Relationships xmlns="http://schemas.openxmlformats.org/package/2006/relationships"><Relationship Type="http://schemas.openxmlformats.org/officeDocument/2006/relationships/slide" Target="/ppt/slides/slide5.xml" Id="R296253f3d1bb43fc" /><Relationship Type="http://schemas.openxmlformats.org/officeDocument/2006/relationships/notesMaster" Target="/ppt/notesMasters/notesMaster1.xml" Id="R1ffadeee3e024a81" /></Relationships>
</file>

<file path=ppt/notesSlides/_rels/notesSlide6.xml.rels>&#65279;<?xml version="1.0" encoding="utf-8"?><Relationships xmlns="http://schemas.openxmlformats.org/package/2006/relationships"><Relationship Type="http://schemas.openxmlformats.org/officeDocument/2006/relationships/slide" Target="/ppt/slides/slide6.xml" Id="R5f56a52061bd40c4" /><Relationship Type="http://schemas.openxmlformats.org/officeDocument/2006/relationships/notesMaster" Target="/ppt/notesMasters/notesMaster1.xml" Id="R3ff2ef54bedf417c" /></Relationships>
</file>

<file path=ppt/notesSlides/_rels/notesSlide7.xml.rels>&#65279;<?xml version="1.0" encoding="utf-8"?><Relationships xmlns="http://schemas.openxmlformats.org/package/2006/relationships"><Relationship Type="http://schemas.openxmlformats.org/officeDocument/2006/relationships/slide" Target="/ppt/slides/slide7.xml" Id="R3c74fe1bb6794d56" /><Relationship Type="http://schemas.openxmlformats.org/officeDocument/2006/relationships/notesMaster" Target="/ppt/notesMasters/notesMaster1.xml" Id="Red8a67c1a6924210" /></Relationships>
</file>

<file path=ppt/notesSlides/_rels/notesSlide8.xml.rels>&#65279;<?xml version="1.0" encoding="utf-8"?><Relationships xmlns="http://schemas.openxmlformats.org/package/2006/relationships"><Relationship Type="http://schemas.openxmlformats.org/officeDocument/2006/relationships/slide" Target="/ppt/slides/slide8.xml" Id="Rb8d5436b94b9414a" /><Relationship Type="http://schemas.openxmlformats.org/officeDocument/2006/relationships/notesMaster" Target="/ppt/notesMasters/notesMaster1.xml" Id="R24d2089d98a64a74" /></Relationships>
</file>

<file path=ppt/notesSlides/_rels/notesSlide9.xml.rels>&#65279;<?xml version="1.0" encoding="utf-8"?><Relationships xmlns="http://schemas.openxmlformats.org/package/2006/relationships"><Relationship Type="http://schemas.openxmlformats.org/officeDocument/2006/relationships/slide" Target="/ppt/slides/slide9.xml" Id="R16b64067f76a41c4" /><Relationship Type="http://schemas.openxmlformats.org/officeDocument/2006/relationships/notesMaster" Target="/ppt/notesMasters/notesMaster1.xml" Id="R8687acdceb1d40b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5b6999eaf894700" /><Relationship Type="http://schemas.openxmlformats.org/officeDocument/2006/relationships/notesMaster" Target="/ppt/notesMasters/notesMaster1.xml" Id="R067935a03140450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5f12fc199b7442c" /><Relationship Type="http://schemas.openxmlformats.org/officeDocument/2006/relationships/notesMaster" Target="/ppt/notesMasters/notesMaster1.xml" Id="Rb0e0d196df5e4b4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4eab496271c433f" /><Relationship Type="http://schemas.openxmlformats.org/officeDocument/2006/relationships/notesMaster" Target="/ppt/notesMasters/notesMaster1.xml" Id="R208b468491e44c9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6c0bb16bfa343a1" /><Relationship Type="http://schemas.openxmlformats.org/officeDocument/2006/relationships/notesMaster" Target="/ppt/notesMasters/notesMaster1.xml" Id="Rf042e074f8ab4c7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8c67824911647b7" /><Relationship Type="http://schemas.openxmlformats.org/officeDocument/2006/relationships/notesMaster" Target="/ppt/notesMasters/notesMaster1.xml" Id="Rbd1362fd68ad442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efeffd89ac74e79" /><Relationship Type="http://schemas.openxmlformats.org/officeDocument/2006/relationships/notesMaster" Target="/ppt/notesMasters/notesMaster1.xml" Id="R946e95b9874846d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7a969d5ce204f00" /><Relationship Type="http://schemas.openxmlformats.org/officeDocument/2006/relationships/notesMaster" Target="/ppt/notesMasters/notesMaster1.xml" Id="R5a5f14bf065b4ea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df47a151cbe4f2c" /><Relationship Type="http://schemas.openxmlformats.org/officeDocument/2006/relationships/notesMaster" Target="/ppt/notesMasters/notesMaster1.xml" Id="R8b29be4a05d046b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3b2a8e4ea984cfe" /><Relationship Type="http://schemas.openxmlformats.org/officeDocument/2006/relationships/notesMaster" Target="/ppt/notesMasters/notesMaster1.xml" Id="R435311f66fb1490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5c392c7a8a64022" /><Relationship Type="http://schemas.openxmlformats.org/officeDocument/2006/relationships/notesMaster" Target="/ppt/notesMasters/notesMaster1.xml" Id="Rfa3d7b378725403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db0d4d30c894ddf" /><Relationship Type="http://schemas.openxmlformats.org/officeDocument/2006/relationships/notesMaster" Target="/ppt/notesMasters/notesMaster1.xml" Id="R899d9914befe446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72a18cc6c4e471d" /><Relationship Type="http://schemas.openxmlformats.org/officeDocument/2006/relationships/notesMaster" Target="/ppt/notesMasters/notesMaster1.xml" Id="R5ee923792e1f428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f570a69cd9c430b" /><Relationship Type="http://schemas.openxmlformats.org/officeDocument/2006/relationships/notesMaster" Target="/ppt/notesMasters/notesMaster1.xml" Id="Rc9f9e49989754aa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00736e7cd8a44d9" /><Relationship Type="http://schemas.openxmlformats.org/officeDocument/2006/relationships/notesMaster" Target="/ppt/notesMasters/notesMaster1.xml" Id="R142d8f4aa29c4cb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프로젝트 소스 기준: Assets/CometFoundry/Resources/Title/CometFoundryCover.jpg</a:t>
            </a:r>
          </a:p>
          <a:p xmlns:a="http://schemas.openxmlformats.org/drawingml/2006/main">
            <a:r>
              <a:t>작성 기준일: 2026-10-12. 실무 경력, 개인별 기여율과 사용성 검증 성과를 추정하지 않음. 기획·제안은 해당 슬라이드에 구분. 이미지 출처: 프로젝트 내 리소스. 타이틀 아트는 게임 콘셉트 이미지.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프로젝트 소스 기준: Handoff/GPT_GameDesignBrief.md</a:t>
            </a:r>
          </a:p>
          <a:p xmlns:a="http://schemas.openxmlformats.org/drawingml/2006/main">
            <a:r>
              <a:t>작성 기준일: 2026-10-12. 실무 경력, 개인별 기여율과 사용성 검증 성과를 추정하지 않음. 기획·제안은 해당 슬라이드에 구분. 이미지 출처: 프로젝트 내 리소스. 타이틀 아트는 게임 콘셉트 이미지.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 Development Area/Comet Foundry/Handoff/GPT_GameDesignBrief.md</a:t>
            </a:r>
          </a:p>
          <a:p xmlns:a="http://schemas.openxmlformats.org/drawingml/2006/main">
            <a:r>
              <a:t>개발 의도는 프로젝트 기획 문서, UI 구성 의도는 코드와 배치 구조의 해석이다. 실제 캡처는 기존 저장소의 이전 UI 화면이다. 구성도는 코드 기반 설명 도식이며 실제 실행 캡처가 아니다. 이미지의 노이즈와 이전 버튼 위치를 원본 그대로 보존했다.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 Assets/CometFoundry/Scripts/Simulation/FoundrySession.cs; FoundryExpansion.cs; FoundryPersistence.cs</a:t>
            </a:r>
          </a:p>
          <a:p xmlns:a="http://schemas.openxmlformats.org/drawingml/2006/main">
            <a:r>
              <a:t>개발 의도는 프로젝트 기획 문서, UI 구성 의도는 코드와 배치 구조의 해석이다. 실제 캡처는 기존 저장소의 이전 UI 화면이다. 구성도는 코드 기반 설명 도식이며 실제 실행 캡처가 아니다. 이미지의 노이즈와 이전 버튼 위치를 원본 그대로 보존했다.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프로젝트 소스 기준: Scripts/Data/FoundryContent.cs; Scripts/Simulation/FoundryExpansion.cs</a:t>
            </a:r>
          </a:p>
          <a:p xmlns:a="http://schemas.openxmlformats.org/drawingml/2006/main">
            <a:r>
              <a:t>작성 기준일: 2026-10-12. 실무 경력, 개인별 기여율과 사용성 검증 성과를 추정하지 않음. 기획·제안은 해당 슬라이드에 구분. 이미지 출처: 프로젝트 내 리소스. 타이틀 아트는 게임 콘셉트 이미지.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 화면 출처: Presentations/스크린샷 2026-10-12 140045.png. 버튼 기능 근거: Assets/CometFoundry/Scripts/Prototype/FoundryPlayableController.cs. 자금과 재고는 캡처 시점의 게임 상태이며 성과 수치가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 화면 출처: Presentations/스크린샷 2026-10-12 135033.png</a:t>
            </a:r>
          </a:p>
          <a:p xmlns:a="http://schemas.openxmlformats.org/drawingml/2006/main">
            <a:r>
              <a:t>버튼과 실행 조건 근거: Assets/CometFoundry/Scripts/Prototype/FoundryPlayableController.cs; FoundryManagementUI.cs; FoundryGuidesAndMissionsUI.cs. 화면의 플레이 자금과 재고는 캡처 시점의 상태이며 성과 지표가 아니다. 개발 의도는 기획 문서와 UI 구성을 바탕으로 정리한 설계 해석이다.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프로젝트 소스 기준: Scripts/Data/FoundryContent.cs; Scripts/Simulation/FoundrySession.cs</a:t>
            </a:r>
          </a:p>
          <a:p xmlns:a="http://schemas.openxmlformats.org/drawingml/2006/main">
            <a:r>
              <a:t>작성 기준일: 2026-10-12. 실무 경력, 개인별 기여율과 사용성 검증 성과를 추정하지 않음. 기획·제안은 해당 슬라이드에 구분. 이미지 출처: 프로젝트 내 리소스. 타이틀 아트는 게임 콘셉트 이미지.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 Assets/CometFoundry/Scripts/Prototype/FoundryPlayableController.cs, DrawPopup</a:t>
            </a:r>
          </a:p>
          <a:p xmlns:a="http://schemas.openxmlformats.org/drawingml/2006/main">
            <a:r>
              <a:t>개발 의도는 프로젝트 기획 문서, UI 구성 의도는 코드와 배치 구조의 해석이다. 실제 캡처는 기존 저장소의 이전 UI 화면이다. 구성도는 코드 기반 설명 도식이며 실제 실행 캡처가 아니다. 이미지의 노이즈와 이전 버튼 위치를 원본 그대로 보존했다.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프로젝트 소스 기준: Scripts/Simulation/FoundrySession.cs; Scripts/Simulation/FoundryExpansion.cs</a:t>
            </a:r>
          </a:p>
          <a:p xmlns:a="http://schemas.openxmlformats.org/drawingml/2006/main">
            <a:r>
              <a:t>작성 기준일: 2026-10-12. 실무 경력, 개인별 기여율과 사용성 검증 성과를 추정하지 않음. 기획·제안은 해당 슬라이드에 구분. 이미지 출처: 프로젝트 내 리소스. 타이틀 아트는 게임 콘셉트 이미지.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프로젝트 소스 기준: Scripts/Simulation/FoundryExpansion.cs</a:t>
            </a:r>
          </a:p>
          <a:p xmlns:a="http://schemas.openxmlformats.org/drawingml/2006/main">
            <a:r>
              <a:t>작성 기준일: 2026-10-12. 실무 경력, 개인별 기여율과 사용성 검증 성과를 추정하지 않음. 기획·제안은 해당 슬라이드에 구분. 이미지 출처: 프로젝트 내 리소스. 타이틀 아트는 게임 콘셉트 이미지.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 화면 출처: Presentations/스크린샷 2026-10-12 135150.png</a:t>
            </a:r>
          </a:p>
          <a:p xmlns:a="http://schemas.openxmlformats.org/drawingml/2006/main">
            <a:r>
              <a:t>버튼과 실행 조건 근거: Assets/CometFoundry/Scripts/Prototype/FoundryPlayableController.cs; FoundryManagementUI.cs; FoundryGuidesAndMissionsUI.cs. 화면의 플레이 자금과 재고는 캡처 시점의 상태이며 성과 지표가 아니다. 개발 의도는 기획 문서와 UI 구성을 바탕으로 정리한 설계 해석이다.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 화면 출처: Presentations/스크린샷 2026-10-12 135150.png</a:t>
            </a:r>
          </a:p>
          <a:p xmlns:a="http://schemas.openxmlformats.org/drawingml/2006/main">
            <a:r>
              <a:t>버튼과 실행 조건 근거: Assets/CometFoundry/Scripts/Prototype/FoundryPlayableController.cs; FoundryManagementUI.cs; FoundryGuidesAndMissionsUI.cs. 화면의 플레이 자금과 재고는 캡처 시점의 상태이며 성과 지표가 아니다. 개발 의도는 기획 문서와 UI 구성을 바탕으로 정리한 설계 해석이다.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프로젝트 소스 기준: Scripts/Simulation/FoundryExpansion.cs; Scripts/Simulation/FoundrySession.cs</a:t>
            </a:r>
          </a:p>
          <a:p xmlns:a="http://schemas.openxmlformats.org/drawingml/2006/main">
            <a:r>
              <a:t>작성 기준일: 2026-10-12. 실무 경력, 개인별 기여율과 사용성 검증 성과를 추정하지 않음. 기획·제안은 해당 슬라이드에 구분. 이미지 출처: 프로젝트 내 리소스. 타이틀 아트는 게임 콘셉트 이미지.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 화면 출처: Presentations/스크린샷 2026-10-12 135219.png</a:t>
            </a:r>
          </a:p>
          <a:p xmlns:a="http://schemas.openxmlformats.org/drawingml/2006/main">
            <a:r>
              <a:t>버튼과 실행 조건 근거: Assets/CometFoundry/Scripts/Prototype/FoundryPlayableController.cs; FoundryManagementUI.cs; FoundryGuidesAndMissionsUI.cs. 화면의 플레이 자금과 재고는 캡처 시점의 상태이며 성과 지표가 아니다. 개발 의도는 기획 문서와 UI 구성을 바탕으로 정리한 설계 해석이다.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 화면 출처: Presentations/스크린샷 2026-10-12 135240.png</a:t>
            </a:r>
          </a:p>
          <a:p xmlns:a="http://schemas.openxmlformats.org/drawingml/2006/main">
            <a:r>
              <a:t>버튼과 실행 조건 근거: Assets/CometFoundry/Scripts/Prototype/FoundryPlayableController.cs; FoundryManagementUI.cs; FoundryGuidesAndMissionsUI.cs. 화면의 플레이 자금과 재고는 캡처 시점의 상태이며 성과 지표가 아니다. 개발 의도는 기획 문서와 UI 구성을 바탕으로 정리한 설계 해석이다.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프로젝트 소스 기준: Scripts/Simulation/FoundryPersistence.cs; Scripts/Simulation/FoundryMissionsAndDemolition.cs</a:t>
            </a:r>
          </a:p>
          <a:p xmlns:a="http://schemas.openxmlformats.org/drawingml/2006/main">
            <a:r>
              <a:t>작성 기준일: 2026-10-12. 실무 경력, 개인별 기여율과 사용성 검증 성과를 추정하지 않음. 기획·제안은 해당 슬라이드에 구분. 이미지 출처: 프로젝트 내 리소스. 타이틀 아트는 게임 콘셉트 이미지.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프로젝트 소스 기준: Scripts/Simulation/FoundryExpansion.cs; Scripts/Simulation/FoundryMissionPractice.cs</a:t>
            </a:r>
          </a:p>
          <a:p xmlns:a="http://schemas.openxmlformats.org/drawingml/2006/main">
            <a:r>
              <a:t>작성 기준일: 2026-10-12. 실무 경력, 개인별 기여율과 사용성 검증 성과를 추정하지 않음. 기획·제안은 해당 슬라이드에 구분. 이미지 출처: 프로젝트 내 리소스. 타이틀 아트는 게임 콘셉트 이미지.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 화면 출처: Presentations/스크린샷 2026-10-12 135306.png</a:t>
            </a:r>
          </a:p>
          <a:p xmlns:a="http://schemas.openxmlformats.org/drawingml/2006/main">
            <a:r>
              <a:t>버튼과 실행 조건 근거: Assets/CometFoundry/Scripts/Prototype/FoundryPlayableController.cs; FoundryManagementUI.cs; FoundryGuidesAndMissionsUI.cs. 화면의 플레이 자금과 재고는 캡처 시점의 상태이며 성과 지표가 아니다. 개발 의도는 기획 문서와 UI 구성을 바탕으로 정리한 설계 해석이다.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 화면 출처: Presentations/스크린샷 2026-10-12 135129.png</a:t>
            </a:r>
          </a:p>
          <a:p xmlns:a="http://schemas.openxmlformats.org/drawingml/2006/main">
            <a:r>
              <a:t>버튼과 실행 조건 근거: Assets/CometFoundry/Scripts/Prototype/FoundryPlayableController.cs; FoundryManagementUI.cs; FoundryGuidesAndMissionsUI.cs. 화면의 플레이 자금과 재고는 캡처 시점의 상태이며 성과 지표가 아니다. 개발 의도는 기획 문서와 UI 구성을 바탕으로 정리한 설계 해석이다.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프로젝트 소스 기준: Tests/EditMode/FoundryManagementTests.cs; Handoff/ExchangeAndColonies.md</a:t>
            </a:r>
          </a:p>
          <a:p xmlns:a="http://schemas.openxmlformats.org/drawingml/2006/main">
            <a:r>
              <a:t>작성 기준일: 2026-10-12. 실무 경력, 개인별 기여율과 사용성 검증 성과를 추정하지 않음. 기획·제안은 해당 슬라이드에 구분. 이미지 출처: 프로젝트 내 리소스. 타이틀 아트는 게임 콘셉트 이미지.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프로젝트 소스 기준: Handoff/GPT_GameDesignBrief.md</a:t>
            </a:r>
          </a:p>
          <a:p xmlns:a="http://schemas.openxmlformats.org/drawingml/2006/main">
            <a:r>
              <a:t>작성 기준일: 2026-10-12. 실무 경력, 개인별 기여율과 사용성 검증 성과를 추정하지 않음. 기획·제안은 해당 슬라이드에 구분. 이미지 출처: 프로젝트 내 리소스. 타이틀 아트는 게임 콘셉트 이미지.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프로젝트 소스 기준: Handoff/GPT_GameDesignBrief.md</a:t>
            </a:r>
          </a:p>
          <a:p xmlns:a="http://schemas.openxmlformats.org/drawingml/2006/main">
            <a:r>
              <a:t>작성 기준일: 2026-10-12. 실무 경력, 개인별 기여율과 사용성 검증 성과를 추정하지 않음. 기획·제안은 해당 슬라이드에 구분. 이미지 출처: 프로젝트 내 리소스. 타이틀 아트는 게임 콘셉트 이미지.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04578802784486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bdc0632e0934c8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9e5cd22604a490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44de010302f483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b10a81bd5af494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6e0c4bddd12414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E68D850-1A3F-4695-9692-5D1C89A52F1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450EE5E-CE81-4D0F-8DF2-59B7465A97F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99B9468-DFC5-4008-9D63-BB7B1D0CC5B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A71F590-B057-48FB-A064-3C97B1BA3A7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026DC7B-B4A2-4FB9-94B5-C8090212011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CC1865B-83D5-445F-B2DF-CB70FE0B557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B42B47D-BAFC-4EAC-9058-9D0CEADC128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DFB11D4-A36D-4175-8C4C-99D3F607913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B1D2B25-9D56-4CAE-B7C8-5F0F789A652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FC165D7-F7C2-4413-8D43-4BBC215E602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9b6bb2131d14db3" /><Relationship Type="http://schemas.openxmlformats.org/officeDocument/2006/relationships/slideLayout" Target="/ppt/slideLayouts/slideLayout1.xml" Id="Rf6866fd27dd04ed1" /><Relationship Type="http://schemas.openxmlformats.org/officeDocument/2006/relationships/slideLayout" Target="/ppt/slideLayouts/slideLayout2.xml" Id="Red88e631b0d14531" /><Relationship Type="http://schemas.openxmlformats.org/officeDocument/2006/relationships/slideLayout" Target="/ppt/slideLayouts/slideLayout3.xml" Id="Rc7642baab06146fe" /><Relationship Type="http://schemas.openxmlformats.org/officeDocument/2006/relationships/slideLayout" Target="/ppt/slideLayouts/slideLayout4.xml" Id="Rb7ceb691e33c40ff" /><Relationship Type="http://schemas.openxmlformats.org/officeDocument/2006/relationships/slideLayout" Target="/ppt/slideLayouts/slideLayout5.xml" Id="R8f18339dd6654200" /><Relationship Type="http://schemas.openxmlformats.org/officeDocument/2006/relationships/slideLayout" Target="/ppt/slideLayouts/slideLayout6.xml" Id="Rdc7dd752434e459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6866fd27dd04ed1"/>
    <p:sldLayoutId xmlns:r="http://schemas.openxmlformats.org/officeDocument/2006/relationships" id="2147483650" r:id="Red88e631b0d14531"/>
    <p:sldLayoutId xmlns:r="http://schemas.openxmlformats.org/officeDocument/2006/relationships" id="2147483651" r:id="Rc7642baab06146fe"/>
    <p:sldLayoutId xmlns:r="http://schemas.openxmlformats.org/officeDocument/2006/relationships" id="2147483652" r:id="Rb7ceb691e33c40ff"/>
    <p:sldLayoutId xmlns:r="http://schemas.openxmlformats.org/officeDocument/2006/relationships" id="2147483653" r:id="R8f18339dd6654200"/>
    <p:sldLayoutId xmlns:r="http://schemas.openxmlformats.org/officeDocument/2006/relationships" id="2147483654" r:id="Rdc7dd752434e459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c5b0de847e84196" /><Relationship Type="http://schemas.openxmlformats.org/officeDocument/2006/relationships/image" Target="/ppt/media/image.jpeg" Id="R59ad266c650d4ada" /><Relationship Type="http://schemas.openxmlformats.org/officeDocument/2006/relationships/notesSlide" Target="/ppt/notesSlides/notesSlide1.xml" Id="R66eb2af1fd86459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1778461faa24a1a" /><Relationship Type="http://schemas.openxmlformats.org/officeDocument/2006/relationships/image" Target="/ppt/media/image.png" Id="Ra05a5700edc544a0" /><Relationship Type="http://schemas.openxmlformats.org/officeDocument/2006/relationships/notesSlide" Target="/ppt/notesSlides/notesSlide2.xml" Id="R7066fbd71e66491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c7efcbcc47741d5" /><Relationship Type="http://schemas.openxmlformats.org/officeDocument/2006/relationships/notesSlide" Target="/ppt/notesSlides/notesSlide3.xml" Id="R4e87c75d59ef49a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69bb5db836b41c6" /><Relationship Type="http://schemas.openxmlformats.org/officeDocument/2006/relationships/notesSlide" Target="/ppt/notesSlides/notesSlide4.xml" Id="Rcee8d79bc1694c2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666c3d88f5145ca" /><Relationship Type="http://schemas.openxmlformats.org/officeDocument/2006/relationships/notesSlide" Target="/ppt/notesSlides/notesSlide5.xml" Id="Rc2f46cbe27814ef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11573fa99c04e02" /><Relationship Type="http://schemas.openxmlformats.org/officeDocument/2006/relationships/image" Target="/ppt/media/image2.png" Id="R6d6b7d44ddf44cdf" /><Relationship Type="http://schemas.openxmlformats.org/officeDocument/2006/relationships/notesSlide" Target="/ppt/notesSlides/notesSlide6.xml" Id="R28c0ceb38eea468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64467ed8c4242d5" /><Relationship Type="http://schemas.openxmlformats.org/officeDocument/2006/relationships/image" Target="/ppt/media/image3.png" Id="R7348a23e72404c2c" /><Relationship Type="http://schemas.openxmlformats.org/officeDocument/2006/relationships/notesSlide" Target="/ppt/notesSlides/notesSlide7.xml" Id="R258fe90f26b8481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4f743be1e724703" /><Relationship Type="http://schemas.openxmlformats.org/officeDocument/2006/relationships/image" Target="/ppt/media/image4.png" Id="Ra59247d88c6f468b" /><Relationship Type="http://schemas.openxmlformats.org/officeDocument/2006/relationships/notesSlide" Target="/ppt/notesSlides/notesSlide8.xml" Id="R1d9498c65d994ea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a65ba15f69149c4" /><Relationship Type="http://schemas.openxmlformats.org/officeDocument/2006/relationships/notesSlide" Target="/ppt/notesSlides/notesSlide9.xml" Id="R98115c55bfea4dc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5a4d135e2c84699" /><Relationship Type="http://schemas.openxmlformats.org/officeDocument/2006/relationships/image" Target="/ppt/media/image5.png" Id="R32c553fab6584c90" /><Relationship Type="http://schemas.openxmlformats.org/officeDocument/2006/relationships/notesSlide" Target="/ppt/notesSlides/notesSlide10.xml" Id="R37aab1e5f4154d3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2cbe88bc02142c0" /><Relationship Type="http://schemas.openxmlformats.org/officeDocument/2006/relationships/image" Target="/ppt/media/image6.png" Id="R8661091102bc4868" /><Relationship Type="http://schemas.openxmlformats.org/officeDocument/2006/relationships/notesSlide" Target="/ppt/notesSlides/notesSlide11.xml" Id="Rdaa1870fc909453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0e7ad5fa3a14b94" /><Relationship Type="http://schemas.openxmlformats.org/officeDocument/2006/relationships/image" Target="/ppt/media/image7.png" Id="R493d584b76d04341" /><Relationship Type="http://schemas.openxmlformats.org/officeDocument/2006/relationships/notesSlide" Target="/ppt/notesSlides/notesSlide12.xml" Id="R130c6e773d88416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fed7a41c6414974" /><Relationship Type="http://schemas.openxmlformats.org/officeDocument/2006/relationships/image" Target="/ppt/media/image8.png" Id="R4270ae9d1624413b" /><Relationship Type="http://schemas.openxmlformats.org/officeDocument/2006/relationships/notesSlide" Target="/ppt/notesSlides/notesSlide13.xml" Id="R34761722be60497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edf65c9388a747ab" /><Relationship Type="http://schemas.openxmlformats.org/officeDocument/2006/relationships/image" Target="/ppt/media/image9.png" Id="Re9ced13faa164ecd" /><Relationship Type="http://schemas.openxmlformats.org/officeDocument/2006/relationships/notesSlide" Target="/ppt/notesSlides/notesSlide14.xml" Id="R0d56aa43bd0c429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36b21a4e9974709" /><Relationship Type="http://schemas.openxmlformats.org/officeDocument/2006/relationships/image" Target="/ppt/media/image10.png" Id="R0718695224624533" /><Relationship Type="http://schemas.openxmlformats.org/officeDocument/2006/relationships/notesSlide" Target="/ppt/notesSlides/notesSlide15.xml" Id="R7538a1beb5e4427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fc59d4335d54475e" /><Relationship Type="http://schemas.openxmlformats.org/officeDocument/2006/relationships/image" Target="/ppt/media/image11.png" Id="R1f6da824358b4cd1" /><Relationship Type="http://schemas.openxmlformats.org/officeDocument/2006/relationships/notesSlide" Target="/ppt/notesSlides/notesSlide16.xml" Id="R094e1f1a0c3c474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2abde51dc2b14c94" /><Relationship Type="http://schemas.openxmlformats.org/officeDocument/2006/relationships/notesSlide" Target="/ppt/notesSlides/notesSlide17.xml" Id="Rbea4ab4232d940e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5d901c10166a4caa" /><Relationship Type="http://schemas.openxmlformats.org/officeDocument/2006/relationships/image" Target="/ppt/media/image12.png" Id="Rff1fac6371f14d6f" /><Relationship Type="http://schemas.openxmlformats.org/officeDocument/2006/relationships/notesSlide" Target="/ppt/notesSlides/notesSlide18.xml" Id="R5ed68db84ab24fb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33f3f3a94c8b4eaa" /><Relationship Type="http://schemas.openxmlformats.org/officeDocument/2006/relationships/image" Target="/ppt/media/image13.png" Id="R30f73656d109476b" /><Relationship Type="http://schemas.openxmlformats.org/officeDocument/2006/relationships/notesSlide" Target="/ppt/notesSlides/notesSlide19.xml" Id="R11d34761629548e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b95e3972cdc348bf" /><Relationship Type="http://schemas.openxmlformats.org/officeDocument/2006/relationships/image" Target="/ppt/media/image14.png" Id="R0bf2a8e8f4794b0b" /><Relationship Type="http://schemas.openxmlformats.org/officeDocument/2006/relationships/notesSlide" Target="/ppt/notesSlides/notesSlide20.xml" Id="Rc62df16a87ce43b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b46542b24c284866" /><Relationship Type="http://schemas.openxmlformats.org/officeDocument/2006/relationships/notesSlide" Target="/ppt/notesSlides/notesSlide21.xml" Id="R36374de35456498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68df83a11f364813" /><Relationship Type="http://schemas.openxmlformats.org/officeDocument/2006/relationships/notesSlide" Target="/ppt/notesSlides/notesSlide22.xml" Id="R419b31b53feb411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4b24b541bd5f49b5" /><Relationship Type="http://schemas.openxmlformats.org/officeDocument/2006/relationships/image" Target="/ppt/media/image15.png" Id="R95a089a9a49d4d08" /><Relationship Type="http://schemas.openxmlformats.org/officeDocument/2006/relationships/notesSlide" Target="/ppt/notesSlides/notesSlide23.xml" Id="R77f086a29d69410a" /></Relationships>
</file>

<file path=ppt/slides/slide1.xml><?xml version="1.0" encoding="utf-8"?>
<p:sld xmlns:p="http://schemas.openxmlformats.org/presentationml/2006/main">
  <p:cSld>
    <p:bg>
      <p:bgPr>
        <a:solidFill xmlns:a="http://schemas.openxmlformats.org/drawingml/2006/main">
          <a:srgbClr val="0B1C27"/>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68397F21-9DC7-4E79-B2EF-D52705590896}"/>
              </a:ext>
            </a:extLst>
          </p:cNvPr>
          <p:cNvSpPr>
            <a:spLocks xmlns:a="http://schemas.openxmlformats.org/drawingml/2006/main" noGrp="1"/>
          </p:cNvSpPr>
          <p:nvPr/>
        </p:nvSpPr>
        <p:spPr>
          <a:xfrm xmlns:a="http://schemas.openxmlformats.org/drawingml/2006/main">
            <a:off x="590550" y="1371600"/>
            <a:ext cx="49530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00" b="1">
                <a:solidFill>
                  <a:srgbClr val="F4F4F0"/>
                </a:solidFill>
                <a:latin typeface="Malgun Gothic"/>
                <a:ea typeface="Malgun Gothic"/>
                <a:cs typeface="Malgun Gothic"/>
              </a:defRPr>
            </a:defPPr>
          </a:lstStyle>
          <a:p xmlns:a="http://schemas.openxmlformats.org/drawingml/2006/main">
            <a:pPr>
              <a:buNone/>
              <a:defRPr sz="4200" b="1">
                <a:solidFill>
                  <a:srgbClr val="F4F4F0"/>
                </a:solidFill>
                <a:latin typeface="Malgun Gothic"/>
                <a:ea typeface="Malgun Gothic"/>
                <a:cs typeface="Malgun Gothic"/>
              </a:defRPr>
            </a:pPr>
            <a:r>
              <a:rPr sz="4200" b="1">
                <a:solidFill>
                  <a:srgbClr val="F4F4F0"/>
                </a:solidFill>
                <a:latin typeface="Malgun Gothic"/>
                <a:ea typeface="Malgun Gothic"/>
                <a:cs typeface="Malgun Gothic"/>
              </a:rPr>
              <a:t>음승재</a:t>
            </a:r>
          </a:p>
          <a:p xmlns:a="http://schemas.openxmlformats.org/drawingml/2006/main">
            <a:pPr>
              <a:buNone/>
              <a:defRPr sz="4200" b="1">
                <a:solidFill>
                  <a:srgbClr val="F4F4F0"/>
                </a:solidFill>
                <a:latin typeface="Malgun Gothic"/>
                <a:ea typeface="Malgun Gothic"/>
                <a:cs typeface="Malgun Gothic"/>
              </a:defRPr>
            </a:pPr>
            <a:r>
              <a:rPr sz="4200" b="1">
                <a:solidFill>
                  <a:srgbClr val="F4F4F0"/>
                </a:solidFill>
                <a:latin typeface="Malgun Gothic"/>
                <a:ea typeface="Malgun Gothic"/>
                <a:cs typeface="Malgun Gothic"/>
              </a:rPr>
              <a:t>프로젝트 포트폴리오</a:t>
            </a:r>
          </a:p>
        </p:txBody>
      </p:sp>
      <p:sp>
        <p:nvSpPr>
          <p:cNvPr id="2" name="body">
            <a:extLst xmlns:a="http://schemas.openxmlformats.org/drawingml/2006/main">
              <a:ext uri="{FF2B5EF4-FFF2-40B4-BE49-F238E27FC236}">
                <a16:creationId xmlns:a16="http://schemas.microsoft.com/office/drawing/2014/main" id="{860467E2-B994-4624-9717-DB3E34E24985}"/>
              </a:ext>
            </a:extLst>
          </p:cNvPr>
          <p:cNvSpPr>
            <a:spLocks xmlns:a="http://schemas.openxmlformats.org/drawingml/2006/main" noGrp="1"/>
          </p:cNvSpPr>
          <p:nvPr/>
        </p:nvSpPr>
        <p:spPr>
          <a:xfrm xmlns:a="http://schemas.openxmlformats.org/drawingml/2006/main">
            <a:off x="628650" y="37147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BBC9CD"/>
                </a:solidFill>
                <a:latin typeface="Malgun Gothic"/>
                <a:ea typeface="Malgun Gothic"/>
                <a:cs typeface="Malgun Gothic"/>
              </a:defRPr>
            </a:defPPr>
          </a:lstStyle>
          <a:p xmlns:a="http://schemas.openxmlformats.org/drawingml/2006/main">
            <a:pPr>
              <a:buNone/>
              <a:defRPr sz="2100" b="0">
                <a:solidFill>
                  <a:srgbClr val="BBC9CD"/>
                </a:solidFill>
                <a:latin typeface="Malgun Gothic"/>
                <a:ea typeface="Malgun Gothic"/>
                <a:cs typeface="Malgun Gothic"/>
              </a:defRPr>
            </a:pPr>
            <a:r>
              <a:rPr sz="2100" b="0">
                <a:solidFill>
                  <a:srgbClr val="BBC9CD"/>
                </a:solidFill>
                <a:latin typeface="Malgun Gothic"/>
                <a:ea typeface="Malgun Gothic"/>
                <a:cs typeface="Malgun Gothic"/>
              </a:rPr>
              <a:t>Comet Foundry</a:t>
            </a:r>
          </a:p>
          <a:p xmlns:a="http://schemas.openxmlformats.org/drawingml/2006/main">
            <a:pPr>
              <a:buNone/>
              <a:defRPr sz="2100" b="0">
                <a:solidFill>
                  <a:srgbClr val="BBC9CD"/>
                </a:solidFill>
                <a:latin typeface="Malgun Gothic"/>
                <a:ea typeface="Malgun Gothic"/>
                <a:cs typeface="Malgun Gothic"/>
              </a:defRPr>
            </a:pPr>
            <a:r>
              <a:rPr sz="2100" b="0">
                <a:solidFill>
                  <a:srgbClr val="BBC9CD"/>
                </a:solidFill>
                <a:latin typeface="Malgun Gothic"/>
                <a:ea typeface="Malgun Gothic"/>
                <a:cs typeface="Malgun Gothic"/>
              </a:rPr>
              <a:t>PC 산업 경영 시뮬레이션</a:t>
            </a:r>
          </a:p>
        </p:txBody>
      </p:sp>
      <p:pic>
        <p:nvPicPr>
          <p:cNvPr id="3" name="">
            <a:extLst xmlns:a="http://schemas.openxmlformats.org/drawingml/2006/main">
              <a:ext uri="{FF2B5EF4-FFF2-40B4-BE49-F238E27FC236}">
                <a16:creationId xmlns:a16="http://schemas.microsoft.com/office/drawing/2014/main" id="{F503797F-360E-4EAF-A081-6DF723E439D0}"/>
              </a:ext>
            </a:extLst>
          </p:cNvPr>
          <p:cNvPicPr>
            <a:picLocks xmlns:a="http://schemas.openxmlformats.org/drawingml/2006/main" noChangeAspect="1"/>
          </p:cNvPicPr>
          <p:nvPr/>
        </p:nvPicPr>
        <p:blipFill>
          <a:blip xmlns:r="http://schemas.openxmlformats.org/officeDocument/2006/relationships" xmlns:a="http://schemas.openxmlformats.org/drawingml/2006/main" r:embed="R59ad266c650d4ada"/>
          <a:stretch xmlns:a="http://schemas.openxmlformats.org/drawingml/2006/main"/>
        </p:blipFill>
        <p:spPr>
          <a:xfrm xmlns:a="http://schemas.openxmlformats.org/drawingml/2006/main">
            <a:off x="5753100" y="1530842"/>
            <a:ext cx="6000750" cy="3377216"/>
          </a:xfrm>
          <a:prstGeom xmlns:a="http://schemas.openxmlformats.org/drawingml/2006/main" prst="rect">
            <a:avLst/>
          </a:prstGeom>
        </p:spPr>
      </p:pic>
      <p:sp>
        <p:nvSpPr>
          <p:cNvPr id="4" name="body">
            <a:extLst xmlns:a="http://schemas.openxmlformats.org/drawingml/2006/main">
              <a:ext uri="{FF2B5EF4-FFF2-40B4-BE49-F238E27FC236}">
                <a16:creationId xmlns:a16="http://schemas.microsoft.com/office/drawing/2014/main" id="{F2A8D03F-57A7-4B9E-95DD-474A5A294141}"/>
              </a:ext>
            </a:extLst>
          </p:cNvPr>
          <p:cNvSpPr>
            <a:spLocks xmlns:a="http://schemas.openxmlformats.org/drawingml/2006/main" noGrp="1"/>
          </p:cNvSpPr>
          <p:nvPr/>
        </p:nvSpPr>
        <p:spPr>
          <a:xfrm xmlns:a="http://schemas.openxmlformats.org/drawingml/2006/main">
            <a:off x="628650" y="628650"/>
            <a:ext cx="590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FFAF5C"/>
                </a:solidFill>
                <a:latin typeface="Malgun Gothic"/>
                <a:ea typeface="Malgun Gothic"/>
                <a:cs typeface="Malgun Gothic"/>
              </a:defRPr>
            </a:defPPr>
          </a:lstStyle>
          <a:p xmlns:a="http://schemas.openxmlformats.org/drawingml/2006/main">
            <a:pPr>
              <a:buNone/>
              <a:defRPr sz="1800" b="1">
                <a:solidFill>
                  <a:srgbClr val="FFAF5C"/>
                </a:solidFill>
                <a:latin typeface="Malgun Gothic"/>
                <a:ea typeface="Malgun Gothic"/>
                <a:cs typeface="Malgun Gothic"/>
              </a:defRPr>
            </a:pPr>
            <a:r>
              <a:rPr sz="1800" b="1">
                <a:solidFill>
                  <a:srgbClr val="FFAF5C"/>
                </a:solidFill>
                <a:latin typeface="Malgun Gothic"/>
                <a:ea typeface="Malgun Gothic"/>
                <a:cs typeface="Malgun Gothic"/>
              </a:rPr>
              <a:t>PROJECT PORTFOLIO</a:t>
            </a:r>
          </a:p>
        </p:txBody>
      </p:sp>
      <p:sp>
        <p:nvSpPr>
          <p:cNvPr id="5" name="body">
            <a:extLst xmlns:a="http://schemas.openxmlformats.org/drawingml/2006/main">
              <a:ext uri="{FF2B5EF4-FFF2-40B4-BE49-F238E27FC236}">
                <a16:creationId xmlns:a16="http://schemas.microsoft.com/office/drawing/2014/main" id="{4A6827AB-B8D4-4BC6-9406-BBAF017D88EF}"/>
              </a:ext>
            </a:extLst>
          </p:cNvPr>
          <p:cNvSpPr>
            <a:spLocks xmlns:a="http://schemas.openxmlformats.org/drawingml/2006/main" noGrp="1"/>
          </p:cNvSpPr>
          <p:nvPr/>
        </p:nvSpPr>
        <p:spPr>
          <a:xfrm xmlns:a="http://schemas.openxmlformats.org/drawingml/2006/main">
            <a:off x="628650" y="600075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BBC9CD"/>
                </a:solidFill>
                <a:latin typeface="Malgun Gothic"/>
                <a:ea typeface="Malgun Gothic"/>
                <a:cs typeface="Malgun Gothic"/>
              </a:defRPr>
            </a:defPPr>
          </a:lstStyle>
          <a:p xmlns:a="http://schemas.openxmlformats.org/drawingml/2006/main">
            <a:pPr>
              <a:buNone/>
              <a:defRPr sz="1725" b="0">
                <a:solidFill>
                  <a:srgbClr val="BBC9CD"/>
                </a:solidFill>
                <a:latin typeface="Malgun Gothic"/>
                <a:ea typeface="Malgun Gothic"/>
                <a:cs typeface="Malgun Gothic"/>
              </a:defRPr>
            </a:pPr>
            <a:r>
              <a:rPr sz="1725" b="0">
                <a:solidFill>
                  <a:srgbClr val="BBC9CD"/>
                </a:solidFill>
                <a:latin typeface="Malgun Gothic"/>
                <a:ea typeface="Malgun Gothic"/>
                <a:cs typeface="Malgun Gothic"/>
              </a:rPr>
              <a:t>2026.10</a:t>
            </a:r>
          </a:p>
        </p:txBody>
      </p:sp>
      <p:sp>
        <p:nvSpPr>
          <p:cNvPr id="7" name="page">
            <a:extLst xmlns:a="http://schemas.openxmlformats.org/drawingml/2006/main">
              <a:ext uri="{FF2B5EF4-FFF2-40B4-BE49-F238E27FC236}">
                <a16:creationId xmlns:a16="http://schemas.microsoft.com/office/drawing/2014/main" id="{0A2A371E-9B4F-4578-999B-15A2C495D4D9}"/>
              </a:ext>
            </a:extLst>
          </p:cNvPr>
          <p:cNvSpPr>
            <a:spLocks xmlns:a="http://schemas.openxmlformats.org/drawingml/2006/main" noGrp="1"/>
          </p:cNvSpPr>
          <p:nvPr/>
        </p:nvSpPr>
        <p:spPr>
          <a:xfrm xmlns:a="http://schemas.openxmlformats.org/drawingml/2006/main">
            <a:off x="11087100" y="6353175"/>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425966"/>
                </a:solidFill>
                <a:latin typeface="Malgun Gothic"/>
                <a:ea typeface="Malgun Gothic"/>
                <a:cs typeface="Malgun Gothic"/>
              </a:defRPr>
            </a:defPPr>
          </a:lstStyle>
          <a:p xmlns:a="http://schemas.openxmlformats.org/drawingml/2006/main">
            <a:pPr>
              <a:buNone/>
              <a:defRPr sz="1500" b="0">
                <a:solidFill>
                  <a:srgbClr val="425966"/>
                </a:solidFill>
                <a:latin typeface="Malgun Gothic"/>
                <a:ea typeface="Malgun Gothic"/>
                <a:cs typeface="Malgun Gothic"/>
              </a:defRPr>
            </a:pPr>
            <a:r>
              <a:rPr sz="1500" b="0">
                <a:solidFill>
                  <a:srgbClr val="425966"/>
                </a:solidFill>
                <a:latin typeface="Malgun Gothic"/>
                <a:ea typeface="Malgun Gothic"/>
                <a:cs typeface="Malgun Gothic"/>
              </a:rPr>
              <a:t>01</a:t>
            </a:r>
          </a:p>
        </p:txBody>
      </p:sp>
    </p:spTree>
    <p:extLst>
      <p:ext uri="{BB962C8B-B14F-4D97-AF65-F5344CB8AC3E}">
        <p14:creationId xmlns:p14="http://schemas.microsoft.com/office/powerpoint/2010/main" val="171691555"/>
      </p:ext>
    </p:extLst>
  </p:cSld>
</p:sld>
</file>

<file path=ppt/slides/slide2.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86F40512-9523-4F0C-82DB-74755C201BCD}"/>
              </a:ext>
            </a:extLst>
          </p:cNvPr>
          <p:cNvSpPr>
            <a:spLocks xmlns:a="http://schemas.openxmlformats.org/drawingml/2006/main" noGrp="1"/>
          </p:cNvSpPr>
          <p:nvPr/>
        </p:nvSpPr>
        <p:spPr>
          <a:xfrm xmlns:a="http://schemas.openxmlformats.org/drawingml/2006/main">
            <a:off x="609600" y="5715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633"/>
                </a:solidFill>
                <a:latin typeface="Malgun Gothic"/>
                <a:ea typeface="Malgun Gothic"/>
                <a:cs typeface="Malgun Gothic"/>
              </a:defRPr>
            </a:defPPr>
          </a:lstStyle>
          <a:p xmlns:a="http://schemas.openxmlformats.org/drawingml/2006/main">
            <a:pPr>
              <a:buNone/>
              <a:defRPr sz="3300" b="1">
                <a:solidFill>
                  <a:srgbClr val="142633"/>
                </a:solidFill>
                <a:latin typeface="Malgun Gothic"/>
                <a:ea typeface="Malgun Gothic"/>
                <a:cs typeface="Malgun Gothic"/>
              </a:defRPr>
            </a:pPr>
            <a:r>
              <a:rPr sz="3300" b="1">
                <a:solidFill>
                  <a:srgbClr val="142633"/>
                </a:solidFill>
                <a:latin typeface="Malgun Gothic"/>
                <a:ea typeface="Malgun Gothic"/>
                <a:cs typeface="Malgun Gothic"/>
              </a:rPr>
              <a:t>프로젝트 소개</a:t>
            </a:r>
          </a:p>
        </p:txBody>
      </p:sp>
      <p:sp>
        <p:nvSpPr>
          <p:cNvPr id="2" name="lead">
            <a:extLst xmlns:a="http://schemas.openxmlformats.org/drawingml/2006/main">
              <a:ext uri="{FF2B5EF4-FFF2-40B4-BE49-F238E27FC236}">
                <a16:creationId xmlns:a16="http://schemas.microsoft.com/office/drawing/2014/main" id="{7FEAE7CA-5CF9-4A0B-A387-9D435AC164B1}"/>
              </a:ext>
            </a:extLst>
          </p:cNvPr>
          <p:cNvSpPr>
            <a:spLocks xmlns:a="http://schemas.openxmlformats.org/drawingml/2006/main" noGrp="1"/>
          </p:cNvSpPr>
          <p:nvPr/>
        </p:nvSpPr>
        <p:spPr>
          <a:xfrm xmlns:a="http://schemas.openxmlformats.org/drawingml/2006/main">
            <a:off x="609600" y="14573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B95B12"/>
                </a:solidFill>
                <a:latin typeface="Malgun Gothic"/>
                <a:ea typeface="Malgun Gothic"/>
                <a:cs typeface="Malgun Gothic"/>
              </a:defRPr>
            </a:defPPr>
          </a:lstStyle>
          <a:p xmlns:a="http://schemas.openxmlformats.org/drawingml/2006/main">
            <a:pPr>
              <a:buNone/>
              <a:defRPr sz="2100" b="0">
                <a:solidFill>
                  <a:srgbClr val="B95B12"/>
                </a:solidFill>
                <a:latin typeface="Malgun Gothic"/>
                <a:ea typeface="Malgun Gothic"/>
                <a:cs typeface="Malgun Gothic"/>
              </a:defRPr>
            </a:pPr>
            <a:r>
              <a:rPr sz="2100" b="0">
                <a:solidFill>
                  <a:srgbClr val="B95B12"/>
                </a:solidFill>
                <a:latin typeface="Malgun Gothic"/>
                <a:ea typeface="Malgun Gothic"/>
                <a:cs typeface="Malgun Gothic"/>
              </a:rPr>
              <a:t>혜성을 개발하고 산업 회사를 운영하는 PC 게임</a:t>
            </a:r>
          </a:p>
        </p:txBody>
      </p:sp>
      <p:sp>
        <p:nvSpPr>
          <p:cNvPr id="3" name="item-heading">
            <a:extLst xmlns:a="http://schemas.openxmlformats.org/drawingml/2006/main">
              <a:ext uri="{FF2B5EF4-FFF2-40B4-BE49-F238E27FC236}">
                <a16:creationId xmlns:a16="http://schemas.microsoft.com/office/drawing/2014/main" id="{F3598D38-56B1-4595-8325-7BA952D04DE2}"/>
              </a:ext>
            </a:extLst>
          </p:cNvPr>
          <p:cNvSpPr>
            <a:spLocks xmlns:a="http://schemas.openxmlformats.org/drawingml/2006/main" noGrp="1"/>
          </p:cNvSpPr>
          <p:nvPr/>
        </p:nvSpPr>
        <p:spPr>
          <a:xfrm xmlns:a="http://schemas.openxmlformats.org/drawingml/2006/main">
            <a:off x="609600" y="2381250"/>
            <a:ext cx="676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42633"/>
                </a:solidFill>
                <a:latin typeface="Malgun Gothic"/>
                <a:ea typeface="Malgun Gothic"/>
                <a:cs typeface="Malgun Gothic"/>
              </a:defRPr>
            </a:defPPr>
          </a:lstStyle>
          <a:p xmlns:a="http://schemas.openxmlformats.org/drawingml/2006/main">
            <a:pPr>
              <a:buNone/>
              <a:defRPr sz="2025" b="1">
                <a:solidFill>
                  <a:srgbClr val="142633"/>
                </a:solidFill>
                <a:latin typeface="Malgun Gothic"/>
                <a:ea typeface="Malgun Gothic"/>
                <a:cs typeface="Malgun Gothic"/>
              </a:defRPr>
            </a:pPr>
            <a:r>
              <a:rPr sz="2025" b="1">
                <a:solidFill>
                  <a:srgbClr val="142633"/>
                </a:solidFill>
                <a:latin typeface="Malgun Gothic"/>
                <a:ea typeface="Malgun Gothic"/>
                <a:cs typeface="Malgun Gothic"/>
              </a:rPr>
              <a:t>플레이 경험</a:t>
            </a:r>
          </a:p>
        </p:txBody>
      </p:sp>
      <p:sp>
        <p:nvSpPr>
          <p:cNvPr id="4" name="body">
            <a:extLst xmlns:a="http://schemas.openxmlformats.org/drawingml/2006/main">
              <a:ext uri="{FF2B5EF4-FFF2-40B4-BE49-F238E27FC236}">
                <a16:creationId xmlns:a16="http://schemas.microsoft.com/office/drawing/2014/main" id="{018F07CD-EB85-4543-9C42-05EE304D2521}"/>
              </a:ext>
            </a:extLst>
          </p:cNvPr>
          <p:cNvSpPr>
            <a:spLocks xmlns:a="http://schemas.openxmlformats.org/drawingml/2006/main" noGrp="1"/>
          </p:cNvSpPr>
          <p:nvPr/>
        </p:nvSpPr>
        <p:spPr>
          <a:xfrm xmlns:a="http://schemas.openxmlformats.org/drawingml/2006/main">
            <a:off x="609600" y="2790825"/>
            <a:ext cx="6762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425966"/>
                </a:solidFill>
                <a:latin typeface="Malgun Gothic"/>
                <a:ea typeface="Malgun Gothic"/>
                <a:cs typeface="Malgun Gothic"/>
              </a:defRPr>
            </a:defPPr>
          </a:lstStyle>
          <a:p xmlns:a="http://schemas.openxmlformats.org/drawingml/2006/main">
            <a:pPr>
              <a:buNone/>
              <a:defRPr sz="1875" b="0">
                <a:solidFill>
                  <a:srgbClr val="425966"/>
                </a:solidFill>
                <a:latin typeface="Malgun Gothic"/>
                <a:ea typeface="Malgun Gothic"/>
                <a:cs typeface="Malgun Gothic"/>
              </a:defRPr>
            </a:pPr>
            <a:r>
              <a:rPr sz="1875" b="0">
                <a:solidFill>
                  <a:srgbClr val="425966"/>
                </a:solidFill>
                <a:latin typeface="Malgun Gothic"/>
                <a:ea typeface="Malgun Gothic"/>
                <a:cs typeface="Malgun Gothic"/>
              </a:rPr>
              <a:t>채굴한 자원을 가공하고, 생산품을 거래하며 새로운 혜성으로 확장합니다.</a:t>
            </a:r>
          </a:p>
        </p:txBody>
      </p:sp>
      <p:sp>
        <p:nvSpPr>
          <p:cNvPr id="5" name="item-heading">
            <a:extLst xmlns:a="http://schemas.openxmlformats.org/drawingml/2006/main">
              <a:ext uri="{FF2B5EF4-FFF2-40B4-BE49-F238E27FC236}">
                <a16:creationId xmlns:a16="http://schemas.microsoft.com/office/drawing/2014/main" id="{80837C63-FD0F-48A8-A2BB-5FDB2F0BE846}"/>
              </a:ext>
            </a:extLst>
          </p:cNvPr>
          <p:cNvSpPr>
            <a:spLocks xmlns:a="http://schemas.openxmlformats.org/drawingml/2006/main" noGrp="1"/>
          </p:cNvSpPr>
          <p:nvPr/>
        </p:nvSpPr>
        <p:spPr>
          <a:xfrm xmlns:a="http://schemas.openxmlformats.org/drawingml/2006/main">
            <a:off x="609600" y="3524250"/>
            <a:ext cx="676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42633"/>
                </a:solidFill>
                <a:latin typeface="Malgun Gothic"/>
                <a:ea typeface="Malgun Gothic"/>
                <a:cs typeface="Malgun Gothic"/>
              </a:defRPr>
            </a:defPPr>
          </a:lstStyle>
          <a:p xmlns:a="http://schemas.openxmlformats.org/drawingml/2006/main">
            <a:pPr>
              <a:buNone/>
              <a:defRPr sz="2025" b="1">
                <a:solidFill>
                  <a:srgbClr val="142633"/>
                </a:solidFill>
                <a:latin typeface="Malgun Gothic"/>
                <a:ea typeface="Malgun Gothic"/>
                <a:cs typeface="Malgun Gothic"/>
              </a:defRPr>
            </a:pPr>
            <a:r>
              <a:rPr sz="2025" b="1">
                <a:solidFill>
                  <a:srgbClr val="142633"/>
                </a:solidFill>
                <a:latin typeface="Malgun Gothic"/>
                <a:ea typeface="Malgun Gothic"/>
                <a:cs typeface="Malgun Gothic"/>
              </a:rPr>
              <a:t>프로젝트 구성</a:t>
            </a:r>
          </a:p>
        </p:txBody>
      </p:sp>
      <p:sp>
        <p:nvSpPr>
          <p:cNvPr id="6" name="body">
            <a:extLst xmlns:a="http://schemas.openxmlformats.org/drawingml/2006/main">
              <a:ext uri="{FF2B5EF4-FFF2-40B4-BE49-F238E27FC236}">
                <a16:creationId xmlns:a16="http://schemas.microsoft.com/office/drawing/2014/main" id="{DA2A187F-5C9C-47C1-BBBA-D961E5C65A02}"/>
              </a:ext>
            </a:extLst>
          </p:cNvPr>
          <p:cNvSpPr>
            <a:spLocks xmlns:a="http://schemas.openxmlformats.org/drawingml/2006/main" noGrp="1"/>
          </p:cNvSpPr>
          <p:nvPr/>
        </p:nvSpPr>
        <p:spPr>
          <a:xfrm xmlns:a="http://schemas.openxmlformats.org/drawingml/2006/main">
            <a:off x="609600" y="3933825"/>
            <a:ext cx="6762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425966"/>
                </a:solidFill>
                <a:latin typeface="Malgun Gothic"/>
                <a:ea typeface="Malgun Gothic"/>
                <a:cs typeface="Malgun Gothic"/>
              </a:defRPr>
            </a:defPPr>
          </a:lstStyle>
          <a:p xmlns:a="http://schemas.openxmlformats.org/drawingml/2006/main">
            <a:pPr>
              <a:buNone/>
              <a:defRPr sz="1875" b="0">
                <a:solidFill>
                  <a:srgbClr val="425966"/>
                </a:solidFill>
                <a:latin typeface="Malgun Gothic"/>
                <a:ea typeface="Malgun Gothic"/>
                <a:cs typeface="Malgun Gothic"/>
              </a:defRPr>
            </a:pPr>
            <a:r>
              <a:rPr sz="1875" b="0">
                <a:solidFill>
                  <a:srgbClr val="425966"/>
                </a:solidFill>
                <a:latin typeface="Malgun Gothic"/>
                <a:ea typeface="Malgun Gothic"/>
                <a:cs typeface="Malgun Gothic"/>
              </a:rPr>
              <a:t>Unity와 C# 기반의 2D 타일 개발 보드, 생산 시뮬레이션, 거래소와 개척 시스템.</a:t>
            </a:r>
          </a:p>
        </p:txBody>
      </p:sp>
      <p:sp>
        <p:nvSpPr>
          <p:cNvPr id="7" name="item-heading">
            <a:extLst xmlns:a="http://schemas.openxmlformats.org/drawingml/2006/main">
              <a:ext uri="{FF2B5EF4-FFF2-40B4-BE49-F238E27FC236}">
                <a16:creationId xmlns:a16="http://schemas.microsoft.com/office/drawing/2014/main" id="{1DD3DF28-40CC-431B-BCEB-2292937420FF}"/>
              </a:ext>
            </a:extLst>
          </p:cNvPr>
          <p:cNvSpPr>
            <a:spLocks xmlns:a="http://schemas.openxmlformats.org/drawingml/2006/main" noGrp="1"/>
          </p:cNvSpPr>
          <p:nvPr/>
        </p:nvSpPr>
        <p:spPr>
          <a:xfrm xmlns:a="http://schemas.openxmlformats.org/drawingml/2006/main">
            <a:off x="609600" y="4667250"/>
            <a:ext cx="676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42633"/>
                </a:solidFill>
                <a:latin typeface="Malgun Gothic"/>
                <a:ea typeface="Malgun Gothic"/>
                <a:cs typeface="Malgun Gothic"/>
              </a:defRPr>
            </a:defPPr>
          </a:lstStyle>
          <a:p xmlns:a="http://schemas.openxmlformats.org/drawingml/2006/main">
            <a:pPr>
              <a:buNone/>
              <a:defRPr sz="2025" b="1">
                <a:solidFill>
                  <a:srgbClr val="142633"/>
                </a:solidFill>
                <a:latin typeface="Malgun Gothic"/>
                <a:ea typeface="Malgun Gothic"/>
                <a:cs typeface="Malgun Gothic"/>
              </a:defRPr>
            </a:pPr>
            <a:r>
              <a:rPr sz="2025" b="1">
                <a:solidFill>
                  <a:srgbClr val="142633"/>
                </a:solidFill>
                <a:latin typeface="Malgun Gothic"/>
                <a:ea typeface="Malgun Gothic"/>
                <a:cs typeface="Malgun Gothic"/>
              </a:rPr>
              <a:t>포트폴리오 범위</a:t>
            </a:r>
          </a:p>
        </p:txBody>
      </p:sp>
      <p:sp>
        <p:nvSpPr>
          <p:cNvPr id="8" name="body">
            <a:extLst xmlns:a="http://schemas.openxmlformats.org/drawingml/2006/main">
              <a:ext uri="{FF2B5EF4-FFF2-40B4-BE49-F238E27FC236}">
                <a16:creationId xmlns:a16="http://schemas.microsoft.com/office/drawing/2014/main" id="{89D416E8-4387-42CE-8A71-E8B6F35CB083}"/>
              </a:ext>
            </a:extLst>
          </p:cNvPr>
          <p:cNvSpPr>
            <a:spLocks xmlns:a="http://schemas.openxmlformats.org/drawingml/2006/main" noGrp="1"/>
          </p:cNvSpPr>
          <p:nvPr/>
        </p:nvSpPr>
        <p:spPr>
          <a:xfrm xmlns:a="http://schemas.openxmlformats.org/drawingml/2006/main">
            <a:off x="609600" y="5076825"/>
            <a:ext cx="6762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425966"/>
                </a:solidFill>
                <a:latin typeface="Malgun Gothic"/>
                <a:ea typeface="Malgun Gothic"/>
                <a:cs typeface="Malgun Gothic"/>
              </a:defRPr>
            </a:defPPr>
          </a:lstStyle>
          <a:p xmlns:a="http://schemas.openxmlformats.org/drawingml/2006/main">
            <a:pPr>
              <a:buNone/>
              <a:defRPr sz="1875" b="0">
                <a:solidFill>
                  <a:srgbClr val="425966"/>
                </a:solidFill>
                <a:latin typeface="Malgun Gothic"/>
                <a:ea typeface="Malgun Gothic"/>
                <a:cs typeface="Malgun Gothic"/>
              </a:defRPr>
            </a:pPr>
            <a:r>
              <a:rPr sz="1875" b="0">
                <a:solidFill>
                  <a:srgbClr val="425966"/>
                </a:solidFill>
                <a:latin typeface="Malgun Gothic"/>
                <a:ea typeface="Malgun Gothic"/>
                <a:cs typeface="Malgun Gothic"/>
              </a:rPr>
              <a:t>경력 대신 Comet Foundry의 설계 자료와 구현 사례를 소개합니다.</a:t>
            </a:r>
          </a:p>
        </p:txBody>
      </p:sp>
      <p:pic>
        <p:nvPicPr>
          <p:cNvPr id="9" name="">
            <a:extLst xmlns:a="http://schemas.openxmlformats.org/drawingml/2006/main">
              <a:ext uri="{FF2B5EF4-FFF2-40B4-BE49-F238E27FC236}">
                <a16:creationId xmlns:a16="http://schemas.microsoft.com/office/drawing/2014/main" id="{6F5322E1-A67B-4E0D-A85B-C2B7323A9CA0}"/>
              </a:ext>
            </a:extLst>
          </p:cNvPr>
          <p:cNvPicPr>
            <a:picLocks xmlns:a="http://schemas.openxmlformats.org/drawingml/2006/main" noChangeAspect="1"/>
          </p:cNvPicPr>
          <p:nvPr/>
        </p:nvPicPr>
        <p:blipFill>
          <a:blip xmlns:r="http://schemas.openxmlformats.org/officeDocument/2006/relationships" xmlns:a="http://schemas.openxmlformats.org/drawingml/2006/main" r:embed="Ra05a5700edc544a0"/>
          <a:stretch xmlns:a="http://schemas.openxmlformats.org/drawingml/2006/main"/>
        </p:blipFill>
        <p:spPr>
          <a:xfrm xmlns:a="http://schemas.openxmlformats.org/drawingml/2006/main">
            <a:off x="8181975" y="2209800"/>
            <a:ext cx="3143250" cy="3143250"/>
          </a:xfrm>
          <a:prstGeom xmlns:a="http://schemas.openxmlformats.org/drawingml/2006/main" prst="rect">
            <a:avLst/>
          </a:prstGeom>
        </p:spPr>
      </p:pic>
      <p:sp>
        <p:nvSpPr>
          <p:cNvPr id="10" name="body">
            <a:extLst xmlns:a="http://schemas.openxmlformats.org/drawingml/2006/main">
              <a:ext uri="{FF2B5EF4-FFF2-40B4-BE49-F238E27FC236}">
                <a16:creationId xmlns:a16="http://schemas.microsoft.com/office/drawing/2014/main" id="{195DDCFB-183C-4656-8712-14DB6663A7F8}"/>
              </a:ext>
            </a:extLst>
          </p:cNvPr>
          <p:cNvSpPr>
            <a:spLocks xmlns:a="http://schemas.openxmlformats.org/drawingml/2006/main" noGrp="1"/>
          </p:cNvSpPr>
          <p:nvPr/>
        </p:nvSpPr>
        <p:spPr>
          <a:xfrm xmlns:a="http://schemas.openxmlformats.org/drawingml/2006/main">
            <a:off x="7943850" y="5581650"/>
            <a:ext cx="361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425966"/>
                </a:solidFill>
                <a:latin typeface="Malgun Gothic"/>
                <a:ea typeface="Malgun Gothic"/>
                <a:cs typeface="Malgun Gothic"/>
              </a:defRPr>
            </a:defPPr>
          </a:lstStyle>
          <a:p xmlns:a="http://schemas.openxmlformats.org/drawingml/2006/main">
            <a:pPr>
              <a:buNone/>
              <a:defRPr sz="1725" b="0">
                <a:solidFill>
                  <a:srgbClr val="425966"/>
                </a:solidFill>
                <a:latin typeface="Malgun Gothic"/>
                <a:ea typeface="Malgun Gothic"/>
                <a:cs typeface="Malgun Gothic"/>
              </a:defRPr>
            </a:pPr>
            <a:r>
              <a:rPr sz="1725" b="0">
                <a:solidFill>
                  <a:srgbClr val="425966"/>
                </a:solidFill>
                <a:latin typeface="Malgun Gothic"/>
                <a:ea typeface="Malgun Gothic"/>
                <a:cs typeface="Malgun Gothic"/>
              </a:rPr>
              <a:t>프로젝트 내 시설 아트</a:t>
            </a:r>
          </a:p>
        </p:txBody>
      </p:sp>
      <p:sp>
        <p:nvSpPr>
          <p:cNvPr id="11" name="body">
            <a:extLst xmlns:a="http://schemas.openxmlformats.org/drawingml/2006/main">
              <a:ext uri="{FF2B5EF4-FFF2-40B4-BE49-F238E27FC236}">
                <a16:creationId xmlns:a16="http://schemas.microsoft.com/office/drawing/2014/main" id="{9FE9C1CB-FE33-437E-968A-F41EFDCC8EA7}"/>
              </a:ext>
            </a:extLst>
          </p:cNvPr>
          <p:cNvSpPr>
            <a:spLocks xmlns:a="http://schemas.openxmlformats.org/drawingml/2006/main" noGrp="1"/>
          </p:cNvSpPr>
          <p:nvPr/>
        </p:nvSpPr>
        <p:spPr>
          <a:xfrm xmlns:a="http://schemas.openxmlformats.org/drawingml/2006/main">
            <a:off x="11087100" y="6353175"/>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425966"/>
                </a:solidFill>
                <a:latin typeface="Malgun Gothic"/>
                <a:ea typeface="Malgun Gothic"/>
                <a:cs typeface="Malgun Gothic"/>
              </a:defRPr>
            </a:defPPr>
          </a:lstStyle>
          <a:p xmlns:a="http://schemas.openxmlformats.org/drawingml/2006/main">
            <a:pPr>
              <a:buNone/>
              <a:defRPr sz="1500" b="0">
                <a:solidFill>
                  <a:srgbClr val="425966"/>
                </a:solidFill>
                <a:latin typeface="Malgun Gothic"/>
                <a:ea typeface="Malgun Gothic"/>
                <a:cs typeface="Malgun Gothic"/>
              </a:defRPr>
            </a:pPr>
            <a:r>
              <a:rPr sz="1500" b="0">
                <a:solidFill>
                  <a:srgbClr val="425966"/>
                </a:solidFill>
                <a:latin typeface="Malgun Gothic"/>
                <a:ea typeface="Malgun Gothic"/>
                <a:cs typeface="Malgun Gothic"/>
              </a:rPr>
              <a:t>02</a:t>
            </a:r>
          </a:p>
        </p:txBody>
      </p:sp>
    </p:spTree>
    <p:extLst>
      <p:ext uri="{BB962C8B-B14F-4D97-AF65-F5344CB8AC3E}">
        <p14:creationId xmlns:p14="http://schemas.microsoft.com/office/powerpoint/2010/main" val="1498112613"/>
      </p:ext>
    </p:extLst>
  </p:cSld>
</p:sld>
</file>

<file path=ppt/slides/slide3.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813C81C1-7B35-4103-AE5E-2C7F615583F1}"/>
              </a:ext>
            </a:extLst>
          </p:cNvPr>
          <p:cNvSpPr>
            <a:spLocks xmlns:a="http://schemas.openxmlformats.org/drawingml/2006/main" noGrp="1"/>
          </p:cNvSpPr>
          <p:nvPr/>
        </p:nvSpPr>
        <p:spPr>
          <a:xfrm xmlns:a="http://schemas.openxmlformats.org/drawingml/2006/main">
            <a:off x="609600" y="5715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42633"/>
                </a:solidFill>
                <a:latin typeface="Malgun Gothic"/>
                <a:ea typeface="Malgun Gothic"/>
                <a:cs typeface="Malgun Gothic"/>
              </a:defRPr>
            </a:defPPr>
          </a:lstStyle>
          <a:p xmlns:a="http://schemas.openxmlformats.org/drawingml/2006/main">
            <a:pPr>
              <a:buNone/>
              <a:defRPr sz="3300" b="1">
                <a:solidFill>
                  <a:srgbClr val="142633"/>
                </a:solidFill>
                <a:latin typeface="Malgun Gothic"/>
                <a:ea typeface="Malgun Gothic"/>
                <a:cs typeface="Malgun Gothic"/>
              </a:defRPr>
            </a:pPr>
            <a:r>
              <a:rPr sz="3300" b="1">
                <a:solidFill>
                  <a:srgbClr val="142633"/>
                </a:solidFill>
                <a:latin typeface="Malgun Gothic"/>
                <a:ea typeface="Malgun Gothic"/>
                <a:cs typeface="Malgun Gothic"/>
              </a:rPr>
              <a:t>개발 의도</a:t>
            </a:r>
          </a:p>
        </p:txBody>
      </p:sp>
      <p:sp>
        <p:nvSpPr>
          <p:cNvPr id="2" name="lead">
            <a:extLst xmlns:a="http://schemas.openxmlformats.org/drawingml/2006/main">
              <a:ext uri="{FF2B5EF4-FFF2-40B4-BE49-F238E27FC236}">
                <a16:creationId xmlns:a16="http://schemas.microsoft.com/office/drawing/2014/main" id="{50167B7C-85C6-47DC-96B1-A5CA7D5E32E6}"/>
              </a:ext>
            </a:extLst>
          </p:cNvPr>
          <p:cNvSpPr>
            <a:spLocks xmlns:a="http://schemas.openxmlformats.org/drawingml/2006/main" noGrp="1"/>
          </p:cNvSpPr>
          <p:nvPr/>
        </p:nvSpPr>
        <p:spPr>
          <a:xfrm xmlns:a="http://schemas.openxmlformats.org/drawingml/2006/main">
            <a:off x="609600" y="14573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B95B12"/>
                </a:solidFill>
                <a:latin typeface="Malgun Gothic"/>
                <a:ea typeface="Malgun Gothic"/>
                <a:cs typeface="Malgun Gothic"/>
              </a:defRPr>
            </a:defPPr>
          </a:lstStyle>
          <a:p xmlns:a="http://schemas.openxmlformats.org/drawingml/2006/main">
            <a:pPr>
              <a:buNone/>
              <a:defRPr sz="2100" b="0">
                <a:solidFill>
                  <a:srgbClr val="B95B12"/>
                </a:solidFill>
                <a:latin typeface="Malgun Gothic"/>
                <a:ea typeface="Malgun Gothic"/>
                <a:cs typeface="Malgun Gothic"/>
              </a:defRPr>
            </a:pPr>
            <a:r>
              <a:rPr sz="2100" b="0">
                <a:solidFill>
                  <a:srgbClr val="B95B12"/>
                </a:solidFill>
                <a:latin typeface="Malgun Gothic"/>
                <a:ea typeface="Malgun Gothic"/>
                <a:cs typeface="Malgun Gothic"/>
              </a:rPr>
              <a:t>유한한 혜성을 오래 활용하는 산업 회사</a:t>
            </a:r>
          </a:p>
        </p:txBody>
      </p:sp>
      <p:sp>
        <p:nvSpPr>
          <p:cNvPr id="3" name="body">
            <a:extLst xmlns:a="http://schemas.openxmlformats.org/drawingml/2006/main">
              <a:ext uri="{FF2B5EF4-FFF2-40B4-BE49-F238E27FC236}">
                <a16:creationId xmlns:a16="http://schemas.microsoft.com/office/drawing/2014/main" id="{CCEA69D1-0FF0-4B1B-94DF-0C13424A43D3}"/>
              </a:ext>
            </a:extLst>
          </p:cNvPr>
          <p:cNvSpPr>
            <a:spLocks xmlns:a="http://schemas.openxmlformats.org/drawingml/2006/main" noGrp="1"/>
          </p:cNvSpPr>
          <p:nvPr/>
        </p:nvSpPr>
        <p:spPr>
          <a:xfrm xmlns:a="http://schemas.openxmlformats.org/drawingml/2006/main">
            <a:off x="609600" y="23812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142633"/>
                </a:solidFill>
                <a:latin typeface="Malgun Gothic"/>
                <a:ea typeface="Malgun Gothic"/>
                <a:cs typeface="Malgun Gothic"/>
              </a:defRPr>
            </a:defPPr>
          </a:lstStyle>
          <a:p xmlns:a="http://schemas.openxmlformats.org/drawingml/2006/main">
            <a:pPr>
              <a:buNone/>
              <a:defRPr sz="2025" b="1">
                <a:solidFill>
                  <a:srgbClr val="142633"/>
                </a:solidFill>
                <a:latin typeface="Malgun Gothic"/>
                <a:ea typeface="Malgun Gothic"/>
                <a:cs typeface="Malgun Gothic"/>
              </a:defRPr>
            </a:pPr>
            <a:r>
              <a:rPr sz="2025" b="1">
                <a:solidFill>
                  <a:srgbClr val="142633"/>
                </a:solidFill>
                <a:latin typeface="Malgun Gothic"/>
                <a:ea typeface="Malgun Gothic"/>
                <a:cs typeface="Malgun Gothic"/>
              </a:rPr>
              <a:t>자산의 역할 전환</a:t>
            </a:r>
          </a:p>
        </p:txBody>
      </p:sp>
      <p:sp>
        <p:nvSpPr>
          <p:cNvPr id="4" name="body">
            <a:extLst xmlns:a="http://schemas.openxmlformats.org/drawingml/2006/main">
              <a:ext uri="{FF2B5EF4-FFF2-40B4-BE49-F238E27FC236}">
                <a16:creationId xmlns:a16="http://schemas.microsoft.com/office/drawing/2014/main" id="{3A2552A6-1358-4F39-8EC6-13E8F17DBBEB}"/>
              </a:ext>
            </a:extLst>
          </p:cNvPr>
          <p:cNvSpPr>
            <a:spLocks xmlns:a="http://schemas.openxmlformats.org/drawingml/2006/main" noGrp="1"/>
          </p:cNvSpPr>
          <p:nvPr/>
        </p:nvSpPr>
        <p:spPr>
          <a:xfrm xmlns:a="http://schemas.openxmlformats.org/drawingml/2006/main">
            <a:off x="609600" y="27908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425966"/>
                </a:solidFill>
                <a:latin typeface="Malgun Gothic"/>
                <a:ea typeface="Malgun Gothic"/>
                <a:cs typeface="Malgun Gothic"/>
              </a:defRPr>
            </a:defPPr>
          </a:lstStyle>
          <a:p xmlns:a="http://schemas.openxmlformats.org/drawingml/2006/main">
            <a:pPr>
              <a:buNone/>
              <a:defRPr sz="1875" b="0">
                <a:solidFill>
                  <a:srgbClr val="425966"/>
                </a:solidFill>
                <a:latin typeface="Malgun Gothic"/>
                <a:ea typeface="Malgun Gothic"/>
                <a:cs typeface="Malgun Gothic"/>
              </a:defRPr>
            </a:pPr>
            <a:r>
              <a:rPr sz="1875" b="0">
                <a:solidFill>
                  <a:srgbClr val="425966"/>
                </a:solidFill>
                <a:latin typeface="Malgun Gothic"/>
                <a:ea typeface="Malgun Gothic"/>
                <a:cs typeface="Malgun Gothic"/>
              </a:rPr>
              <a:t>자원 고갈 뒤에도 혜성을 가공·창고·물류 거점으로 활용하는 방향입니다.</a:t>
            </a:r>
          </a:p>
          <a:p xmlns:a="http://schemas.openxmlformats.org/drawingml/2006/main">
            <a:pPr>
              <a:buNone/>
              <a:defRPr sz="1875" b="0">
                <a:solidFill>
                  <a:srgbClr val="425966"/>
                </a:solidFill>
                <a:latin typeface="Malgun Gothic"/>
                <a:ea typeface="Malgun Gothic"/>
                <a:cs typeface="Malgun Gothic"/>
              </a:defRPr>
            </a:pPr>
            <a:r>
              <a:rPr sz="1875" b="0">
                <a:solidFill>
                  <a:srgbClr val="425966"/>
                </a:solidFill>
                <a:latin typeface="Malgun Gothic"/>
                <a:ea typeface="Malgun Gothic"/>
                <a:cs typeface="Malgun Gothic"/>
              </a:rPr>
              <a:t>장기 역할 전환은 향후 기획입니다.</a:t>
            </a:r>
          </a:p>
        </p:txBody>
      </p:sp>
      <p:sp>
        <p:nvSpPr>
          <p:cNvPr id="5" name="body">
            <a:extLst xmlns:a="http://schemas.openxmlformats.org/drawingml/2006/main">
              <a:ext uri="{FF2B5EF4-FFF2-40B4-BE49-F238E27FC236}">
                <a16:creationId xmlns:a16="http://schemas.microsoft.com/office/drawing/2014/main" id="{AF71FAAE-8B1C-464E-A47E-8846D1309641}"/>
              </a:ext>
            </a:extLst>
          </p:cNvPr>
          <p:cNvSpPr>
            <a:spLocks xmlns:a="http://schemas.openxmlformats.org/drawingml/2006/main" noGrp="1"/>
          </p:cNvSpPr>
          <p:nvPr/>
        </p:nvSpPr>
        <p:spPr>
          <a:xfrm xmlns:a="http://schemas.openxmlformats.org/drawingml/2006/main">
            <a:off x="609600" y="35718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142633"/>
                </a:solidFill>
                <a:latin typeface="Malgun Gothic"/>
                <a:ea typeface="Malgun Gothic"/>
                <a:cs typeface="Malgun Gothic"/>
              </a:defRPr>
            </a:defPPr>
          </a:lstStyle>
          <a:p xmlns:a="http://schemas.openxmlformats.org/drawingml/2006/main">
            <a:pPr>
              <a:buNone/>
              <a:defRPr sz="2025" b="1">
                <a:solidFill>
                  <a:srgbClr val="142633"/>
                </a:solidFill>
                <a:latin typeface="Malgun Gothic"/>
                <a:ea typeface="Malgun Gothic"/>
                <a:cs typeface="Malgun Gothic"/>
              </a:defRPr>
            </a:pPr>
            <a:r>
              <a:rPr sz="2025" b="1">
                <a:solidFill>
                  <a:srgbClr val="142633"/>
                </a:solidFill>
                <a:latin typeface="Malgun Gothic"/>
                <a:ea typeface="Malgun Gothic"/>
                <a:cs typeface="Malgun Gothic"/>
              </a:rPr>
              <a:t>설계로 해결하는 운영</a:t>
            </a:r>
          </a:p>
        </p:txBody>
      </p:sp>
      <p:sp>
        <p:nvSpPr>
          <p:cNvPr id="6" name="body">
            <a:extLst xmlns:a="http://schemas.openxmlformats.org/drawingml/2006/main">
              <a:ext uri="{FF2B5EF4-FFF2-40B4-BE49-F238E27FC236}">
                <a16:creationId xmlns:a16="http://schemas.microsoft.com/office/drawing/2014/main" id="{057AAD82-2499-4F27-AD65-162937B02F87}"/>
              </a:ext>
            </a:extLst>
          </p:cNvPr>
          <p:cNvSpPr>
            <a:spLocks xmlns:a="http://schemas.openxmlformats.org/drawingml/2006/main" noGrp="1"/>
          </p:cNvSpPr>
          <p:nvPr/>
        </p:nvSpPr>
        <p:spPr>
          <a:xfrm xmlns:a="http://schemas.openxmlformats.org/drawingml/2006/main">
            <a:off x="609600" y="39814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425966"/>
                </a:solidFill>
                <a:latin typeface="Malgun Gothic"/>
                <a:ea typeface="Malgun Gothic"/>
                <a:cs typeface="Malgun Gothic"/>
              </a:defRPr>
            </a:defPPr>
          </a:lstStyle>
          <a:p xmlns:a="http://schemas.openxmlformats.org/drawingml/2006/main">
            <a:pPr>
              <a:buNone/>
              <a:defRPr sz="1875" b="0">
                <a:solidFill>
                  <a:srgbClr val="425966"/>
                </a:solidFill>
                <a:latin typeface="Malgun Gothic"/>
                <a:ea typeface="Malgun Gothic"/>
                <a:cs typeface="Malgun Gothic"/>
              </a:defRPr>
            </a:pPr>
            <a:r>
              <a:rPr sz="1875" b="0">
                <a:solidFill>
                  <a:srgbClr val="425966"/>
                </a:solidFill>
                <a:latin typeface="Malgun Gothic"/>
                <a:ea typeface="Malgun Gothic"/>
                <a:cs typeface="Malgun Gothic"/>
              </a:rPr>
              <a:t>시설을 배치하고 물류를 연결해 재료 부족과 전력·저장 공간의 병목을 해결하는 경험을 중심에 둡니다.</a:t>
            </a:r>
          </a:p>
        </p:txBody>
      </p:sp>
      <p:sp>
        <p:nvSpPr>
          <p:cNvPr id="7" name="body">
            <a:extLst xmlns:a="http://schemas.openxmlformats.org/drawingml/2006/main">
              <a:ext uri="{FF2B5EF4-FFF2-40B4-BE49-F238E27FC236}">
                <a16:creationId xmlns:a16="http://schemas.microsoft.com/office/drawing/2014/main" id="{451F6422-2E90-49C3-ACF7-B38F7872B45A}"/>
              </a:ext>
            </a:extLst>
          </p:cNvPr>
          <p:cNvSpPr>
            <a:spLocks xmlns:a="http://schemas.openxmlformats.org/drawingml/2006/main" noGrp="1"/>
          </p:cNvSpPr>
          <p:nvPr/>
        </p:nvSpPr>
        <p:spPr>
          <a:xfrm xmlns:a="http://schemas.openxmlformats.org/drawingml/2006/main">
            <a:off x="609600" y="47625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142633"/>
                </a:solidFill>
                <a:latin typeface="Malgun Gothic"/>
                <a:ea typeface="Malgun Gothic"/>
                <a:cs typeface="Malgun Gothic"/>
              </a:defRPr>
            </a:defPPr>
          </a:lstStyle>
          <a:p xmlns:a="http://schemas.openxmlformats.org/drawingml/2006/main">
            <a:pPr>
              <a:buNone/>
              <a:defRPr sz="2025" b="1">
                <a:solidFill>
                  <a:srgbClr val="142633"/>
                </a:solidFill>
                <a:latin typeface="Malgun Gothic"/>
                <a:ea typeface="Malgun Gothic"/>
                <a:cs typeface="Malgun Gothic"/>
              </a:defRPr>
            </a:pPr>
            <a:r>
              <a:rPr sz="2025" b="1">
                <a:solidFill>
                  <a:srgbClr val="142633"/>
                </a:solidFill>
                <a:latin typeface="Malgun Gothic"/>
                <a:ea typeface="Malgun Gothic"/>
                <a:cs typeface="Malgun Gothic"/>
              </a:rPr>
              <a:t>작은 성공에서 회사 운영으로</a:t>
            </a:r>
          </a:p>
        </p:txBody>
      </p:sp>
      <p:sp>
        <p:nvSpPr>
          <p:cNvPr id="8" name="body">
            <a:extLst xmlns:a="http://schemas.openxmlformats.org/drawingml/2006/main">
              <a:ext uri="{FF2B5EF4-FFF2-40B4-BE49-F238E27FC236}">
                <a16:creationId xmlns:a16="http://schemas.microsoft.com/office/drawing/2014/main" id="{DEA28E99-56BD-4F7B-BCC0-9B15D0453C05}"/>
              </a:ext>
            </a:extLst>
          </p:cNvPr>
          <p:cNvSpPr>
            <a:spLocks xmlns:a="http://schemas.openxmlformats.org/drawingml/2006/main" noGrp="1"/>
          </p:cNvSpPr>
          <p:nvPr/>
        </p:nvSpPr>
        <p:spPr>
          <a:xfrm xmlns:a="http://schemas.openxmlformats.org/drawingml/2006/main">
            <a:off x="609600" y="517207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425966"/>
                </a:solidFill>
                <a:latin typeface="Malgun Gothic"/>
                <a:ea typeface="Malgun Gothic"/>
                <a:cs typeface="Malgun Gothic"/>
              </a:defRPr>
            </a:defPPr>
          </a:lstStyle>
          <a:p xmlns:a="http://schemas.openxmlformats.org/drawingml/2006/main">
            <a:pPr>
              <a:buNone/>
              <a:defRPr sz="1875" b="0">
                <a:solidFill>
                  <a:srgbClr val="425966"/>
                </a:solidFill>
                <a:latin typeface="Malgun Gothic"/>
                <a:ea typeface="Malgun Gothic"/>
                <a:cs typeface="Malgun Gothic"/>
              </a:defRPr>
            </a:pPr>
            <a:r>
              <a:rPr sz="1875" b="0">
                <a:solidFill>
                  <a:srgbClr val="425966"/>
                </a:solidFill>
                <a:latin typeface="Malgun Gothic"/>
                <a:ea typeface="Malgun Gothic"/>
                <a:cs typeface="Malgun Gothic"/>
              </a:rPr>
              <a:t>철판 생산과 첫 납품을 먼저 경험하고, 여러 혜성의 생산과 수송을 관리하는 흐름으로 확장합니다.</a:t>
            </a:r>
          </a:p>
        </p:txBody>
      </p:sp>
      <p:sp>
        <p:nvSpPr>
          <p:cNvPr id="9" name="page">
            <a:extLst xmlns:a="http://schemas.openxmlformats.org/drawingml/2006/main">
              <a:ext uri="{FF2B5EF4-FFF2-40B4-BE49-F238E27FC236}">
                <a16:creationId xmlns:a16="http://schemas.microsoft.com/office/drawing/2014/main" id="{3A79A0B9-E97E-4C6A-9B68-FBDAF27951C4}"/>
              </a:ext>
            </a:extLst>
          </p:cNvPr>
          <p:cNvSpPr>
            <a:spLocks xmlns:a="http://schemas.openxmlformats.org/drawingml/2006/main" noGrp="1"/>
          </p:cNvSpPr>
          <p:nvPr/>
        </p:nvSpPr>
        <p:spPr>
          <a:xfrm xmlns:a="http://schemas.openxmlformats.org/drawingml/2006/main">
            <a:off x="11087100" y="6353175"/>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425966"/>
                </a:solidFill>
                <a:latin typeface="Malgun Gothic"/>
                <a:ea typeface="Malgun Gothic"/>
                <a:cs typeface="Malgun Gothic"/>
              </a:defRPr>
            </a:defPPr>
          </a:lstStyle>
          <a:p xmlns:a="http://schemas.openxmlformats.org/drawingml/2006/main">
            <a:pPr>
              <a:buNone/>
              <a:defRPr sz="1500" b="0">
                <a:solidFill>
                  <a:srgbClr val="425966"/>
                </a:solidFill>
                <a:latin typeface="Malgun Gothic"/>
                <a:ea typeface="Malgun Gothic"/>
                <a:cs typeface="Malgun Gothic"/>
              </a:defRPr>
            </a:pPr>
            <a:r>
              <a:rPr sz="1500" b="0">
                <a:solidFill>
                  <a:srgbClr val="425966"/>
                </a:solidFill>
                <a:latin typeface="Malgun Gothic"/>
                <a:ea typeface="Malgun Gothic"/>
                <a:cs typeface="Malgun Gothic"/>
              </a:rPr>
              <a:t>03</a:t>
            </a:r>
          </a:p>
        </p:txBody>
      </p:sp>
    </p:spTree>
    <p:extLst>
      <p:ext uri="{BB962C8B-B14F-4D97-AF65-F5344CB8AC3E}">
        <p14:creationId xmlns:p14="http://schemas.microsoft.com/office/powerpoint/2010/main" val="1819220747"/>
      </p:ext>
    </p:extLst>
  </p:cSld>
</p:sld>
</file>

<file path=ppt/slides/slide4.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558FF22-4C79-45C7-9BDF-7BF4789E1EE8}"/>
              </a:ext>
            </a:extLst>
          </p:cNvPr>
          <p:cNvSpPr>
            <a:spLocks xmlns:a="http://schemas.openxmlformats.org/drawingml/2006/main" noGrp="1"/>
          </p:cNvSpPr>
          <p:nvPr/>
        </p:nvSpPr>
        <p:spPr>
          <a:xfrm xmlns:a="http://schemas.openxmlformats.org/drawingml/2006/main">
            <a:off x="609600" y="5715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42633"/>
                </a:solidFill>
                <a:latin typeface="Malgun Gothic"/>
                <a:ea typeface="Malgun Gothic"/>
                <a:cs typeface="Malgun Gothic"/>
              </a:defRPr>
            </a:defPPr>
          </a:lstStyle>
          <a:p xmlns:a="http://schemas.openxmlformats.org/drawingml/2006/main">
            <a:pPr>
              <a:buNone/>
              <a:defRPr sz="3300" b="1">
                <a:solidFill>
                  <a:srgbClr val="142633"/>
                </a:solidFill>
                <a:latin typeface="Malgun Gothic"/>
                <a:ea typeface="Malgun Gothic"/>
                <a:cs typeface="Malgun Gothic"/>
              </a:defRPr>
            </a:pPr>
            <a:r>
              <a:rPr sz="3300" b="1">
                <a:solidFill>
                  <a:srgbClr val="142633"/>
                </a:solidFill>
                <a:latin typeface="Malgun Gothic"/>
                <a:ea typeface="Malgun Gothic"/>
                <a:cs typeface="Malgun Gothic"/>
              </a:rPr>
              <a:t>게임 시스템의 구성</a:t>
            </a:r>
          </a:p>
        </p:txBody>
      </p:sp>
      <p:sp>
        <p:nvSpPr>
          <p:cNvPr id="2" name="lead">
            <a:extLst xmlns:a="http://schemas.openxmlformats.org/drawingml/2006/main">
              <a:ext uri="{FF2B5EF4-FFF2-40B4-BE49-F238E27FC236}">
                <a16:creationId xmlns:a16="http://schemas.microsoft.com/office/drawing/2014/main" id="{4094CAF5-EDB9-4F1C-8C80-C91D65E141ED}"/>
              </a:ext>
            </a:extLst>
          </p:cNvPr>
          <p:cNvSpPr>
            <a:spLocks xmlns:a="http://schemas.openxmlformats.org/drawingml/2006/main" noGrp="1"/>
          </p:cNvSpPr>
          <p:nvPr/>
        </p:nvSpPr>
        <p:spPr>
          <a:xfrm xmlns:a="http://schemas.openxmlformats.org/drawingml/2006/main">
            <a:off x="609600" y="14573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B95B12"/>
                </a:solidFill>
                <a:latin typeface="Malgun Gothic"/>
                <a:ea typeface="Malgun Gothic"/>
                <a:cs typeface="Malgun Gothic"/>
              </a:defRPr>
            </a:defPPr>
          </a:lstStyle>
          <a:p xmlns:a="http://schemas.openxmlformats.org/drawingml/2006/main">
            <a:pPr>
              <a:buNone/>
              <a:defRPr sz="2100" b="0">
                <a:solidFill>
                  <a:srgbClr val="B95B12"/>
                </a:solidFill>
                <a:latin typeface="Malgun Gothic"/>
                <a:ea typeface="Malgun Gothic"/>
                <a:cs typeface="Malgun Gothic"/>
              </a:defRPr>
            </a:pPr>
            <a:r>
              <a:rPr sz="2100" b="0">
                <a:solidFill>
                  <a:srgbClr val="B95B12"/>
                </a:solidFill>
                <a:latin typeface="Malgun Gothic"/>
                <a:ea typeface="Malgun Gothic"/>
                <a:cs typeface="Malgun Gothic"/>
              </a:rPr>
              <a:t>회사 상태를 중심으로 생산·물류·거래를 연결</a:t>
            </a:r>
          </a:p>
        </p:txBody>
      </p:sp>
      <p:graphicFrame>
        <p:nvGraphicFramePr>
          <p:cNvPr id="3" name="">
            <a:extLst xmlns:a="http://schemas.openxmlformats.org/drawingml/2006/main">
              <a:ext uri="{FF2B5EF4-FFF2-40B4-BE49-F238E27FC236}">
                <a16:creationId xmlns:a16="http://schemas.microsoft.com/office/drawing/2014/main" id="{8B5845D9-E82F-402A-9CEF-CD4E89642A8E}"/>
              </a:ext>
            </a:extLst>
          </p:cNvPr>
          <p:cNvGraphicFramePr/>
          <p:nvPr/>
        </p:nvGraphicFramePr>
        <p:xfrm>
          <a:off xmlns:a="http://schemas.openxmlformats.org/drawingml/2006/main" x="609600" y="2190750"/>
          <a:ext xmlns:a="http://schemas.openxmlformats.org/drawingml/2006/main" cx="10972800" cy="3314700"/>
        </p:xfrm>
        <a:graphic xmlns:a="http://schemas.openxmlformats.org/drawingml/2006/main">
          <a:graphicData uri="http://schemas.openxmlformats.org/drawingml/2006/table">
            <a:tbl>
              <a:tblPr/>
              <a:tblGrid>
                <a:gridCol w="2619375"/>
                <a:gridCol w="4333875"/>
                <a:gridCol w="4019550"/>
              </a:tblGrid>
              <a:tr h="552450">
                <a:tc>
                  <a:txBody>
                    <a:bodyPr lIns="114300" tIns="114300" rIns="114300" bIns="114300"/>
                    <a:lstStyle/>
                    <a:p>
                      <a:r>
                        <a:rPr sz="1725" b="1">
                          <a:solidFill>
                            <a:srgbClr val="B95B12"/>
                          </a:solidFill>
                          <a:latin typeface="Malgun Gothic"/>
                          <a:ea typeface="Malgun Gothic"/>
                          <a:cs typeface="Malgun Gothic"/>
                        </a:rPr>
                        <a:t>시스템</a:t>
                      </a:r>
                    </a:p>
                  </a:txBody>
                  <a:tcPr marL="91440" marR="91440" marT="45720" marB="45720">
                    <a:lnL w="9525">
                      <a:solidFill>
                        <a:srgbClr val="CFD5D5"/>
                      </a:solidFill>
                    </a:lnL>
                    <a:lnR w="9525">
                      <a:solidFill>
                        <a:srgbClr val="CFD5D5"/>
                      </a:solidFill>
                    </a:lnR>
                    <a:lnT w="9525">
                      <a:solidFill>
                        <a:srgbClr val="CFD5D5"/>
                      </a:solidFill>
                    </a:lnT>
                    <a:lnB w="9525">
                      <a:solidFill>
                        <a:srgbClr val="CFD5D5"/>
                      </a:solidFill>
                    </a:lnB>
                    <a:solidFill>
                      <a:srgbClr val="E2E6E3"/>
                    </a:solidFill>
                  </a:tcPr>
                </a:tc>
                <a:tc>
                  <a:txBody>
                    <a:bodyPr lIns="114300" tIns="114300" rIns="114300" bIns="114300"/>
                    <a:lstStyle/>
                    <a:p>
                      <a:r>
                        <a:rPr sz="1725" b="1">
                          <a:solidFill>
                            <a:srgbClr val="B95B12"/>
                          </a:solidFill>
                          <a:latin typeface="Malgun Gothic"/>
                          <a:ea typeface="Malgun Gothic"/>
                          <a:cs typeface="Malgun Gothic"/>
                        </a:rPr>
                        <a:t>주요 데이터·규칙</a:t>
                      </a:r>
                    </a:p>
                  </a:txBody>
                  <a:tcPr marL="91440" marR="91440" marT="45720" marB="45720">
                    <a:lnR w="9525">
                      <a:solidFill>
                        <a:srgbClr val="CFD5D5"/>
                      </a:solidFill>
                    </a:lnR>
                    <a:lnT w="9525">
                      <a:solidFill>
                        <a:srgbClr val="CFD5D5"/>
                      </a:solidFill>
                    </a:lnT>
                    <a:lnB w="9525">
                      <a:solidFill>
                        <a:srgbClr val="CFD5D5"/>
                      </a:solidFill>
                    </a:lnB>
                    <a:solidFill>
                      <a:srgbClr val="E2E6E3"/>
                    </a:solidFill>
                  </a:tcPr>
                </a:tc>
                <a:tc>
                  <a:txBody>
                    <a:bodyPr lIns="114300" tIns="114300" rIns="114300" bIns="114300"/>
                    <a:lstStyle/>
                    <a:p>
                      <a:r>
                        <a:rPr sz="1725" b="1">
                          <a:solidFill>
                            <a:srgbClr val="B95B12"/>
                          </a:solidFill>
                          <a:latin typeface="Malgun Gothic"/>
                          <a:ea typeface="Malgun Gothic"/>
                          <a:cs typeface="Malgun Gothic"/>
                        </a:rPr>
                        <a:t>플레이어가 보는 정보</a:t>
                      </a:r>
                    </a:p>
                  </a:txBody>
                  <a:tcPr marL="91440" marR="91440" marT="45720" marB="45720">
                    <a:lnR w="9525">
                      <a:solidFill>
                        <a:srgbClr val="CFD5D5"/>
                      </a:solidFill>
                    </a:lnR>
                    <a:lnT w="9525">
                      <a:solidFill>
                        <a:srgbClr val="CFD5D5"/>
                      </a:solidFill>
                    </a:lnT>
                    <a:lnB w="9525">
                      <a:solidFill>
                        <a:srgbClr val="CFD5D5"/>
                      </a:solidFill>
                    </a:lnB>
                    <a:solidFill>
                      <a:srgbClr val="E2E6E3"/>
                    </a:solidFill>
                  </a:tcPr>
                </a:tc>
              </a:tr>
              <a:tr h="552450">
                <a:tc>
                  <a:txBody>
                    <a:bodyPr lIns="114300" tIns="114300" rIns="114300" bIns="114300"/>
                    <a:lstStyle/>
                    <a:p>
                      <a:r>
                        <a:rPr sz="1725" b="0">
                          <a:solidFill>
                            <a:srgbClr val="142633"/>
                          </a:solidFill>
                          <a:latin typeface="Malgun Gothic"/>
                          <a:ea typeface="Malgun Gothic"/>
                          <a:cs typeface="Malgun Gothic"/>
                        </a:rPr>
                        <a:t>회사·혜성</a:t>
                      </a:r>
                    </a:p>
                  </a:txBody>
                  <a:tcPr marL="91440" marR="91440" marT="45720" marB="45720">
                    <a:lnL w="9525">
                      <a:solidFill>
                        <a:srgbClr val="CFD5D5"/>
                      </a:solidFill>
                    </a:lnL>
                    <a:lnR w="9525">
                      <a:solidFill>
                        <a:srgbClr val="CFD5D5"/>
                      </a:solidFill>
                    </a:lnR>
                    <a:lnB w="9525">
                      <a:solidFill>
                        <a:srgbClr val="CFD5D5"/>
                      </a:solidFill>
                    </a:lnB>
                    <a:solidFill>
                      <a:srgbClr val="F5F4EF"/>
                    </a:solidFill>
                  </a:tcPr>
                </a:tc>
                <a:tc>
                  <a:txBody>
                    <a:bodyPr lIns="114300" tIns="114300" rIns="114300" bIns="114300"/>
                    <a:lstStyle/>
                    <a:p>
                      <a:r>
                        <a:rPr sz="1725" b="0">
                          <a:solidFill>
                            <a:srgbClr val="142633"/>
                          </a:solidFill>
                          <a:latin typeface="Malgun Gothic"/>
                          <a:ea typeface="Malgun Gothic"/>
                          <a:cs typeface="Malgun Gothic"/>
                        </a:rPr>
                        <a:t>CompanyState, FoundryColony, CometGrid</a:t>
                      </a:r>
                    </a:p>
                  </a:txBody>
                  <a:tcPr marL="91440" marR="91440" marT="45720" marB="45720">
                    <a:lnR w="9525">
                      <a:solidFill>
                        <a:srgbClr val="CFD5D5"/>
                      </a:solidFill>
                    </a:lnR>
                    <a:lnB w="9525">
                      <a:solidFill>
                        <a:srgbClr val="CFD5D5"/>
                      </a:solidFill>
                    </a:lnB>
                    <a:solidFill>
                      <a:srgbClr val="F5F4EF"/>
                    </a:solidFill>
                  </a:tcPr>
                </a:tc>
                <a:tc>
                  <a:txBody>
                    <a:bodyPr lIns="114300" tIns="114300" rIns="114300" bIns="114300"/>
                    <a:lstStyle/>
                    <a:p>
                      <a:r>
                        <a:rPr sz="1725" b="0">
                          <a:solidFill>
                            <a:srgbClr val="142633"/>
                          </a:solidFill>
                          <a:latin typeface="Malgun Gothic"/>
                          <a:ea typeface="Malgun Gothic"/>
                          <a:cs typeface="Malgun Gothic"/>
                        </a:rPr>
                        <a:t>자금, 보유 혜성, 개발 타일</a:t>
                      </a:r>
                    </a:p>
                  </a:txBody>
                  <a:tcPr marL="91440" marR="91440" marT="45720" marB="45720">
                    <a:lnR w="9525">
                      <a:solidFill>
                        <a:srgbClr val="CFD5D5"/>
                      </a:solidFill>
                    </a:lnR>
                    <a:lnB w="9525">
                      <a:solidFill>
                        <a:srgbClr val="CFD5D5"/>
                      </a:solidFill>
                    </a:lnB>
                    <a:solidFill>
                      <a:srgbClr val="F5F4EF"/>
                    </a:solidFill>
                  </a:tcPr>
                </a:tc>
              </a:tr>
              <a:tr h="552450">
                <a:tc>
                  <a:txBody>
                    <a:bodyPr lIns="114300" tIns="114300" rIns="114300" bIns="114300"/>
                    <a:lstStyle/>
                    <a:p>
                      <a:r>
                        <a:rPr sz="1725" b="0">
                          <a:solidFill>
                            <a:srgbClr val="142633"/>
                          </a:solidFill>
                          <a:latin typeface="Malgun Gothic"/>
                          <a:ea typeface="Malgun Gothic"/>
                          <a:cs typeface="Malgun Gothic"/>
                        </a:rPr>
                        <a:t>생산·전력</a:t>
                      </a:r>
                    </a:p>
                  </a:txBody>
                  <a:tcPr marL="91440" marR="91440" marT="45720" marB="45720">
                    <a:lnL w="9525">
                      <a:solidFill>
                        <a:srgbClr val="CFD5D5"/>
                      </a:solidFill>
                    </a:lnL>
                    <a:lnR w="9525">
                      <a:solidFill>
                        <a:srgbClr val="CFD5D5"/>
                      </a:solidFill>
                    </a:lnR>
                    <a:lnB w="9525">
                      <a:solidFill>
                        <a:srgbClr val="CFD5D5"/>
                      </a:solidFill>
                    </a:lnB>
                    <a:solidFill>
                      <a:srgbClr val="F5F4EF"/>
                    </a:solidFill>
                  </a:tcPr>
                </a:tc>
                <a:tc>
                  <a:txBody>
                    <a:bodyPr lIns="114300" tIns="114300" rIns="114300" bIns="114300"/>
                    <a:lstStyle/>
                    <a:p>
                      <a:r>
                        <a:rPr sz="1725" b="0">
                          <a:solidFill>
                            <a:srgbClr val="142633"/>
                          </a:solidFill>
                          <a:latin typeface="Malgun Gothic"/>
                          <a:ea typeface="Malgun Gothic"/>
                          <a:cs typeface="Malgun Gothic"/>
                        </a:rPr>
                        <a:t>시설, 레시피, 전력 보고</a:t>
                      </a:r>
                    </a:p>
                  </a:txBody>
                  <a:tcPr marL="91440" marR="91440" marT="45720" marB="45720">
                    <a:lnR w="9525">
                      <a:solidFill>
                        <a:srgbClr val="CFD5D5"/>
                      </a:solidFill>
                    </a:lnR>
                    <a:lnB w="9525">
                      <a:solidFill>
                        <a:srgbClr val="CFD5D5"/>
                      </a:solidFill>
                    </a:lnB>
                    <a:solidFill>
                      <a:srgbClr val="F5F4EF"/>
                    </a:solidFill>
                  </a:tcPr>
                </a:tc>
                <a:tc>
                  <a:txBody>
                    <a:bodyPr lIns="114300" tIns="114300" rIns="114300" bIns="114300"/>
                    <a:lstStyle/>
                    <a:p>
                      <a:r>
                        <a:rPr sz="1725" b="0">
                          <a:solidFill>
                            <a:srgbClr val="142633"/>
                          </a:solidFill>
                          <a:latin typeface="Malgun Gothic"/>
                          <a:ea typeface="Malgun Gothic"/>
                          <a:cs typeface="Malgun Gothic"/>
                        </a:rPr>
                        <a:t>생산품, 진행도, 정지 이유</a:t>
                      </a:r>
                    </a:p>
                  </a:txBody>
                  <a:tcPr marL="91440" marR="91440" marT="45720" marB="45720">
                    <a:lnR w="9525">
                      <a:solidFill>
                        <a:srgbClr val="CFD5D5"/>
                      </a:solidFill>
                    </a:lnR>
                    <a:lnB w="9525">
                      <a:solidFill>
                        <a:srgbClr val="CFD5D5"/>
                      </a:solidFill>
                    </a:lnB>
                    <a:solidFill>
                      <a:srgbClr val="F5F4EF"/>
                    </a:solidFill>
                  </a:tcPr>
                </a:tc>
              </a:tr>
              <a:tr h="552450">
                <a:tc>
                  <a:txBody>
                    <a:bodyPr lIns="114300" tIns="114300" rIns="114300" bIns="114300"/>
                    <a:lstStyle/>
                    <a:p>
                      <a:r>
                        <a:rPr sz="1725" b="0">
                          <a:solidFill>
                            <a:srgbClr val="142633"/>
                          </a:solidFill>
                          <a:latin typeface="Malgun Gothic"/>
                          <a:ea typeface="Malgun Gothic"/>
                          <a:cs typeface="Malgun Gothic"/>
                        </a:rPr>
                        <a:t>물류·수송</a:t>
                      </a:r>
                    </a:p>
                  </a:txBody>
                  <a:tcPr marL="91440" marR="91440" marT="45720" marB="45720">
                    <a:lnL w="9525">
                      <a:solidFill>
                        <a:srgbClr val="CFD5D5"/>
                      </a:solidFill>
                    </a:lnL>
                    <a:lnR w="9525">
                      <a:solidFill>
                        <a:srgbClr val="CFD5D5"/>
                      </a:solidFill>
                    </a:lnR>
                    <a:lnB w="9525">
                      <a:solidFill>
                        <a:srgbClr val="CFD5D5"/>
                      </a:solidFill>
                    </a:lnB>
                    <a:solidFill>
                      <a:srgbClr val="F5F4EF"/>
                    </a:solidFill>
                  </a:tcPr>
                </a:tc>
                <a:tc>
                  <a:txBody>
                    <a:bodyPr lIns="114300" tIns="114300" rIns="114300" bIns="114300"/>
                    <a:lstStyle/>
                    <a:p>
                      <a:r>
                        <a:rPr sz="1725" b="0">
                          <a:solidFill>
                            <a:srgbClr val="142633"/>
                          </a:solidFill>
                          <a:latin typeface="Malgun Gothic"/>
                          <a:ea typeface="Malgun Gothic"/>
                          <a:cs typeface="Malgun Gothic"/>
                        </a:rPr>
                        <a:t>드론 작업, 선박 화물, 도착 공간</a:t>
                      </a:r>
                    </a:p>
                  </a:txBody>
                  <a:tcPr marL="91440" marR="91440" marT="45720" marB="45720">
                    <a:lnR w="9525">
                      <a:solidFill>
                        <a:srgbClr val="CFD5D5"/>
                      </a:solidFill>
                    </a:lnR>
                    <a:lnB w="9525">
                      <a:solidFill>
                        <a:srgbClr val="CFD5D5"/>
                      </a:solidFill>
                    </a:lnB>
                    <a:solidFill>
                      <a:srgbClr val="F5F4EF"/>
                    </a:solidFill>
                  </a:tcPr>
                </a:tc>
                <a:tc>
                  <a:txBody>
                    <a:bodyPr lIns="114300" tIns="114300" rIns="114300" bIns="114300"/>
                    <a:lstStyle/>
                    <a:p>
                      <a:r>
                        <a:rPr sz="1725" b="0">
                          <a:solidFill>
                            <a:srgbClr val="142633"/>
                          </a:solidFill>
                          <a:latin typeface="Malgun Gothic"/>
                          <a:ea typeface="Malgun Gothic"/>
                          <a:cs typeface="Malgun Gothic"/>
                        </a:rPr>
                        <a:t>운반 상태, 수량, 시간·비용</a:t>
                      </a:r>
                    </a:p>
                  </a:txBody>
                  <a:tcPr marL="91440" marR="91440" marT="45720" marB="45720">
                    <a:lnR w="9525">
                      <a:solidFill>
                        <a:srgbClr val="CFD5D5"/>
                      </a:solidFill>
                    </a:lnR>
                    <a:lnB w="9525">
                      <a:solidFill>
                        <a:srgbClr val="CFD5D5"/>
                      </a:solidFill>
                    </a:lnB>
                    <a:solidFill>
                      <a:srgbClr val="F5F4EF"/>
                    </a:solidFill>
                  </a:tcPr>
                </a:tc>
              </a:tr>
              <a:tr h="552450">
                <a:tc>
                  <a:txBody>
                    <a:bodyPr lIns="114300" tIns="114300" rIns="114300" bIns="114300"/>
                    <a:lstStyle/>
                    <a:p>
                      <a:r>
                        <a:rPr sz="1725" b="0">
                          <a:solidFill>
                            <a:srgbClr val="142633"/>
                          </a:solidFill>
                          <a:latin typeface="Malgun Gothic"/>
                          <a:ea typeface="Malgun Gothic"/>
                          <a:cs typeface="Malgun Gothic"/>
                        </a:rPr>
                        <a:t>시장·계약</a:t>
                      </a:r>
                    </a:p>
                  </a:txBody>
                  <a:tcPr marL="91440" marR="91440" marT="45720" marB="45720">
                    <a:lnL w="9525">
                      <a:solidFill>
                        <a:srgbClr val="CFD5D5"/>
                      </a:solidFill>
                    </a:lnL>
                    <a:lnR w="9525">
                      <a:solidFill>
                        <a:srgbClr val="CFD5D5"/>
                      </a:solidFill>
                    </a:lnR>
                    <a:lnB w="9525">
                      <a:solidFill>
                        <a:srgbClr val="CFD5D5"/>
                      </a:solidFill>
                    </a:lnB>
                    <a:solidFill>
                      <a:srgbClr val="F5F4EF"/>
                    </a:solidFill>
                  </a:tcPr>
                </a:tc>
                <a:tc>
                  <a:txBody>
                    <a:bodyPr lIns="114300" tIns="114300" rIns="114300" bIns="114300"/>
                    <a:lstStyle/>
                    <a:p>
                      <a:r>
                        <a:rPr sz="1725" b="0">
                          <a:solidFill>
                            <a:srgbClr val="142633"/>
                          </a:solidFill>
                          <a:latin typeface="Malgun Gothic"/>
                          <a:ea typeface="Malgun Gothic"/>
                          <a:cs typeface="Malgun Gothic"/>
                        </a:rPr>
                        <a:t>시세, 구매·판매 조건, 납품 미션</a:t>
                      </a:r>
                    </a:p>
                  </a:txBody>
                  <a:tcPr marL="91440" marR="91440" marT="45720" marB="45720">
                    <a:lnR w="9525">
                      <a:solidFill>
                        <a:srgbClr val="CFD5D5"/>
                      </a:solidFill>
                    </a:lnR>
                    <a:lnB w="9525">
                      <a:solidFill>
                        <a:srgbClr val="CFD5D5"/>
                      </a:solidFill>
                    </a:lnB>
                    <a:solidFill>
                      <a:srgbClr val="F5F4EF"/>
                    </a:solidFill>
                  </a:tcPr>
                </a:tc>
                <a:tc>
                  <a:txBody>
                    <a:bodyPr lIns="114300" tIns="114300" rIns="114300" bIns="114300"/>
                    <a:lstStyle/>
                    <a:p>
                      <a:r>
                        <a:rPr sz="1725" b="0">
                          <a:solidFill>
                            <a:srgbClr val="142633"/>
                          </a:solidFill>
                          <a:latin typeface="Malgun Gothic"/>
                          <a:ea typeface="Malgun Gothic"/>
                          <a:cs typeface="Malgun Gothic"/>
                        </a:rPr>
                        <a:t>가격 기록, 재고, 계약 보상</a:t>
                      </a:r>
                    </a:p>
                  </a:txBody>
                  <a:tcPr marL="91440" marR="91440" marT="45720" marB="45720">
                    <a:lnR w="9525">
                      <a:solidFill>
                        <a:srgbClr val="CFD5D5"/>
                      </a:solidFill>
                    </a:lnR>
                    <a:lnB w="9525">
                      <a:solidFill>
                        <a:srgbClr val="CFD5D5"/>
                      </a:solidFill>
                    </a:lnB>
                    <a:solidFill>
                      <a:srgbClr val="F5F4EF"/>
                    </a:solidFill>
                  </a:tcPr>
                </a:tc>
              </a:tr>
              <a:tr h="552450">
                <a:tc>
                  <a:txBody>
                    <a:bodyPr lIns="114300" tIns="114300" rIns="114300" bIns="114300"/>
                    <a:lstStyle/>
                    <a:p>
                      <a:r>
                        <a:rPr sz="1725" b="0">
                          <a:solidFill>
                            <a:srgbClr val="142633"/>
                          </a:solidFill>
                          <a:latin typeface="Malgun Gothic"/>
                          <a:ea typeface="Malgun Gothic"/>
                          <a:cs typeface="Malgun Gothic"/>
                        </a:rPr>
                        <a:t>저장·안내</a:t>
                      </a:r>
                    </a:p>
                  </a:txBody>
                  <a:tcPr marL="91440" marR="91440" marT="45720" marB="45720">
                    <a:lnL w="9525">
                      <a:solidFill>
                        <a:srgbClr val="CFD5D5"/>
                      </a:solidFill>
                    </a:lnL>
                    <a:lnR w="9525">
                      <a:solidFill>
                        <a:srgbClr val="CFD5D5"/>
                      </a:solidFill>
                    </a:lnR>
                    <a:lnB w="9525">
                      <a:solidFill>
                        <a:srgbClr val="CFD5D5"/>
                      </a:solidFill>
                    </a:lnB>
                    <a:solidFill>
                      <a:srgbClr val="F5F4EF"/>
                    </a:solidFill>
                  </a:tcPr>
                </a:tc>
                <a:tc>
                  <a:txBody>
                    <a:bodyPr lIns="114300" tIns="114300" rIns="114300" bIns="114300"/>
                    <a:lstStyle/>
                    <a:p>
                      <a:r>
                        <a:rPr sz="1725" b="0">
                          <a:solidFill>
                            <a:srgbClr val="142633"/>
                          </a:solidFill>
                          <a:latin typeface="Malgun Gothic"/>
                          <a:ea typeface="Malgun Gothic"/>
                          <a:cs typeface="Malgun Gothic"/>
                        </a:rPr>
                        <a:t>진행 상태 저장, 튜토리얼 단계</a:t>
                      </a:r>
                    </a:p>
                  </a:txBody>
                  <a:tcPr marL="91440" marR="91440" marT="45720" marB="45720">
                    <a:lnR w="9525">
                      <a:solidFill>
                        <a:srgbClr val="CFD5D5"/>
                      </a:solidFill>
                    </a:lnR>
                    <a:lnB w="9525">
                      <a:solidFill>
                        <a:srgbClr val="CFD5D5"/>
                      </a:solidFill>
                    </a:lnB>
                    <a:solidFill>
                      <a:srgbClr val="F5F4EF"/>
                    </a:solidFill>
                  </a:tcPr>
                </a:tc>
                <a:tc>
                  <a:txBody>
                    <a:bodyPr lIns="114300" tIns="114300" rIns="114300" bIns="114300"/>
                    <a:lstStyle/>
                    <a:p>
                      <a:r>
                        <a:rPr sz="1725" b="0">
                          <a:solidFill>
                            <a:srgbClr val="142633"/>
                          </a:solidFill>
                          <a:latin typeface="Malgun Gothic"/>
                          <a:ea typeface="Malgun Gothic"/>
                          <a:cs typeface="Malgun Gothic"/>
                        </a:rPr>
                        <a:t>저장, 불러오기, 다음 과제</a:t>
                      </a:r>
                    </a:p>
                  </a:txBody>
                  <a:tcPr marL="91440" marR="91440" marT="45720" marB="45720">
                    <a:lnR w="9525">
                      <a:solidFill>
                        <a:srgbClr val="CFD5D5"/>
                      </a:solidFill>
                    </a:lnR>
                    <a:lnB w="9525">
                      <a:solidFill>
                        <a:srgbClr val="CFD5D5"/>
                      </a:solidFill>
                    </a:lnB>
                    <a:solidFill>
                      <a:srgbClr val="F5F4EF"/>
                    </a:solidFill>
                  </a:tcPr>
                </a:tc>
              </a:tr>
            </a:tbl>
          </a:graphicData>
        </a:graphic>
      </p:graphicFrame>
      <p:sp>
        <p:nvSpPr>
          <p:cNvPr id="4" name="page">
            <a:extLst xmlns:a="http://schemas.openxmlformats.org/drawingml/2006/main">
              <a:ext uri="{FF2B5EF4-FFF2-40B4-BE49-F238E27FC236}">
                <a16:creationId xmlns:a16="http://schemas.microsoft.com/office/drawing/2014/main" id="{A33DDD41-2980-401A-862E-2BD1C3F7A5BE}"/>
              </a:ext>
            </a:extLst>
          </p:cNvPr>
          <p:cNvSpPr>
            <a:spLocks xmlns:a="http://schemas.openxmlformats.org/drawingml/2006/main" noGrp="1"/>
          </p:cNvSpPr>
          <p:nvPr/>
        </p:nvSpPr>
        <p:spPr>
          <a:xfrm xmlns:a="http://schemas.openxmlformats.org/drawingml/2006/main">
            <a:off x="11087100" y="6353175"/>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425966"/>
                </a:solidFill>
                <a:latin typeface="Malgun Gothic"/>
                <a:ea typeface="Malgun Gothic"/>
                <a:cs typeface="Malgun Gothic"/>
              </a:defRPr>
            </a:defPPr>
          </a:lstStyle>
          <a:p xmlns:a="http://schemas.openxmlformats.org/drawingml/2006/main">
            <a:pPr>
              <a:buNone/>
              <a:defRPr sz="1500" b="0">
                <a:solidFill>
                  <a:srgbClr val="425966"/>
                </a:solidFill>
                <a:latin typeface="Malgun Gothic"/>
                <a:ea typeface="Malgun Gothic"/>
                <a:cs typeface="Malgun Gothic"/>
              </a:defRPr>
            </a:pPr>
            <a:r>
              <a:rPr sz="1500" b="0">
                <a:solidFill>
                  <a:srgbClr val="425966"/>
                </a:solidFill>
                <a:latin typeface="Malgun Gothic"/>
                <a:ea typeface="Malgun Gothic"/>
                <a:cs typeface="Malgun Gothic"/>
              </a:rPr>
              <a:t>04</a:t>
            </a:r>
          </a:p>
        </p:txBody>
      </p:sp>
    </p:spTree>
    <p:extLst>
      <p:ext uri="{BB962C8B-B14F-4D97-AF65-F5344CB8AC3E}">
        <p14:creationId xmlns:p14="http://schemas.microsoft.com/office/powerpoint/2010/main" val="1006404364"/>
      </p:ext>
    </p:extLst>
  </p:cSld>
</p:sld>
</file>

<file path=ppt/slides/slide5.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519B21C-061D-4ACA-96EA-C2F79C20D9B5}"/>
              </a:ext>
            </a:extLst>
          </p:cNvPr>
          <p:cNvSpPr>
            <a:spLocks xmlns:a="http://schemas.openxmlformats.org/drawingml/2006/main" noGrp="1"/>
          </p:cNvSpPr>
          <p:nvPr/>
        </p:nvSpPr>
        <p:spPr>
          <a:xfrm xmlns:a="http://schemas.openxmlformats.org/drawingml/2006/main">
            <a:off x="609600" y="5715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633"/>
                </a:solidFill>
                <a:latin typeface="Malgun Gothic"/>
                <a:ea typeface="Malgun Gothic"/>
                <a:cs typeface="Malgun Gothic"/>
              </a:defRPr>
            </a:defPPr>
          </a:lstStyle>
          <a:p xmlns:a="http://schemas.openxmlformats.org/drawingml/2006/main">
            <a:pPr>
              <a:buNone/>
              <a:defRPr sz="3300" b="1">
                <a:solidFill>
                  <a:srgbClr val="142633"/>
                </a:solidFill>
                <a:latin typeface="Malgun Gothic"/>
                <a:ea typeface="Malgun Gothic"/>
                <a:cs typeface="Malgun Gothic"/>
              </a:defRPr>
            </a:pPr>
            <a:r>
              <a:rPr sz="3300" b="1">
                <a:solidFill>
                  <a:srgbClr val="142633"/>
                </a:solidFill>
                <a:latin typeface="Malgun Gothic"/>
                <a:ea typeface="Malgun Gothic"/>
                <a:cs typeface="Malgun Gothic"/>
              </a:rPr>
              <a:t>현재 프로젝트의 범위</a:t>
            </a:r>
          </a:p>
        </p:txBody>
      </p:sp>
      <p:sp>
        <p:nvSpPr>
          <p:cNvPr id="2" name="lead">
            <a:extLst xmlns:a="http://schemas.openxmlformats.org/drawingml/2006/main">
              <a:ext uri="{FF2B5EF4-FFF2-40B4-BE49-F238E27FC236}">
                <a16:creationId xmlns:a16="http://schemas.microsoft.com/office/drawing/2014/main" id="{C5F13D01-A93B-4F94-937F-6CCF2786757D}"/>
              </a:ext>
            </a:extLst>
          </p:cNvPr>
          <p:cNvSpPr>
            <a:spLocks xmlns:a="http://schemas.openxmlformats.org/drawingml/2006/main" noGrp="1"/>
          </p:cNvSpPr>
          <p:nvPr/>
        </p:nvSpPr>
        <p:spPr>
          <a:xfrm xmlns:a="http://schemas.openxmlformats.org/drawingml/2006/main">
            <a:off x="609600" y="14573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B95B12"/>
                </a:solidFill>
                <a:latin typeface="Malgun Gothic"/>
                <a:ea typeface="Malgun Gothic"/>
                <a:cs typeface="Malgun Gothic"/>
              </a:defRPr>
            </a:defPPr>
          </a:lstStyle>
          <a:p xmlns:a="http://schemas.openxmlformats.org/drawingml/2006/main">
            <a:pPr>
              <a:buNone/>
              <a:defRPr sz="2100" b="0">
                <a:solidFill>
                  <a:srgbClr val="B95B12"/>
                </a:solidFill>
                <a:latin typeface="Malgun Gothic"/>
                <a:ea typeface="Malgun Gothic"/>
                <a:cs typeface="Malgun Gothic"/>
              </a:defRPr>
            </a:pPr>
            <a:r>
              <a:rPr sz="2100" b="0">
                <a:solidFill>
                  <a:srgbClr val="B95B12"/>
                </a:solidFill>
                <a:latin typeface="Malgun Gothic"/>
                <a:ea typeface="Malgun Gothic"/>
                <a:cs typeface="Malgun Gothic"/>
              </a:rPr>
              <a:t>생산부터 다중 혜성 운영까지 연결한 플레이어블</a:t>
            </a:r>
          </a:p>
        </p:txBody>
      </p:sp>
      <p:graphicFrame>
        <p:nvGraphicFramePr>
          <p:cNvPr id="3" name="">
            <a:extLst xmlns:a="http://schemas.openxmlformats.org/drawingml/2006/main">
              <a:ext uri="{FF2B5EF4-FFF2-40B4-BE49-F238E27FC236}">
                <a16:creationId xmlns:a16="http://schemas.microsoft.com/office/drawing/2014/main" id="{635DB3D3-7BA6-4119-AC14-BF1FF19ABB88}"/>
              </a:ext>
            </a:extLst>
          </p:cNvPr>
          <p:cNvGraphicFramePr/>
          <p:nvPr/>
        </p:nvGraphicFramePr>
        <p:xfrm>
          <a:off xmlns:a="http://schemas.openxmlformats.org/drawingml/2006/main" x="609600" y="2333625"/>
          <a:ext xmlns:a="http://schemas.openxmlformats.org/drawingml/2006/main" cx="10972800" cy="2762250"/>
        </p:xfrm>
        <a:graphic xmlns:a="http://schemas.openxmlformats.org/drawingml/2006/main">
          <a:graphicData uri="http://schemas.openxmlformats.org/drawingml/2006/table">
            <a:tbl>
              <a:tblPr/>
              <a:tblGrid>
                <a:gridCol w="2385391"/>
                <a:gridCol w="8587409"/>
              </a:tblGrid>
              <a:tr h="552450">
                <a:tc>
                  <a:txBody>
                    <a:bodyPr lIns="114300" tIns="114300" rIns="114300" bIns="114300"/>
                    <a:lstStyle/>
                    <a:p>
                      <a:r>
                        <a:rPr sz="1725" b="1">
                          <a:solidFill>
                            <a:srgbClr val="B95B12"/>
                          </a:solidFill>
                          <a:latin typeface="Malgun Gothic"/>
                          <a:ea typeface="Malgun Gothic"/>
                          <a:cs typeface="Malgun Gothic"/>
                        </a:rPr>
                        <a:t>영역</a:t>
                      </a:r>
                    </a:p>
                  </a:txBody>
                  <a:tcPr marL="91440" marR="91440" marT="45720" marB="45720">
                    <a:lnL w="9525">
                      <a:solidFill>
                        <a:srgbClr val="CFD5D5"/>
                      </a:solidFill>
                      <a:prstDash val="solid"/>
                    </a:lnL>
                    <a:lnR w="9525">
                      <a:solidFill>
                        <a:srgbClr val="CFD5D5"/>
                      </a:solidFill>
                      <a:prstDash val="solid"/>
                    </a:lnR>
                    <a:lnT w="9525">
                      <a:solidFill>
                        <a:srgbClr val="CFD5D5"/>
                      </a:solidFill>
                      <a:prstDash val="solid"/>
                    </a:lnT>
                    <a:lnB w="9525">
                      <a:solidFill>
                        <a:srgbClr val="CFD5D5"/>
                      </a:solidFill>
                      <a:prstDash val="solid"/>
                    </a:lnB>
                    <a:solidFill>
                      <a:srgbClr val="E2E6E3"/>
                    </a:solidFill>
                  </a:tcPr>
                </a:tc>
                <a:tc>
                  <a:txBody>
                    <a:bodyPr lIns="114300" tIns="114300" rIns="114300" bIns="114300"/>
                    <a:lstStyle/>
                    <a:p>
                      <a:r>
                        <a:rPr sz="1725" b="1">
                          <a:solidFill>
                            <a:srgbClr val="B95B12"/>
                          </a:solidFill>
                          <a:latin typeface="Malgun Gothic"/>
                          <a:ea typeface="Malgun Gothic"/>
                          <a:cs typeface="Malgun Gothic"/>
                        </a:rPr>
                        <a:t>확인한 구현</a:t>
                      </a:r>
                    </a:p>
                  </a:txBody>
                  <a:tcPr marL="91440" marR="91440" marT="45720" marB="45720">
                    <a:lnR w="9525">
                      <a:solidFill>
                        <a:srgbClr val="CFD5D5"/>
                      </a:solidFill>
                      <a:prstDash val="solid"/>
                    </a:lnR>
                    <a:lnT w="9525">
                      <a:solidFill>
                        <a:srgbClr val="CFD5D5"/>
                      </a:solidFill>
                      <a:prstDash val="solid"/>
                    </a:lnT>
                    <a:lnB w="9525">
                      <a:solidFill>
                        <a:srgbClr val="CFD5D5"/>
                      </a:solidFill>
                      <a:prstDash val="solid"/>
                    </a:lnB>
                    <a:solidFill>
                      <a:srgbClr val="E2E6E3"/>
                    </a:solidFill>
                  </a:tcPr>
                </a:tc>
              </a:tr>
              <a:tr h="552450">
                <a:tc>
                  <a:txBody>
                    <a:bodyPr lIns="114300" tIns="114300" rIns="114300" bIns="114300"/>
                    <a:lstStyle/>
                    <a:p>
                      <a:r>
                        <a:rPr sz="1725" b="0">
                          <a:solidFill>
                            <a:srgbClr val="142633"/>
                          </a:solidFill>
                          <a:latin typeface="Malgun Gothic"/>
                          <a:ea typeface="Malgun Gothic"/>
                          <a:cs typeface="Malgun Gothic"/>
                        </a:rPr>
                        <a:t>생산</a:t>
                      </a:r>
                    </a:p>
                  </a:txBody>
                  <a:tcPr marL="91440" marR="91440" marT="45720" marB="45720">
                    <a:lnL w="9525">
                      <a:solidFill>
                        <a:srgbClr val="CFD5D5"/>
                      </a:solidFill>
                      <a:prstDash val="solid"/>
                    </a:lnL>
                    <a:lnR w="9525">
                      <a:solidFill>
                        <a:srgbClr val="CFD5D5"/>
                      </a:solidFill>
                      <a:prstDash val="solid"/>
                    </a:lnR>
                    <a:lnB w="9525">
                      <a:solidFill>
                        <a:srgbClr val="CFD5D5"/>
                      </a:solidFill>
                      <a:prstDash val="solid"/>
                    </a:lnB>
                    <a:solidFill>
                      <a:srgbClr val="F5F4EF"/>
                    </a:solidFill>
                  </a:tcPr>
                </a:tc>
                <a:tc>
                  <a:txBody>
                    <a:bodyPr lIns="114300" tIns="114300" rIns="114300" bIns="114300"/>
                    <a:lstStyle/>
                    <a:p>
                      <a:r>
                        <a:rPr sz="1725" b="0">
                          <a:solidFill>
                            <a:srgbClr val="142633"/>
                          </a:solidFill>
                          <a:latin typeface="Malgun Gothic"/>
                          <a:ea typeface="Malgun Gothic"/>
                          <a:cs typeface="Malgun Gothic"/>
                        </a:rPr>
                        <a:t>16종 자원, 16종 레시피, 시설별 생산품 설정</a:t>
                      </a:r>
                    </a:p>
                  </a:txBody>
                  <a:tcPr marL="91440" marR="91440" marT="45720" marB="45720">
                    <a:lnR w="9525">
                      <a:solidFill>
                        <a:srgbClr val="CFD5D5"/>
                      </a:solidFill>
                      <a:prstDash val="solid"/>
                    </a:lnR>
                    <a:lnB w="9525">
                      <a:solidFill>
                        <a:srgbClr val="CFD5D5"/>
                      </a:solidFill>
                      <a:prstDash val="solid"/>
                    </a:lnB>
                    <a:solidFill>
                      <a:srgbClr val="F5F4EF"/>
                    </a:solidFill>
                  </a:tcPr>
                </a:tc>
              </a:tr>
              <a:tr h="552450">
                <a:tc>
                  <a:txBody>
                    <a:bodyPr lIns="114300" tIns="114300" rIns="114300" bIns="114300"/>
                    <a:lstStyle/>
                    <a:p>
                      <a:r>
                        <a:rPr sz="1725" b="0">
                          <a:solidFill>
                            <a:srgbClr val="142633"/>
                          </a:solidFill>
                          <a:latin typeface="Malgun Gothic"/>
                          <a:ea typeface="Malgun Gothic"/>
                          <a:cs typeface="Malgun Gothic"/>
                        </a:rPr>
                        <a:t>운영</a:t>
                      </a:r>
                    </a:p>
                  </a:txBody>
                  <a:tcPr marL="91440" marR="91440" marT="45720" marB="45720">
                    <a:lnL w="9525">
                      <a:solidFill>
                        <a:srgbClr val="CFD5D5"/>
                      </a:solidFill>
                      <a:prstDash val="solid"/>
                    </a:lnL>
                    <a:lnR w="9525">
                      <a:solidFill>
                        <a:srgbClr val="CFD5D5"/>
                      </a:solidFill>
                      <a:prstDash val="solid"/>
                    </a:lnR>
                    <a:lnB w="9525">
                      <a:solidFill>
                        <a:srgbClr val="CFD5D5"/>
                      </a:solidFill>
                      <a:prstDash val="solid"/>
                    </a:lnB>
                    <a:solidFill>
                      <a:srgbClr val="F5F4EF"/>
                    </a:solidFill>
                  </a:tcPr>
                </a:tc>
                <a:tc>
                  <a:txBody>
                    <a:bodyPr lIns="114300" tIns="114300" rIns="114300" bIns="114300"/>
                    <a:lstStyle/>
                    <a:p>
                      <a:r>
                        <a:rPr sz="1725" b="0">
                          <a:solidFill>
                            <a:srgbClr val="142633"/>
                          </a:solidFill>
                          <a:latin typeface="Malgun Gothic"/>
                          <a:ea typeface="Malgun Gothic"/>
                          <a:cs typeface="Malgun Gothic"/>
                        </a:rPr>
                        <a:t>전력, 시설 재고, 자동 드론 운반, 수동 거래</a:t>
                      </a:r>
                    </a:p>
                  </a:txBody>
                  <a:tcPr marL="91440" marR="91440" marT="45720" marB="45720">
                    <a:lnR w="9525">
                      <a:solidFill>
                        <a:srgbClr val="CFD5D5"/>
                      </a:solidFill>
                      <a:prstDash val="solid"/>
                    </a:lnR>
                    <a:lnB w="9525">
                      <a:solidFill>
                        <a:srgbClr val="CFD5D5"/>
                      </a:solidFill>
                      <a:prstDash val="solid"/>
                    </a:lnB>
                    <a:solidFill>
                      <a:srgbClr val="F5F4EF"/>
                    </a:solidFill>
                  </a:tcPr>
                </a:tc>
              </a:tr>
              <a:tr h="552450">
                <a:tc>
                  <a:txBody>
                    <a:bodyPr lIns="114300" tIns="114300" rIns="114300" bIns="114300"/>
                    <a:lstStyle/>
                    <a:p>
                      <a:r>
                        <a:rPr sz="1725" b="0">
                          <a:solidFill>
                            <a:srgbClr val="142633"/>
                          </a:solidFill>
                          <a:latin typeface="Malgun Gothic"/>
                          <a:ea typeface="Malgun Gothic"/>
                          <a:cs typeface="Malgun Gothic"/>
                        </a:rPr>
                        <a:t>확장</a:t>
                      </a:r>
                    </a:p>
                  </a:txBody>
                  <a:tcPr marL="91440" marR="91440" marT="45720" marB="45720">
                    <a:lnL w="9525">
                      <a:solidFill>
                        <a:srgbClr val="CFD5D5"/>
                      </a:solidFill>
                      <a:prstDash val="solid"/>
                    </a:lnL>
                    <a:lnR w="9525">
                      <a:solidFill>
                        <a:srgbClr val="CFD5D5"/>
                      </a:solidFill>
                      <a:prstDash val="solid"/>
                    </a:lnR>
                    <a:lnB w="9525">
                      <a:solidFill>
                        <a:srgbClr val="CFD5D5"/>
                      </a:solidFill>
                      <a:prstDash val="solid"/>
                    </a:lnB>
                    <a:solidFill>
                      <a:srgbClr val="F5F4EF"/>
                    </a:solidFill>
                  </a:tcPr>
                </a:tc>
                <a:tc>
                  <a:txBody>
                    <a:bodyPr lIns="114300" tIns="114300" rIns="114300" bIns="114300"/>
                    <a:lstStyle/>
                    <a:p>
                      <a:r>
                        <a:rPr sz="1725" b="0">
                          <a:solidFill>
                            <a:srgbClr val="142633"/>
                          </a:solidFill>
                          <a:latin typeface="Malgun Gothic"/>
                          <a:ea typeface="Malgun Gothic"/>
                          <a:cs typeface="Malgun Gothic"/>
                        </a:rPr>
                        <a:t>탐사 후보 3개, 개척, 100스택 수송선</a:t>
                      </a:r>
                    </a:p>
                  </a:txBody>
                  <a:tcPr marL="91440" marR="91440" marT="45720" marB="45720">
                    <a:lnR w="9525">
                      <a:solidFill>
                        <a:srgbClr val="CFD5D5"/>
                      </a:solidFill>
                      <a:prstDash val="solid"/>
                    </a:lnR>
                    <a:lnB w="9525">
                      <a:solidFill>
                        <a:srgbClr val="CFD5D5"/>
                      </a:solidFill>
                      <a:prstDash val="solid"/>
                    </a:lnB>
                    <a:solidFill>
                      <a:srgbClr val="F5F4EF"/>
                    </a:solidFill>
                  </a:tcPr>
                </a:tc>
              </a:tr>
              <a:tr h="552450">
                <a:tc>
                  <a:txBody>
                    <a:bodyPr lIns="114300" tIns="114300" rIns="114300" bIns="114300"/>
                    <a:lstStyle/>
                    <a:p>
                      <a:r>
                        <a:rPr sz="1725" b="0">
                          <a:solidFill>
                            <a:srgbClr val="142633"/>
                          </a:solidFill>
                          <a:latin typeface="Malgun Gothic"/>
                          <a:ea typeface="Malgun Gothic"/>
                          <a:cs typeface="Malgun Gothic"/>
                        </a:rPr>
                        <a:t>지속성</a:t>
                      </a:r>
                    </a:p>
                  </a:txBody>
                  <a:tcPr marL="91440" marR="91440" marT="45720" marB="45720">
                    <a:lnL w="9525">
                      <a:solidFill>
                        <a:srgbClr val="CFD5D5"/>
                      </a:solidFill>
                      <a:prstDash val="solid"/>
                    </a:lnL>
                    <a:lnR w="9525">
                      <a:solidFill>
                        <a:srgbClr val="CFD5D5"/>
                      </a:solidFill>
                      <a:prstDash val="solid"/>
                    </a:lnR>
                    <a:lnB w="9525">
                      <a:solidFill>
                        <a:srgbClr val="CFD5D5"/>
                      </a:solidFill>
                      <a:prstDash val="solid"/>
                    </a:lnB>
                    <a:solidFill>
                      <a:srgbClr val="F5F4EF"/>
                    </a:solidFill>
                  </a:tcPr>
                </a:tc>
                <a:tc>
                  <a:txBody>
                    <a:bodyPr lIns="114300" tIns="114300" rIns="114300" bIns="114300"/>
                    <a:lstStyle/>
                    <a:p>
                      <a:r>
                        <a:rPr sz="1725" b="0">
                          <a:solidFill>
                            <a:srgbClr val="142633"/>
                          </a:solidFill>
                          <a:latin typeface="Malgun Gothic"/>
                          <a:ea typeface="Malgun Gothic"/>
                          <a:cs typeface="Malgun Gothic"/>
                        </a:rPr>
                        <a:t>로컬 저장·복원, 튜토리얼, 납품 미션</a:t>
                      </a:r>
                    </a:p>
                  </a:txBody>
                  <a:tcPr marL="91440" marR="91440" marT="45720" marB="45720">
                    <a:lnR w="9525">
                      <a:solidFill>
                        <a:srgbClr val="CFD5D5"/>
                      </a:solidFill>
                      <a:prstDash val="solid"/>
                    </a:lnR>
                    <a:lnB w="9525">
                      <a:solidFill>
                        <a:srgbClr val="CFD5D5"/>
                      </a:solidFill>
                      <a:prstDash val="solid"/>
                    </a:lnB>
                    <a:solidFill>
                      <a:srgbClr val="F5F4EF"/>
                    </a:solidFill>
                  </a:tcPr>
                </a:tc>
              </a:tr>
            </a:tbl>
          </a:graphicData>
        </a:graphic>
      </p:graphicFrame>
      <p:sp>
        <p:nvSpPr>
          <p:cNvPr id="4" name="body">
            <a:extLst xmlns:a="http://schemas.openxmlformats.org/drawingml/2006/main">
              <a:ext uri="{FF2B5EF4-FFF2-40B4-BE49-F238E27FC236}">
                <a16:creationId xmlns:a16="http://schemas.microsoft.com/office/drawing/2014/main" id="{CA830EF1-C3F1-4B51-BB99-78E0C2A7F9AA}"/>
              </a:ext>
            </a:extLst>
          </p:cNvPr>
          <p:cNvSpPr>
            <a:spLocks xmlns:a="http://schemas.openxmlformats.org/drawingml/2006/main" noGrp="1"/>
          </p:cNvSpPr>
          <p:nvPr/>
        </p:nvSpPr>
        <p:spPr>
          <a:xfrm xmlns:a="http://schemas.openxmlformats.org/drawingml/2006/main">
            <a:off x="11087100" y="6353175"/>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425966"/>
                </a:solidFill>
                <a:latin typeface="Malgun Gothic"/>
                <a:ea typeface="Malgun Gothic"/>
                <a:cs typeface="Malgun Gothic"/>
              </a:defRPr>
            </a:defPPr>
          </a:lstStyle>
          <a:p xmlns:a="http://schemas.openxmlformats.org/drawingml/2006/main">
            <a:pPr>
              <a:buNone/>
              <a:defRPr sz="1500" b="0">
                <a:solidFill>
                  <a:srgbClr val="425966"/>
                </a:solidFill>
                <a:latin typeface="Malgun Gothic"/>
                <a:ea typeface="Malgun Gothic"/>
                <a:cs typeface="Malgun Gothic"/>
              </a:defRPr>
            </a:pPr>
            <a:r>
              <a:rPr sz="1500" b="0">
                <a:solidFill>
                  <a:srgbClr val="425966"/>
                </a:solidFill>
                <a:latin typeface="Malgun Gothic"/>
                <a:ea typeface="Malgun Gothic"/>
                <a:cs typeface="Malgun Gothic"/>
              </a:rPr>
              <a:t>05</a:t>
            </a:r>
          </a:p>
        </p:txBody>
      </p:sp>
    </p:spTree>
    <p:extLst>
      <p:ext uri="{BB962C8B-B14F-4D97-AF65-F5344CB8AC3E}">
        <p14:creationId xmlns:p14="http://schemas.microsoft.com/office/powerpoint/2010/main" val="1146036013"/>
      </p:ext>
    </p:extLst>
  </p:cSld>
</p:sld>
</file>

<file path=ppt/slides/slide6.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3C9E8343-6E3E-4E39-97D1-9311468B0CEE}"/>
              </a:ext>
            </a:extLst>
          </p:cNvPr>
          <p:cNvSpPr>
            <a:spLocks xmlns:a="http://schemas.openxmlformats.org/drawingml/2006/main" noGrp="1"/>
          </p:cNvSpPr>
          <p:nvPr/>
        </p:nvSpPr>
        <p:spPr>
          <a:xfrm xmlns:a="http://schemas.openxmlformats.org/drawingml/2006/main">
            <a:off x="609600" y="5715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42633"/>
                </a:solidFill>
                <a:latin typeface="Malgun Gothic"/>
                <a:ea typeface="Malgun Gothic"/>
                <a:cs typeface="Malgun Gothic"/>
              </a:defRPr>
            </a:defPPr>
          </a:lstStyle>
          <a:p xmlns:a="http://schemas.openxmlformats.org/drawingml/2006/main">
            <a:pPr>
              <a:defRPr sz="3300" b="1">
                <a:solidFill>
                  <a:srgbClr val="142633"/>
                </a:solidFill>
                <a:latin typeface="Malgun Gothic"/>
                <a:ea typeface="Malgun Gothic"/>
                <a:cs typeface="Malgun Gothic"/>
              </a:defRPr>
            </a:pPr>
            <a:r>
              <a:rPr sz="3300" b="1">
                <a:solidFill>
                  <a:srgbClr val="142633"/>
                </a:solidFill>
                <a:latin typeface="Malgun Gothic"/>
                <a:ea typeface="Malgun Gothic"/>
                <a:cs typeface="Malgun Gothic"/>
              </a:rPr>
              <a:t>메인 플레이 화면</a:t>
            </a:r>
          </a:p>
        </p:txBody>
      </p:sp>
      <p:sp>
        <p:nvSpPr>
          <p:cNvPr id="2" name="lead">
            <a:extLst xmlns:a="http://schemas.openxmlformats.org/drawingml/2006/main">
              <a:ext uri="{FF2B5EF4-FFF2-40B4-BE49-F238E27FC236}">
                <a16:creationId xmlns:a16="http://schemas.microsoft.com/office/drawing/2014/main" id="{03F29BF8-B35B-47F9-85AA-DDC9CBA0CC85}"/>
              </a:ext>
            </a:extLst>
          </p:cNvPr>
          <p:cNvSpPr>
            <a:spLocks xmlns:a="http://schemas.openxmlformats.org/drawingml/2006/main" noGrp="1"/>
          </p:cNvSpPr>
          <p:nvPr/>
        </p:nvSpPr>
        <p:spPr>
          <a:xfrm xmlns:a="http://schemas.openxmlformats.org/drawingml/2006/main">
            <a:off x="609600" y="145732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B95B12"/>
                </a:solidFill>
                <a:latin typeface="Malgun Gothic"/>
                <a:ea typeface="Malgun Gothic"/>
                <a:cs typeface="Malgun Gothic"/>
              </a:defRPr>
            </a:defPPr>
          </a:lstStyle>
          <a:p xmlns:a="http://schemas.openxmlformats.org/drawingml/2006/main">
            <a:pPr>
              <a:defRPr sz="2100" b="0">
                <a:solidFill>
                  <a:srgbClr val="B95B12"/>
                </a:solidFill>
                <a:latin typeface="Malgun Gothic"/>
                <a:ea typeface="Malgun Gothic"/>
                <a:cs typeface="Malgun Gothic"/>
              </a:defRPr>
            </a:pPr>
            <a:r>
              <a:rPr sz="2100" b="0">
                <a:solidFill>
                  <a:srgbClr val="B95B12"/>
                </a:solidFill>
                <a:latin typeface="Malgun Gothic"/>
                <a:ea typeface="Malgun Gothic"/>
                <a:cs typeface="Malgun Gothic"/>
              </a:rPr>
              <a:t>건설·생산·재고·미션을 한 화면에서 운영</a:t>
            </a:r>
          </a:p>
        </p:txBody>
      </p:sp>
      <p:pic>
        <p:nvPicPr>
          <p:cNvPr id="3" name="">
            <a:extLst xmlns:a="http://schemas.openxmlformats.org/drawingml/2006/main">
              <a:ext uri="{FF2B5EF4-FFF2-40B4-BE49-F238E27FC236}">
                <a16:creationId xmlns:a16="http://schemas.microsoft.com/office/drawing/2014/main" id="{AA358009-6C1D-4FE2-98D6-8819AC2CF12C}"/>
              </a:ext>
            </a:extLst>
          </p:cNvPr>
          <p:cNvPicPr>
            <a:picLocks xmlns:a="http://schemas.openxmlformats.org/drawingml/2006/main" noChangeAspect="1"/>
          </p:cNvPicPr>
          <p:nvPr/>
        </p:nvPicPr>
        <p:blipFill>
          <a:blip xmlns:r="http://schemas.openxmlformats.org/officeDocument/2006/relationships" xmlns:a="http://schemas.openxmlformats.org/drawingml/2006/main" r:embed="R6d6b7d44ddf44cdf"/>
          <a:stretch xmlns:a="http://schemas.openxmlformats.org/drawingml/2006/main"/>
        </p:blipFill>
        <p:spPr>
          <a:xfrm xmlns:a="http://schemas.openxmlformats.org/drawingml/2006/main">
            <a:off x="1037163" y="2028825"/>
            <a:ext cx="7193498" cy="4038600"/>
          </a:xfrm>
          <a:prstGeom xmlns:a="http://schemas.openxmlformats.org/drawingml/2006/main" prst="rect">
            <a:avLst/>
          </a:prstGeom>
        </p:spPr>
      </p:pic>
      <p:sp>
        <p:nvSpPr>
          <p:cNvPr id="4" name="body">
            <a:extLst xmlns:a="http://schemas.openxmlformats.org/drawingml/2006/main">
              <a:ext uri="{FF2B5EF4-FFF2-40B4-BE49-F238E27FC236}">
                <a16:creationId xmlns:a16="http://schemas.microsoft.com/office/drawing/2014/main" id="{AB2B7748-5AE8-44DD-810B-1E7A08ACE0BE}"/>
              </a:ext>
            </a:extLst>
          </p:cNvPr>
          <p:cNvSpPr>
            <a:spLocks xmlns:a="http://schemas.openxmlformats.org/drawingml/2006/main" noGrp="1"/>
          </p:cNvSpPr>
          <p:nvPr/>
        </p:nvSpPr>
        <p:spPr>
          <a:xfrm xmlns:a="http://schemas.openxmlformats.org/drawingml/2006/main">
            <a:off x="9048750" y="2190750"/>
            <a:ext cx="2533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142633"/>
                </a:solidFill>
                <a:latin typeface="Malgun Gothic"/>
                <a:ea typeface="Malgun Gothic"/>
                <a:cs typeface="Malgun Gothic"/>
              </a:defRPr>
            </a:defPPr>
          </a:lstStyle>
          <a:p xmlns:a="http://schemas.openxmlformats.org/drawingml/2006/main">
            <a:pPr>
              <a:defRPr sz="1950" b="1">
                <a:solidFill>
                  <a:srgbClr val="142633"/>
                </a:solidFill>
                <a:latin typeface="Malgun Gothic"/>
                <a:ea typeface="Malgun Gothic"/>
                <a:cs typeface="Malgun Gothic"/>
              </a:defRPr>
            </a:pPr>
            <a:r>
              <a:rPr sz="1950" b="1">
                <a:solidFill>
                  <a:srgbClr val="142633"/>
                </a:solidFill>
                <a:latin typeface="Malgun Gothic"/>
                <a:ea typeface="Malgun Gothic"/>
                <a:cs typeface="Malgun Gothic"/>
              </a:rPr>
              <a:t>건설 계획</a:t>
            </a:r>
          </a:p>
        </p:txBody>
      </p:sp>
      <p:sp>
        <p:nvSpPr>
          <p:cNvPr id="5" name="body">
            <a:extLst xmlns:a="http://schemas.openxmlformats.org/drawingml/2006/main">
              <a:ext uri="{FF2B5EF4-FFF2-40B4-BE49-F238E27FC236}">
                <a16:creationId xmlns:a16="http://schemas.microsoft.com/office/drawing/2014/main" id="{576F6AC4-462E-4622-83CA-097AAD1D3142}"/>
              </a:ext>
            </a:extLst>
          </p:cNvPr>
          <p:cNvSpPr>
            <a:spLocks xmlns:a="http://schemas.openxmlformats.org/drawingml/2006/main" noGrp="1"/>
          </p:cNvSpPr>
          <p:nvPr/>
        </p:nvSpPr>
        <p:spPr>
          <a:xfrm xmlns:a="http://schemas.openxmlformats.org/drawingml/2006/main">
            <a:off x="9048750" y="2600325"/>
            <a:ext cx="25336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425966"/>
                </a:solidFill>
                <a:latin typeface="Malgun Gothic"/>
                <a:ea typeface="Malgun Gothic"/>
                <a:cs typeface="Malgun Gothic"/>
              </a:defRPr>
            </a:defPPr>
          </a:lstStyle>
          <a:p xmlns:a="http://schemas.openxmlformats.org/drawingml/2006/main">
            <a:pPr>
              <a:defRPr sz="1725" b="0">
                <a:solidFill>
                  <a:srgbClr val="425966"/>
                </a:solidFill>
                <a:latin typeface="Malgun Gothic"/>
                <a:ea typeface="Malgun Gothic"/>
                <a:cs typeface="Malgun Gothic"/>
              </a:defRPr>
            </a:pPr>
            <a:r>
              <a:rPr sz="1725" b="0">
                <a:solidFill>
                  <a:srgbClr val="425966"/>
                </a:solidFill>
                <a:latin typeface="Malgun Gothic"/>
                <a:ea typeface="Malgun Gothic"/>
                <a:cs typeface="Malgun Gothic"/>
              </a:rPr>
              <a:t>시설을 선택하고 빈 타일에 배치합니다. 시설 철거로 배치를 바꿉니다.</a:t>
            </a:r>
          </a:p>
        </p:txBody>
      </p:sp>
      <p:sp>
        <p:nvSpPr>
          <p:cNvPr id="6" name="body">
            <a:extLst xmlns:a="http://schemas.openxmlformats.org/drawingml/2006/main">
              <a:ext uri="{FF2B5EF4-FFF2-40B4-BE49-F238E27FC236}">
                <a16:creationId xmlns:a16="http://schemas.microsoft.com/office/drawing/2014/main" id="{BC47566C-4302-4672-9707-2434F27450AC}"/>
              </a:ext>
            </a:extLst>
          </p:cNvPr>
          <p:cNvSpPr>
            <a:spLocks xmlns:a="http://schemas.openxmlformats.org/drawingml/2006/main" noGrp="1"/>
          </p:cNvSpPr>
          <p:nvPr/>
        </p:nvSpPr>
        <p:spPr>
          <a:xfrm xmlns:a="http://schemas.openxmlformats.org/drawingml/2006/main">
            <a:off x="9048750" y="3486150"/>
            <a:ext cx="2533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142633"/>
                </a:solidFill>
                <a:latin typeface="Malgun Gothic"/>
                <a:ea typeface="Malgun Gothic"/>
                <a:cs typeface="Malgun Gothic"/>
              </a:defRPr>
            </a:defPPr>
          </a:lstStyle>
          <a:p xmlns:a="http://schemas.openxmlformats.org/drawingml/2006/main">
            <a:pPr>
              <a:defRPr sz="1950" b="1">
                <a:solidFill>
                  <a:srgbClr val="142633"/>
                </a:solidFill>
                <a:latin typeface="Malgun Gothic"/>
                <a:ea typeface="Malgun Gothic"/>
                <a:cs typeface="Malgun Gothic"/>
              </a:defRPr>
            </a:pPr>
            <a:r>
              <a:rPr sz="1950" b="1">
                <a:solidFill>
                  <a:srgbClr val="142633"/>
                </a:solidFill>
                <a:latin typeface="Malgun Gothic"/>
                <a:ea typeface="Malgun Gothic"/>
                <a:cs typeface="Malgun Gothic"/>
              </a:rPr>
              <a:t>혜성 개발 구역</a:t>
            </a:r>
          </a:p>
        </p:txBody>
      </p:sp>
      <p:sp>
        <p:nvSpPr>
          <p:cNvPr id="7" name="body">
            <a:extLst xmlns:a="http://schemas.openxmlformats.org/drawingml/2006/main">
              <a:ext uri="{FF2B5EF4-FFF2-40B4-BE49-F238E27FC236}">
                <a16:creationId xmlns:a16="http://schemas.microsoft.com/office/drawing/2014/main" id="{1D18C246-9E54-4192-AF28-E87782197284}"/>
              </a:ext>
            </a:extLst>
          </p:cNvPr>
          <p:cNvSpPr>
            <a:spLocks xmlns:a="http://schemas.openxmlformats.org/drawingml/2006/main" noGrp="1"/>
          </p:cNvSpPr>
          <p:nvPr/>
        </p:nvSpPr>
        <p:spPr>
          <a:xfrm xmlns:a="http://schemas.openxmlformats.org/drawingml/2006/main">
            <a:off x="9048750" y="3895725"/>
            <a:ext cx="25336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425966"/>
                </a:solidFill>
                <a:latin typeface="Malgun Gothic"/>
                <a:ea typeface="Malgun Gothic"/>
                <a:cs typeface="Malgun Gothic"/>
              </a:defRPr>
            </a:defPPr>
          </a:lstStyle>
          <a:p xmlns:a="http://schemas.openxmlformats.org/drawingml/2006/main">
            <a:pPr>
              <a:defRPr sz="1725" b="0">
                <a:solidFill>
                  <a:srgbClr val="425966"/>
                </a:solidFill>
                <a:latin typeface="Malgun Gothic"/>
                <a:ea typeface="Malgun Gothic"/>
                <a:cs typeface="Malgun Gothic"/>
              </a:defRPr>
            </a:pPr>
            <a:r>
              <a:rPr sz="1725" b="0">
                <a:solidFill>
                  <a:srgbClr val="425966"/>
                </a:solidFill>
                <a:latin typeface="Malgun Gothic"/>
                <a:ea typeface="Malgun Gothic"/>
                <a:cs typeface="Malgun Gothic"/>
              </a:rPr>
              <a:t>광맥과 생산시설을 보며 배치와 생산 상태를 확인합니다.</a:t>
            </a:r>
          </a:p>
        </p:txBody>
      </p:sp>
      <p:sp>
        <p:nvSpPr>
          <p:cNvPr id="8" name="body">
            <a:extLst xmlns:a="http://schemas.openxmlformats.org/drawingml/2006/main">
              <a:ext uri="{FF2B5EF4-FFF2-40B4-BE49-F238E27FC236}">
                <a16:creationId xmlns:a16="http://schemas.microsoft.com/office/drawing/2014/main" id="{C7CFC9ED-999C-447A-BBA2-ED259D13F88C}"/>
              </a:ext>
            </a:extLst>
          </p:cNvPr>
          <p:cNvSpPr>
            <a:spLocks xmlns:a="http://schemas.openxmlformats.org/drawingml/2006/main" noGrp="1"/>
          </p:cNvSpPr>
          <p:nvPr/>
        </p:nvSpPr>
        <p:spPr>
          <a:xfrm xmlns:a="http://schemas.openxmlformats.org/drawingml/2006/main">
            <a:off x="9048750" y="4781550"/>
            <a:ext cx="2533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142633"/>
                </a:solidFill>
                <a:latin typeface="Malgun Gothic"/>
                <a:ea typeface="Malgun Gothic"/>
                <a:cs typeface="Malgun Gothic"/>
              </a:defRPr>
            </a:defPPr>
          </a:lstStyle>
          <a:p xmlns:a="http://schemas.openxmlformats.org/drawingml/2006/main">
            <a:pPr>
              <a:defRPr sz="1950" b="1">
                <a:solidFill>
                  <a:srgbClr val="142633"/>
                </a:solidFill>
                <a:latin typeface="Malgun Gothic"/>
                <a:ea typeface="Malgun Gothic"/>
                <a:cs typeface="Malgun Gothic"/>
              </a:defRPr>
            </a:pPr>
            <a:r>
              <a:rPr sz="1950" b="1">
                <a:solidFill>
                  <a:srgbClr val="142633"/>
                </a:solidFill>
                <a:latin typeface="Malgun Gothic"/>
                <a:ea typeface="Malgun Gothic"/>
                <a:cs typeface="Malgun Gothic"/>
              </a:rPr>
              <a:t>개척 현황</a:t>
            </a:r>
          </a:p>
        </p:txBody>
      </p:sp>
      <p:sp>
        <p:nvSpPr>
          <p:cNvPr id="9" name="body">
            <a:extLst xmlns:a="http://schemas.openxmlformats.org/drawingml/2006/main">
              <a:ext uri="{FF2B5EF4-FFF2-40B4-BE49-F238E27FC236}">
                <a16:creationId xmlns:a16="http://schemas.microsoft.com/office/drawing/2014/main" id="{D3EDA8AB-C6A8-45F1-9F0F-ABD4960CC49D}"/>
              </a:ext>
            </a:extLst>
          </p:cNvPr>
          <p:cNvSpPr>
            <a:spLocks xmlns:a="http://schemas.openxmlformats.org/drawingml/2006/main" noGrp="1"/>
          </p:cNvSpPr>
          <p:nvPr/>
        </p:nvSpPr>
        <p:spPr>
          <a:xfrm xmlns:a="http://schemas.openxmlformats.org/drawingml/2006/main">
            <a:off x="9048750" y="5191125"/>
            <a:ext cx="25336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425966"/>
                </a:solidFill>
                <a:latin typeface="Malgun Gothic"/>
                <a:ea typeface="Malgun Gothic"/>
                <a:cs typeface="Malgun Gothic"/>
              </a:defRPr>
            </a:defPPr>
          </a:lstStyle>
          <a:p xmlns:a="http://schemas.openxmlformats.org/drawingml/2006/main">
            <a:pPr>
              <a:defRPr sz="1725" b="0">
                <a:solidFill>
                  <a:srgbClr val="425966"/>
                </a:solidFill>
                <a:latin typeface="Malgun Gothic"/>
                <a:ea typeface="Malgun Gothic"/>
                <a:cs typeface="Malgun Gothic"/>
              </a:defRPr>
            </a:pPr>
            <a:r>
              <a:rPr sz="1725" b="0">
                <a:solidFill>
                  <a:srgbClr val="425966"/>
                </a:solidFill>
                <a:latin typeface="Malgun Gothic"/>
                <a:ea typeface="Malgun Gothic"/>
                <a:cs typeface="Malgun Gothic"/>
              </a:rPr>
              <a:t>재고·미션을 확인하고 거래소·혜성관리로 이동합니다.</a:t>
            </a:r>
          </a:p>
        </p:txBody>
      </p:sp>
      <p:sp>
        <p:nvSpPr>
          <p:cNvPr id="10" name="UI-summary">
            <a:extLst xmlns:a="http://schemas.openxmlformats.org/drawingml/2006/main">
              <a:ext uri="{FF2B5EF4-FFF2-40B4-BE49-F238E27FC236}">
                <a16:creationId xmlns:a16="http://schemas.microsoft.com/office/drawing/2014/main" id="{BDD4009C-F090-4995-9B03-504D7AB5E7BE}"/>
              </a:ext>
            </a:extLst>
          </p:cNvPr>
          <p:cNvSpPr>
            <a:spLocks xmlns:a="http://schemas.openxmlformats.org/drawingml/2006/main" noGrp="1"/>
          </p:cNvSpPr>
          <p:nvPr/>
        </p:nvSpPr>
        <p:spPr>
          <a:xfrm xmlns:a="http://schemas.openxmlformats.org/drawingml/2006/main">
            <a:off x="609600" y="6219825"/>
            <a:ext cx="10096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425966"/>
                </a:solidFill>
                <a:latin typeface="Malgun Gothic"/>
                <a:ea typeface="Malgun Gothic"/>
                <a:cs typeface="Malgun Gothic"/>
              </a:defRPr>
            </a:defPPr>
          </a:lstStyle>
          <a:p xmlns:a="http://schemas.openxmlformats.org/drawingml/2006/main">
            <a:pPr>
              <a:defRPr sz="1725" b="0">
                <a:solidFill>
                  <a:srgbClr val="425966"/>
                </a:solidFill>
                <a:latin typeface="Malgun Gothic"/>
                <a:ea typeface="Malgun Gothic"/>
                <a:cs typeface="Malgun Gothic"/>
              </a:defRPr>
            </a:pPr>
            <a:r>
              <a:rPr sz="1725" b="0">
                <a:solidFill>
                  <a:srgbClr val="425966"/>
                </a:solidFill>
                <a:latin typeface="Malgun Gothic"/>
                <a:ea typeface="Malgun Gothic"/>
                <a:cs typeface="Malgun Gothic"/>
              </a:rPr>
              <a:t>상단 버튼: 정지·배속·저장·튜토리얼·타이틀. 자금과 전력 상태도 함께 표시합니다.</a:t>
            </a:r>
          </a:p>
        </p:txBody>
      </p:sp>
      <p:sp>
        <p:nvSpPr>
          <p:cNvPr id="11" name="page">
            <a:extLst xmlns:a="http://schemas.openxmlformats.org/drawingml/2006/main">
              <a:ext uri="{FF2B5EF4-FFF2-40B4-BE49-F238E27FC236}">
                <a16:creationId xmlns:a16="http://schemas.microsoft.com/office/drawing/2014/main" id="{3C6A737E-D452-4CFF-BF87-BA6F5527D96A}"/>
              </a:ext>
            </a:extLst>
          </p:cNvPr>
          <p:cNvSpPr>
            <a:spLocks xmlns:a="http://schemas.openxmlformats.org/drawingml/2006/main" noGrp="1"/>
          </p:cNvSpPr>
          <p:nvPr/>
        </p:nvSpPr>
        <p:spPr>
          <a:xfrm xmlns:a="http://schemas.openxmlformats.org/drawingml/2006/main">
            <a:off x="11087100" y="6353175"/>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425966"/>
                </a:solidFill>
                <a:latin typeface="Malgun Gothic"/>
                <a:ea typeface="Malgun Gothic"/>
                <a:cs typeface="Malgun Gothic"/>
              </a:defRPr>
            </a:defPPr>
          </a:lstStyle>
          <a:p xmlns:a="http://schemas.openxmlformats.org/drawingml/2006/main">
            <a:pPr>
              <a:defRPr sz="1500" b="0">
                <a:solidFill>
                  <a:srgbClr val="425966"/>
                </a:solidFill>
                <a:latin typeface="Malgun Gothic"/>
                <a:ea typeface="Malgun Gothic"/>
                <a:cs typeface="Malgun Gothic"/>
              </a:defRPr>
            </a:pPr>
            <a:r>
              <a:rPr sz="1500" b="0">
                <a:solidFill>
                  <a:srgbClr val="425966"/>
                </a:solidFill>
                <a:latin typeface="Malgun Gothic"/>
                <a:ea typeface="Malgun Gothic"/>
                <a:cs typeface="Malgun Gothic"/>
              </a:rPr>
              <a:t>06</a:t>
            </a:r>
          </a:p>
        </p:txBody>
      </p:sp>
    </p:spTree>
    <p:extLst>
      <p:ext uri="{BB962C8B-B14F-4D97-AF65-F5344CB8AC3E}">
        <p14:creationId xmlns:p14="http://schemas.microsoft.com/office/powerpoint/2010/main" val="106097563"/>
      </p:ext>
    </p:extLst>
  </p:cSld>
</p:sld>
</file>

<file path=ppt/slides/slide7.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978042EC-4DC8-4C0F-A6F3-1AE89FA65D8C}"/>
              </a:ext>
            </a:extLst>
          </p:cNvPr>
          <p:cNvSpPr>
            <a:spLocks xmlns:a="http://schemas.openxmlformats.org/drawingml/2006/main" noGrp="1"/>
          </p:cNvSpPr>
          <p:nvPr/>
        </p:nvSpPr>
        <p:spPr>
          <a:xfrm xmlns:a="http://schemas.openxmlformats.org/drawingml/2006/main">
            <a:off x="609600" y="5715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42633"/>
                </a:solidFill>
                <a:latin typeface="Malgun Gothic"/>
                <a:ea typeface="Malgun Gothic"/>
                <a:cs typeface="Malgun Gothic"/>
              </a:defRPr>
            </a:defPPr>
          </a:lstStyle>
          <a:p xmlns:a="http://schemas.openxmlformats.org/drawingml/2006/main">
            <a:pPr>
              <a:buNone/>
              <a:defRPr sz="3300" b="1">
                <a:solidFill>
                  <a:srgbClr val="142633"/>
                </a:solidFill>
                <a:latin typeface="Malgun Gothic"/>
                <a:ea typeface="Malgun Gothic"/>
                <a:cs typeface="Malgun Gothic"/>
              </a:defRPr>
            </a:pPr>
            <a:r>
              <a:rPr sz="3300" b="1">
                <a:solidFill>
                  <a:srgbClr val="142633"/>
                </a:solidFill>
                <a:latin typeface="Malgun Gothic"/>
                <a:ea typeface="Malgun Gothic"/>
                <a:cs typeface="Malgun Gothic"/>
              </a:rPr>
              <a:t>개발 보드와 시작 안내</a:t>
            </a:r>
          </a:p>
        </p:txBody>
      </p:sp>
      <p:sp>
        <p:nvSpPr>
          <p:cNvPr id="2" name="lead">
            <a:extLst xmlns:a="http://schemas.openxmlformats.org/drawingml/2006/main">
              <a:ext uri="{FF2B5EF4-FFF2-40B4-BE49-F238E27FC236}">
                <a16:creationId xmlns:a16="http://schemas.microsoft.com/office/drawing/2014/main" id="{7FE3D3DB-3FA9-44B2-89B0-AD36B51B1AC3}"/>
              </a:ext>
            </a:extLst>
          </p:cNvPr>
          <p:cNvSpPr>
            <a:spLocks xmlns:a="http://schemas.openxmlformats.org/drawingml/2006/main" noGrp="1"/>
          </p:cNvSpPr>
          <p:nvPr/>
        </p:nvSpPr>
        <p:spPr>
          <a:xfrm xmlns:a="http://schemas.openxmlformats.org/drawingml/2006/main">
            <a:off x="609600" y="145732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B95B12"/>
                </a:solidFill>
                <a:latin typeface="Malgun Gothic"/>
                <a:ea typeface="Malgun Gothic"/>
                <a:cs typeface="Malgun Gothic"/>
              </a:defRPr>
            </a:defPPr>
          </a:lstStyle>
          <a:p xmlns:a="http://schemas.openxmlformats.org/drawingml/2006/main">
            <a:pPr>
              <a:buNone/>
              <a:defRPr sz="2100" b="0">
                <a:solidFill>
                  <a:srgbClr val="B95B12"/>
                </a:solidFill>
                <a:latin typeface="Malgun Gothic"/>
                <a:ea typeface="Malgun Gothic"/>
                <a:cs typeface="Malgun Gothic"/>
              </a:defRPr>
            </a:pPr>
            <a:r>
              <a:rPr sz="2100" b="0">
                <a:solidFill>
                  <a:srgbClr val="B95B12"/>
                </a:solidFill>
                <a:latin typeface="Malgun Gothic"/>
                <a:ea typeface="Malgun Gothic"/>
                <a:cs typeface="Malgun Gothic"/>
              </a:rPr>
              <a:t>실제 인게임 화면 · 플레이 진입과 안내 선택</a:t>
            </a:r>
          </a:p>
        </p:txBody>
      </p:sp>
      <p:pic>
        <p:nvPicPr>
          <p:cNvPr id="3" name="">
            <a:extLst xmlns:a="http://schemas.openxmlformats.org/drawingml/2006/main">
              <a:ext uri="{FF2B5EF4-FFF2-40B4-BE49-F238E27FC236}">
                <a16:creationId xmlns:a16="http://schemas.microsoft.com/office/drawing/2014/main" id="{42BFA4C6-6741-4162-88FC-8EEE30F06087}"/>
              </a:ext>
            </a:extLst>
          </p:cNvPr>
          <p:cNvPicPr>
            <a:picLocks xmlns:a="http://schemas.openxmlformats.org/drawingml/2006/main" noChangeAspect="1"/>
          </p:cNvPicPr>
          <p:nvPr/>
        </p:nvPicPr>
        <p:blipFill>
          <a:blip xmlns:r="http://schemas.openxmlformats.org/officeDocument/2006/relationships" xmlns:a="http://schemas.openxmlformats.org/drawingml/2006/main" r:embed="R7348a23e72404c2c"/>
          <a:stretch xmlns:a="http://schemas.openxmlformats.org/drawingml/2006/main"/>
        </p:blipFill>
        <p:spPr>
          <a:xfrm xmlns:a="http://schemas.openxmlformats.org/drawingml/2006/main">
            <a:off x="1040383" y="2028825"/>
            <a:ext cx="7187060" cy="4038600"/>
          </a:xfrm>
          <a:prstGeom xmlns:a="http://schemas.openxmlformats.org/drawingml/2006/main" prst="rect">
            <a:avLst/>
          </a:prstGeom>
        </p:spPr>
      </p:pic>
      <p:sp>
        <p:nvSpPr>
          <p:cNvPr id="4" name="body">
            <a:extLst xmlns:a="http://schemas.openxmlformats.org/drawingml/2006/main">
              <a:ext uri="{FF2B5EF4-FFF2-40B4-BE49-F238E27FC236}">
                <a16:creationId xmlns:a16="http://schemas.microsoft.com/office/drawing/2014/main" id="{1D5CE899-6300-4564-8056-A6B79D877E1F}"/>
              </a:ext>
            </a:extLst>
          </p:cNvPr>
          <p:cNvSpPr>
            <a:spLocks xmlns:a="http://schemas.openxmlformats.org/drawingml/2006/main" noGrp="1"/>
          </p:cNvSpPr>
          <p:nvPr/>
        </p:nvSpPr>
        <p:spPr>
          <a:xfrm xmlns:a="http://schemas.openxmlformats.org/drawingml/2006/main">
            <a:off x="9048750" y="2190750"/>
            <a:ext cx="2533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142633"/>
                </a:solidFill>
                <a:latin typeface="Malgun Gothic"/>
                <a:ea typeface="Malgun Gothic"/>
                <a:cs typeface="Malgun Gothic"/>
              </a:defRPr>
            </a:defPPr>
          </a:lstStyle>
          <a:p xmlns:a="http://schemas.openxmlformats.org/drawingml/2006/main">
            <a:pPr>
              <a:buNone/>
              <a:defRPr sz="1950" b="1">
                <a:solidFill>
                  <a:srgbClr val="142633"/>
                </a:solidFill>
                <a:latin typeface="Malgun Gothic"/>
                <a:ea typeface="Malgun Gothic"/>
                <a:cs typeface="Malgun Gothic"/>
              </a:defRPr>
            </a:pPr>
            <a:r>
              <a:rPr sz="1950" b="1">
                <a:solidFill>
                  <a:srgbClr val="142633"/>
                </a:solidFill>
                <a:latin typeface="Malgun Gothic"/>
                <a:ea typeface="Malgun Gothic"/>
                <a:cs typeface="Malgun Gothic"/>
              </a:rPr>
              <a:t>개발 보드</a:t>
            </a:r>
          </a:p>
        </p:txBody>
      </p:sp>
      <p:sp>
        <p:nvSpPr>
          <p:cNvPr id="5" name="body">
            <a:extLst xmlns:a="http://schemas.openxmlformats.org/drawingml/2006/main">
              <a:ext uri="{FF2B5EF4-FFF2-40B4-BE49-F238E27FC236}">
                <a16:creationId xmlns:a16="http://schemas.microsoft.com/office/drawing/2014/main" id="{42BDEE39-2BB0-47E8-9472-DC50387A4B8A}"/>
              </a:ext>
            </a:extLst>
          </p:cNvPr>
          <p:cNvSpPr>
            <a:spLocks xmlns:a="http://schemas.openxmlformats.org/drawingml/2006/main" noGrp="1"/>
          </p:cNvSpPr>
          <p:nvPr/>
        </p:nvSpPr>
        <p:spPr>
          <a:xfrm xmlns:a="http://schemas.openxmlformats.org/drawingml/2006/main">
            <a:off x="9048750" y="2600325"/>
            <a:ext cx="25336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425966"/>
                </a:solidFill>
                <a:latin typeface="Malgun Gothic"/>
                <a:ea typeface="Malgun Gothic"/>
                <a:cs typeface="Malgun Gothic"/>
              </a:defRPr>
            </a:defPPr>
          </a:lstStyle>
          <a:p xmlns:a="http://schemas.openxmlformats.org/drawingml/2006/main">
            <a:pPr>
              <a:buNone/>
              <a:defRPr sz="1725" b="0">
                <a:solidFill>
                  <a:srgbClr val="425966"/>
                </a:solidFill>
                <a:latin typeface="Malgun Gothic"/>
                <a:ea typeface="Malgun Gothic"/>
                <a:cs typeface="Malgun Gothic"/>
              </a:defRPr>
            </a:pPr>
            <a:r>
              <a:rPr sz="1725" b="0">
                <a:solidFill>
                  <a:srgbClr val="425966"/>
                </a:solidFill>
                <a:latin typeface="Malgun Gothic"/>
                <a:ea typeface="Malgun Gothic"/>
                <a:cs typeface="Malgun Gothic"/>
              </a:rPr>
              <a:t>좌측 건설, 중앙 배치, 우측 재고·미션을 함께 확인합니다.</a:t>
            </a:r>
          </a:p>
        </p:txBody>
      </p:sp>
      <p:sp>
        <p:nvSpPr>
          <p:cNvPr id="6" name="body">
            <a:extLst xmlns:a="http://schemas.openxmlformats.org/drawingml/2006/main">
              <a:ext uri="{FF2B5EF4-FFF2-40B4-BE49-F238E27FC236}">
                <a16:creationId xmlns:a16="http://schemas.microsoft.com/office/drawing/2014/main" id="{3353922C-B357-4B5A-8F6B-338CE0A3BEE7}"/>
              </a:ext>
            </a:extLst>
          </p:cNvPr>
          <p:cNvSpPr>
            <a:spLocks xmlns:a="http://schemas.openxmlformats.org/drawingml/2006/main" noGrp="1"/>
          </p:cNvSpPr>
          <p:nvPr/>
        </p:nvSpPr>
        <p:spPr>
          <a:xfrm xmlns:a="http://schemas.openxmlformats.org/drawingml/2006/main">
            <a:off x="9048750" y="3486150"/>
            <a:ext cx="2533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142633"/>
                </a:solidFill>
                <a:latin typeface="Malgun Gothic"/>
                <a:ea typeface="Malgun Gothic"/>
                <a:cs typeface="Malgun Gothic"/>
              </a:defRPr>
            </a:defPPr>
          </a:lstStyle>
          <a:p xmlns:a="http://schemas.openxmlformats.org/drawingml/2006/main">
            <a:pPr>
              <a:buNone/>
              <a:defRPr sz="1950" b="1">
                <a:solidFill>
                  <a:srgbClr val="142633"/>
                </a:solidFill>
                <a:latin typeface="Malgun Gothic"/>
                <a:ea typeface="Malgun Gothic"/>
                <a:cs typeface="Malgun Gothic"/>
              </a:defRPr>
            </a:pPr>
            <a:r>
              <a:rPr sz="1950" b="1">
                <a:solidFill>
                  <a:srgbClr val="142633"/>
                </a:solidFill>
                <a:latin typeface="Malgun Gothic"/>
                <a:ea typeface="Malgun Gothic"/>
                <a:cs typeface="Malgun Gothic"/>
              </a:rPr>
              <a:t>튜토리얼 시작</a:t>
            </a:r>
          </a:p>
        </p:txBody>
      </p:sp>
      <p:sp>
        <p:nvSpPr>
          <p:cNvPr id="7" name="body">
            <a:extLst xmlns:a="http://schemas.openxmlformats.org/drawingml/2006/main">
              <a:ext uri="{FF2B5EF4-FFF2-40B4-BE49-F238E27FC236}">
                <a16:creationId xmlns:a16="http://schemas.microsoft.com/office/drawing/2014/main" id="{15A5A672-D9E5-436A-A394-3EA6BBA02327}"/>
              </a:ext>
            </a:extLst>
          </p:cNvPr>
          <p:cNvSpPr>
            <a:spLocks xmlns:a="http://schemas.openxmlformats.org/drawingml/2006/main" noGrp="1"/>
          </p:cNvSpPr>
          <p:nvPr/>
        </p:nvSpPr>
        <p:spPr>
          <a:xfrm xmlns:a="http://schemas.openxmlformats.org/drawingml/2006/main">
            <a:off x="9048750" y="3895725"/>
            <a:ext cx="25336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425966"/>
                </a:solidFill>
                <a:latin typeface="Malgun Gothic"/>
                <a:ea typeface="Malgun Gothic"/>
                <a:cs typeface="Malgun Gothic"/>
              </a:defRPr>
            </a:defPPr>
          </a:lstStyle>
          <a:p xmlns:a="http://schemas.openxmlformats.org/drawingml/2006/main">
            <a:pPr>
              <a:buNone/>
              <a:defRPr sz="1725" b="0">
                <a:solidFill>
                  <a:srgbClr val="425966"/>
                </a:solidFill>
                <a:latin typeface="Malgun Gothic"/>
                <a:ea typeface="Malgun Gothic"/>
                <a:cs typeface="Malgun Gothic"/>
              </a:defRPr>
            </a:pPr>
            <a:r>
              <a:rPr sz="1725" b="0">
                <a:solidFill>
                  <a:srgbClr val="425966"/>
                </a:solidFill>
                <a:latin typeface="Malgun Gothic"/>
                <a:ea typeface="Malgun Gothic"/>
                <a:cs typeface="Malgun Gothic"/>
              </a:rPr>
              <a:t>시간을 멈추고 개척 안내를 엽니다.</a:t>
            </a:r>
          </a:p>
        </p:txBody>
      </p:sp>
      <p:sp>
        <p:nvSpPr>
          <p:cNvPr id="8" name="body">
            <a:extLst xmlns:a="http://schemas.openxmlformats.org/drawingml/2006/main">
              <a:ext uri="{FF2B5EF4-FFF2-40B4-BE49-F238E27FC236}">
                <a16:creationId xmlns:a16="http://schemas.microsoft.com/office/drawing/2014/main" id="{34B08E91-7E33-41E6-8F8E-2E25155F4451}"/>
              </a:ext>
            </a:extLst>
          </p:cNvPr>
          <p:cNvSpPr>
            <a:spLocks xmlns:a="http://schemas.openxmlformats.org/drawingml/2006/main" noGrp="1"/>
          </p:cNvSpPr>
          <p:nvPr/>
        </p:nvSpPr>
        <p:spPr>
          <a:xfrm xmlns:a="http://schemas.openxmlformats.org/drawingml/2006/main">
            <a:off x="9048750" y="4781550"/>
            <a:ext cx="2533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142633"/>
                </a:solidFill>
                <a:latin typeface="Malgun Gothic"/>
                <a:ea typeface="Malgun Gothic"/>
                <a:cs typeface="Malgun Gothic"/>
              </a:defRPr>
            </a:defPPr>
          </a:lstStyle>
          <a:p xmlns:a="http://schemas.openxmlformats.org/drawingml/2006/main">
            <a:pPr>
              <a:buNone/>
              <a:defRPr sz="1950" b="1">
                <a:solidFill>
                  <a:srgbClr val="142633"/>
                </a:solidFill>
                <a:latin typeface="Malgun Gothic"/>
                <a:ea typeface="Malgun Gothic"/>
                <a:cs typeface="Malgun Gothic"/>
              </a:defRPr>
            </a:pPr>
            <a:r>
              <a:rPr sz="1950" b="1">
                <a:solidFill>
                  <a:srgbClr val="142633"/>
                </a:solidFill>
                <a:latin typeface="Malgun Gothic"/>
                <a:ea typeface="Malgun Gothic"/>
                <a:cs typeface="Malgun Gothic"/>
              </a:rPr>
              <a:t>안내 없이 시작</a:t>
            </a:r>
          </a:p>
        </p:txBody>
      </p:sp>
      <p:sp>
        <p:nvSpPr>
          <p:cNvPr id="9" name="body">
            <a:extLst xmlns:a="http://schemas.openxmlformats.org/drawingml/2006/main">
              <a:ext uri="{FF2B5EF4-FFF2-40B4-BE49-F238E27FC236}">
                <a16:creationId xmlns:a16="http://schemas.microsoft.com/office/drawing/2014/main" id="{E03338B9-606F-425B-9810-63C636E1BED1}"/>
              </a:ext>
            </a:extLst>
          </p:cNvPr>
          <p:cNvSpPr>
            <a:spLocks xmlns:a="http://schemas.openxmlformats.org/drawingml/2006/main" noGrp="1"/>
          </p:cNvSpPr>
          <p:nvPr/>
        </p:nvSpPr>
        <p:spPr>
          <a:xfrm xmlns:a="http://schemas.openxmlformats.org/drawingml/2006/main">
            <a:off x="9048750" y="5191125"/>
            <a:ext cx="25336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425966"/>
                </a:solidFill>
                <a:latin typeface="Malgun Gothic"/>
                <a:ea typeface="Malgun Gothic"/>
                <a:cs typeface="Malgun Gothic"/>
              </a:defRPr>
            </a:defPPr>
          </a:lstStyle>
          <a:p xmlns:a="http://schemas.openxmlformats.org/drawingml/2006/main">
            <a:pPr>
              <a:buNone/>
              <a:defRPr sz="1725" b="0">
                <a:solidFill>
                  <a:srgbClr val="425966"/>
                </a:solidFill>
                <a:latin typeface="Malgun Gothic"/>
                <a:ea typeface="Malgun Gothic"/>
                <a:cs typeface="Malgun Gothic"/>
              </a:defRPr>
            </a:pPr>
            <a:r>
              <a:rPr sz="1725" b="0">
                <a:solidFill>
                  <a:srgbClr val="425966"/>
                </a:solidFill>
                <a:latin typeface="Malgun Gothic"/>
                <a:ea typeface="Malgun Gothic"/>
                <a:cs typeface="Malgun Gothic"/>
              </a:rPr>
              <a:t>안내를 건너뛰고 플레이합니다. 튜토리얼은 다시 열 수 있습니다.</a:t>
            </a:r>
          </a:p>
        </p:txBody>
      </p:sp>
      <p:sp>
        <p:nvSpPr>
          <p:cNvPr id="10" name="design-intent">
            <a:extLst xmlns:a="http://schemas.openxmlformats.org/drawingml/2006/main">
              <a:ext uri="{FF2B5EF4-FFF2-40B4-BE49-F238E27FC236}">
                <a16:creationId xmlns:a16="http://schemas.microsoft.com/office/drawing/2014/main" id="{0554F513-A51F-44B6-BC62-1593AFB881D5}"/>
              </a:ext>
            </a:extLst>
          </p:cNvPr>
          <p:cNvSpPr>
            <a:spLocks xmlns:a="http://schemas.openxmlformats.org/drawingml/2006/main" noGrp="1"/>
          </p:cNvSpPr>
          <p:nvPr/>
        </p:nvSpPr>
        <p:spPr>
          <a:xfrm xmlns:a="http://schemas.openxmlformats.org/drawingml/2006/main">
            <a:off x="609600" y="6219825"/>
            <a:ext cx="10096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425966"/>
                </a:solidFill>
                <a:latin typeface="Malgun Gothic"/>
                <a:ea typeface="Malgun Gothic"/>
                <a:cs typeface="Malgun Gothic"/>
              </a:defRPr>
            </a:defPPr>
          </a:lstStyle>
          <a:p xmlns:a="http://schemas.openxmlformats.org/drawingml/2006/main">
            <a:pPr>
              <a:buNone/>
              <a:defRPr sz="1725" b="0">
                <a:solidFill>
                  <a:srgbClr val="425966"/>
                </a:solidFill>
                <a:latin typeface="Malgun Gothic"/>
                <a:ea typeface="Malgun Gothic"/>
                <a:cs typeface="Malgun Gothic"/>
              </a:defRPr>
            </a:pPr>
            <a:r>
              <a:rPr sz="1725" b="0">
                <a:solidFill>
                  <a:srgbClr val="425966"/>
                </a:solidFill>
                <a:latin typeface="Malgun Gothic"/>
                <a:ea typeface="Malgun Gothic"/>
                <a:cs typeface="Malgun Gothic"/>
              </a:rPr>
              <a:t>개발 의도: 처음 진입할 때 안내를 읽을지 직접 진행할지 선택하게 합니다.</a:t>
            </a:r>
          </a:p>
        </p:txBody>
      </p:sp>
      <p:sp>
        <p:nvSpPr>
          <p:cNvPr id="11" name="page">
            <a:extLst xmlns:a="http://schemas.openxmlformats.org/drawingml/2006/main">
              <a:ext uri="{FF2B5EF4-FFF2-40B4-BE49-F238E27FC236}">
                <a16:creationId xmlns:a16="http://schemas.microsoft.com/office/drawing/2014/main" id="{C9E1A48D-7B76-46AC-B25A-14E15B8A3A6B}"/>
              </a:ext>
            </a:extLst>
          </p:cNvPr>
          <p:cNvSpPr>
            <a:spLocks xmlns:a="http://schemas.openxmlformats.org/drawingml/2006/main" noGrp="1"/>
          </p:cNvSpPr>
          <p:nvPr/>
        </p:nvSpPr>
        <p:spPr>
          <a:xfrm xmlns:a="http://schemas.openxmlformats.org/drawingml/2006/main">
            <a:off x="11087100" y="6353175"/>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425966"/>
                </a:solidFill>
                <a:latin typeface="Malgun Gothic"/>
                <a:ea typeface="Malgun Gothic"/>
                <a:cs typeface="Malgun Gothic"/>
              </a:defRPr>
            </a:defPPr>
          </a:lstStyle>
          <a:p xmlns:a="http://schemas.openxmlformats.org/drawingml/2006/main">
            <a:pPr>
              <a:buNone/>
              <a:defRPr sz="1500" b="0">
                <a:solidFill>
                  <a:srgbClr val="425966"/>
                </a:solidFill>
                <a:latin typeface="Malgun Gothic"/>
                <a:ea typeface="Malgun Gothic"/>
                <a:cs typeface="Malgun Gothic"/>
              </a:defRPr>
            </a:pPr>
            <a:r>
              <a:rPr sz="1500" b="0">
                <a:solidFill>
                  <a:srgbClr val="425966"/>
                </a:solidFill>
                <a:latin typeface="Malgun Gothic"/>
                <a:ea typeface="Malgun Gothic"/>
                <a:cs typeface="Malgun Gothic"/>
              </a:rPr>
              <a:t>07</a:t>
            </a:r>
          </a:p>
        </p:txBody>
      </p:sp>
    </p:spTree>
    <p:extLst>
      <p:ext uri="{BB962C8B-B14F-4D97-AF65-F5344CB8AC3E}">
        <p14:creationId xmlns:p14="http://schemas.microsoft.com/office/powerpoint/2010/main" val="1431428100"/>
      </p:ext>
    </p:extLst>
  </p:cSld>
</p:sld>
</file>

<file path=ppt/slides/slide8.xml><?xml version="1.0" encoding="utf-8"?>
<p:sld xmlns:p="http://schemas.openxmlformats.org/presentationml/2006/main">
  <p:cSld>
    <p:bg>
      <p:bgPr>
        <a:solidFill xmlns:a="http://schemas.openxmlformats.org/drawingml/2006/main">
          <a:srgbClr val="0B1C27"/>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9A46CECD-A5A1-443E-85C2-1AE6702CDE5E}"/>
              </a:ext>
            </a:extLst>
          </p:cNvPr>
          <p:cNvSpPr>
            <a:spLocks xmlns:a="http://schemas.openxmlformats.org/drawingml/2006/main" noGrp="1"/>
          </p:cNvSpPr>
          <p:nvPr/>
        </p:nvSpPr>
        <p:spPr>
          <a:xfrm xmlns:a="http://schemas.openxmlformats.org/drawingml/2006/main">
            <a:off x="609600" y="5715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F4F4F0"/>
                </a:solidFill>
                <a:latin typeface="Malgun Gothic"/>
                <a:ea typeface="Malgun Gothic"/>
                <a:cs typeface="Malgun Gothic"/>
              </a:defRPr>
            </a:defPPr>
          </a:lstStyle>
          <a:p xmlns:a="http://schemas.openxmlformats.org/drawingml/2006/main">
            <a:pPr>
              <a:buNone/>
              <a:defRPr sz="3300" b="1">
                <a:solidFill>
                  <a:srgbClr val="F4F4F0"/>
                </a:solidFill>
                <a:latin typeface="Malgun Gothic"/>
                <a:ea typeface="Malgun Gothic"/>
                <a:cs typeface="Malgun Gothic"/>
              </a:defRPr>
            </a:pPr>
            <a:r>
              <a:rPr sz="3300" b="1">
                <a:solidFill>
                  <a:srgbClr val="F4F4F0"/>
                </a:solidFill>
                <a:latin typeface="Malgun Gothic"/>
                <a:ea typeface="Malgun Gothic"/>
                <a:cs typeface="Malgun Gothic"/>
              </a:rPr>
              <a:t>생산 설계 사례</a:t>
            </a:r>
          </a:p>
        </p:txBody>
      </p:sp>
      <p:sp>
        <p:nvSpPr>
          <p:cNvPr id="2" name="lead">
            <a:extLst xmlns:a="http://schemas.openxmlformats.org/drawingml/2006/main">
              <a:ext uri="{FF2B5EF4-FFF2-40B4-BE49-F238E27FC236}">
                <a16:creationId xmlns:a16="http://schemas.microsoft.com/office/drawing/2014/main" id="{DF1C6173-37CB-451F-88EB-A40EF6D04128}"/>
              </a:ext>
            </a:extLst>
          </p:cNvPr>
          <p:cNvSpPr>
            <a:spLocks xmlns:a="http://schemas.openxmlformats.org/drawingml/2006/main" noGrp="1"/>
          </p:cNvSpPr>
          <p:nvPr/>
        </p:nvSpPr>
        <p:spPr>
          <a:xfrm xmlns:a="http://schemas.openxmlformats.org/drawingml/2006/main">
            <a:off x="609600" y="14573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FAF5C"/>
                </a:solidFill>
                <a:latin typeface="Malgun Gothic"/>
                <a:ea typeface="Malgun Gothic"/>
                <a:cs typeface="Malgun Gothic"/>
              </a:defRPr>
            </a:defPPr>
          </a:lstStyle>
          <a:p xmlns:a="http://schemas.openxmlformats.org/drawingml/2006/main">
            <a:pPr>
              <a:buNone/>
              <a:defRPr sz="2100" b="0">
                <a:solidFill>
                  <a:srgbClr val="FFAF5C"/>
                </a:solidFill>
                <a:latin typeface="Malgun Gothic"/>
                <a:ea typeface="Malgun Gothic"/>
                <a:cs typeface="Malgun Gothic"/>
              </a:defRPr>
            </a:pPr>
            <a:r>
              <a:rPr sz="2100" b="0">
                <a:solidFill>
                  <a:srgbClr val="FFAF5C"/>
                </a:solidFill>
                <a:latin typeface="Malgun Gothic"/>
                <a:ea typeface="Malgun Gothic"/>
                <a:cs typeface="Malgun Gothic"/>
              </a:rPr>
              <a:t>레시피 데이터로 재료·시간·비용을 함께 관리</a:t>
            </a:r>
          </a:p>
        </p:txBody>
      </p:sp>
      <p:sp>
        <p:nvSpPr>
          <p:cNvPr id="3" name="item-heading">
            <a:extLst xmlns:a="http://schemas.openxmlformats.org/drawingml/2006/main">
              <a:ext uri="{FF2B5EF4-FFF2-40B4-BE49-F238E27FC236}">
                <a16:creationId xmlns:a16="http://schemas.microsoft.com/office/drawing/2014/main" id="{95AE2673-9B98-4919-8CD5-7D41BB20FEBB}"/>
              </a:ext>
            </a:extLst>
          </p:cNvPr>
          <p:cNvSpPr>
            <a:spLocks xmlns:a="http://schemas.openxmlformats.org/drawingml/2006/main" noGrp="1"/>
          </p:cNvSpPr>
          <p:nvPr/>
        </p:nvSpPr>
        <p:spPr>
          <a:xfrm xmlns:a="http://schemas.openxmlformats.org/drawingml/2006/main">
            <a:off x="609600" y="2381250"/>
            <a:ext cx="676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F4F4F0"/>
                </a:solidFill>
                <a:latin typeface="Malgun Gothic"/>
                <a:ea typeface="Malgun Gothic"/>
                <a:cs typeface="Malgun Gothic"/>
              </a:defRPr>
            </a:defPPr>
          </a:lstStyle>
          <a:p xmlns:a="http://schemas.openxmlformats.org/drawingml/2006/main">
            <a:pPr>
              <a:buNone/>
              <a:defRPr sz="2025" b="1">
                <a:solidFill>
                  <a:srgbClr val="F4F4F0"/>
                </a:solidFill>
                <a:latin typeface="Malgun Gothic"/>
                <a:ea typeface="Malgun Gothic"/>
                <a:cs typeface="Malgun Gothic"/>
              </a:defRPr>
            </a:pPr>
            <a:r>
              <a:rPr sz="2025" b="1">
                <a:solidFill>
                  <a:srgbClr val="F4F4F0"/>
                </a:solidFill>
                <a:latin typeface="Malgun Gothic"/>
                <a:ea typeface="Malgun Gothic"/>
                <a:cs typeface="Malgun Gothic"/>
              </a:rPr>
              <a:t>철판 생산</a:t>
            </a:r>
          </a:p>
        </p:txBody>
      </p:sp>
      <p:sp>
        <p:nvSpPr>
          <p:cNvPr id="4" name="body">
            <a:extLst xmlns:a="http://schemas.openxmlformats.org/drawingml/2006/main">
              <a:ext uri="{FF2B5EF4-FFF2-40B4-BE49-F238E27FC236}">
                <a16:creationId xmlns:a16="http://schemas.microsoft.com/office/drawing/2014/main" id="{6EC6046C-B233-43E8-AF52-16888B468E85}"/>
              </a:ext>
            </a:extLst>
          </p:cNvPr>
          <p:cNvSpPr>
            <a:spLocks xmlns:a="http://schemas.openxmlformats.org/drawingml/2006/main" noGrp="1"/>
          </p:cNvSpPr>
          <p:nvPr/>
        </p:nvSpPr>
        <p:spPr>
          <a:xfrm xmlns:a="http://schemas.openxmlformats.org/drawingml/2006/main">
            <a:off x="609600" y="2790825"/>
            <a:ext cx="6762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BC9CD"/>
                </a:solidFill>
                <a:latin typeface="Malgun Gothic"/>
                <a:ea typeface="Malgun Gothic"/>
                <a:cs typeface="Malgun Gothic"/>
              </a:defRPr>
            </a:defPPr>
          </a:lstStyle>
          <a:p xmlns:a="http://schemas.openxmlformats.org/drawingml/2006/main">
            <a:pPr>
              <a:buNone/>
              <a:defRPr sz="1875" b="0">
                <a:solidFill>
                  <a:srgbClr val="BBC9CD"/>
                </a:solidFill>
                <a:latin typeface="Malgun Gothic"/>
                <a:ea typeface="Malgun Gothic"/>
                <a:cs typeface="Malgun Gothic"/>
              </a:defRPr>
            </a:pPr>
            <a:r>
              <a:rPr sz="1875" b="0">
                <a:solidFill>
                  <a:srgbClr val="BBC9CD"/>
                </a:solidFill>
                <a:latin typeface="Malgun Gothic"/>
                <a:ea typeface="Malgun Gothic"/>
                <a:cs typeface="Malgun Gothic"/>
              </a:rPr>
              <a:t>철광석 3스택으로 철괴 2스택을 만들고, 철괴 2스택으로 철판 2스택을 생산합니다.</a:t>
            </a:r>
          </a:p>
        </p:txBody>
      </p:sp>
      <p:sp>
        <p:nvSpPr>
          <p:cNvPr id="5" name="item-heading">
            <a:extLst xmlns:a="http://schemas.openxmlformats.org/drawingml/2006/main">
              <a:ext uri="{FF2B5EF4-FFF2-40B4-BE49-F238E27FC236}">
                <a16:creationId xmlns:a16="http://schemas.microsoft.com/office/drawing/2014/main" id="{E0C1CFAF-24A5-4D7F-A766-FDB9CAF3121C}"/>
              </a:ext>
            </a:extLst>
          </p:cNvPr>
          <p:cNvSpPr>
            <a:spLocks xmlns:a="http://schemas.openxmlformats.org/drawingml/2006/main" noGrp="1"/>
          </p:cNvSpPr>
          <p:nvPr/>
        </p:nvSpPr>
        <p:spPr>
          <a:xfrm xmlns:a="http://schemas.openxmlformats.org/drawingml/2006/main">
            <a:off x="609600" y="3524250"/>
            <a:ext cx="676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F4F4F0"/>
                </a:solidFill>
                <a:latin typeface="Malgun Gothic"/>
                <a:ea typeface="Malgun Gothic"/>
                <a:cs typeface="Malgun Gothic"/>
              </a:defRPr>
            </a:defPPr>
          </a:lstStyle>
          <a:p xmlns:a="http://schemas.openxmlformats.org/drawingml/2006/main">
            <a:pPr>
              <a:buNone/>
              <a:defRPr sz="2025" b="1">
                <a:solidFill>
                  <a:srgbClr val="F4F4F0"/>
                </a:solidFill>
                <a:latin typeface="Malgun Gothic"/>
                <a:ea typeface="Malgun Gothic"/>
                <a:cs typeface="Malgun Gothic"/>
              </a:defRPr>
            </a:pPr>
            <a:r>
              <a:rPr sz="2025" b="1">
                <a:solidFill>
                  <a:srgbClr val="F4F4F0"/>
                </a:solidFill>
                <a:latin typeface="Malgun Gothic"/>
                <a:ea typeface="Malgun Gothic"/>
                <a:cs typeface="Malgun Gothic"/>
              </a:rPr>
              <a:t>생산 조건</a:t>
            </a:r>
          </a:p>
        </p:txBody>
      </p:sp>
      <p:sp>
        <p:nvSpPr>
          <p:cNvPr id="6" name="body">
            <a:extLst xmlns:a="http://schemas.openxmlformats.org/drawingml/2006/main">
              <a:ext uri="{FF2B5EF4-FFF2-40B4-BE49-F238E27FC236}">
                <a16:creationId xmlns:a16="http://schemas.microsoft.com/office/drawing/2014/main" id="{466D8F66-C498-4188-BB92-DEEE15FF2D07}"/>
              </a:ext>
            </a:extLst>
          </p:cNvPr>
          <p:cNvSpPr>
            <a:spLocks xmlns:a="http://schemas.openxmlformats.org/drawingml/2006/main" noGrp="1"/>
          </p:cNvSpPr>
          <p:nvPr/>
        </p:nvSpPr>
        <p:spPr>
          <a:xfrm xmlns:a="http://schemas.openxmlformats.org/drawingml/2006/main">
            <a:off x="609600" y="3933825"/>
            <a:ext cx="6762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BC9CD"/>
                </a:solidFill>
                <a:latin typeface="Malgun Gothic"/>
                <a:ea typeface="Malgun Gothic"/>
                <a:cs typeface="Malgun Gothic"/>
              </a:defRPr>
            </a:defPPr>
          </a:lstStyle>
          <a:p xmlns:a="http://schemas.openxmlformats.org/drawingml/2006/main">
            <a:pPr>
              <a:buNone/>
              <a:defRPr sz="1875" b="0">
                <a:solidFill>
                  <a:srgbClr val="BBC9CD"/>
                </a:solidFill>
                <a:latin typeface="Malgun Gothic"/>
                <a:ea typeface="Malgun Gothic"/>
                <a:cs typeface="Malgun Gothic"/>
              </a:defRPr>
            </a:pPr>
            <a:r>
              <a:rPr sz="1875" b="0">
                <a:solidFill>
                  <a:srgbClr val="BBC9CD"/>
                </a:solidFill>
                <a:latin typeface="Malgun Gothic"/>
                <a:ea typeface="Malgun Gothic"/>
                <a:cs typeface="Malgun Gothic"/>
              </a:rPr>
              <a:t>시설은 필요한 재료와 자금을 확인하고 생산을 진행합니다. 전력 부족이나 매장량 고갈은 생산을 멈춥니다.</a:t>
            </a:r>
          </a:p>
        </p:txBody>
      </p:sp>
      <p:sp>
        <p:nvSpPr>
          <p:cNvPr id="7" name="item-heading">
            <a:extLst xmlns:a="http://schemas.openxmlformats.org/drawingml/2006/main">
              <a:ext uri="{FF2B5EF4-FFF2-40B4-BE49-F238E27FC236}">
                <a16:creationId xmlns:a16="http://schemas.microsoft.com/office/drawing/2014/main" id="{7502ED11-E5F0-4200-BEC1-8091777EDF16}"/>
              </a:ext>
            </a:extLst>
          </p:cNvPr>
          <p:cNvSpPr>
            <a:spLocks xmlns:a="http://schemas.openxmlformats.org/drawingml/2006/main" noGrp="1"/>
          </p:cNvSpPr>
          <p:nvPr/>
        </p:nvSpPr>
        <p:spPr>
          <a:xfrm xmlns:a="http://schemas.openxmlformats.org/drawingml/2006/main">
            <a:off x="609600" y="4667250"/>
            <a:ext cx="676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F4F4F0"/>
                </a:solidFill>
                <a:latin typeface="Malgun Gothic"/>
                <a:ea typeface="Malgun Gothic"/>
                <a:cs typeface="Malgun Gothic"/>
              </a:defRPr>
            </a:defPPr>
          </a:lstStyle>
          <a:p xmlns:a="http://schemas.openxmlformats.org/drawingml/2006/main">
            <a:pPr>
              <a:buNone/>
              <a:defRPr sz="2025" b="1">
                <a:solidFill>
                  <a:srgbClr val="F4F4F0"/>
                </a:solidFill>
                <a:latin typeface="Malgun Gothic"/>
                <a:ea typeface="Malgun Gothic"/>
                <a:cs typeface="Malgun Gothic"/>
              </a:defRPr>
            </a:pPr>
            <a:r>
              <a:rPr sz="2025" b="1">
                <a:solidFill>
                  <a:srgbClr val="F4F4F0"/>
                </a:solidFill>
                <a:latin typeface="Malgun Gothic"/>
                <a:ea typeface="Malgun Gothic"/>
                <a:cs typeface="Malgun Gothic"/>
              </a:rPr>
              <a:t>확장 방식</a:t>
            </a:r>
          </a:p>
        </p:txBody>
      </p:sp>
      <p:sp>
        <p:nvSpPr>
          <p:cNvPr id="8" name="body">
            <a:extLst xmlns:a="http://schemas.openxmlformats.org/drawingml/2006/main">
              <a:ext uri="{FF2B5EF4-FFF2-40B4-BE49-F238E27FC236}">
                <a16:creationId xmlns:a16="http://schemas.microsoft.com/office/drawing/2014/main" id="{38A49FDB-9E30-437A-B2BC-F4041C2230B4}"/>
              </a:ext>
            </a:extLst>
          </p:cNvPr>
          <p:cNvSpPr>
            <a:spLocks xmlns:a="http://schemas.openxmlformats.org/drawingml/2006/main" noGrp="1"/>
          </p:cNvSpPr>
          <p:nvPr/>
        </p:nvSpPr>
        <p:spPr>
          <a:xfrm xmlns:a="http://schemas.openxmlformats.org/drawingml/2006/main">
            <a:off x="609600" y="5076825"/>
            <a:ext cx="6762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BC9CD"/>
                </a:solidFill>
                <a:latin typeface="Malgun Gothic"/>
                <a:ea typeface="Malgun Gothic"/>
                <a:cs typeface="Malgun Gothic"/>
              </a:defRPr>
            </a:defPPr>
          </a:lstStyle>
          <a:p xmlns:a="http://schemas.openxmlformats.org/drawingml/2006/main">
            <a:pPr>
              <a:buNone/>
              <a:defRPr sz="1875" b="0">
                <a:solidFill>
                  <a:srgbClr val="BBC9CD"/>
                </a:solidFill>
                <a:latin typeface="Malgun Gothic"/>
                <a:ea typeface="Malgun Gothic"/>
                <a:cs typeface="Malgun Gothic"/>
              </a:defRPr>
            </a:pPr>
            <a:r>
              <a:rPr sz="1875" b="0">
                <a:solidFill>
                  <a:srgbClr val="BBC9CD"/>
                </a:solidFill>
                <a:latin typeface="Malgun Gothic"/>
                <a:ea typeface="Malgun Gothic"/>
                <a:cs typeface="Malgun Gothic"/>
              </a:rPr>
              <a:t>자원·레시피·시설 정의를 분리해 생산 체인을 데이터로 구성합니다.</a:t>
            </a:r>
          </a:p>
        </p:txBody>
      </p:sp>
      <p:pic>
        <p:nvPicPr>
          <p:cNvPr id="9" name="">
            <a:extLst xmlns:a="http://schemas.openxmlformats.org/drawingml/2006/main">
              <a:ext uri="{FF2B5EF4-FFF2-40B4-BE49-F238E27FC236}">
                <a16:creationId xmlns:a16="http://schemas.microsoft.com/office/drawing/2014/main" id="{AA8CC31D-8612-47F4-A506-83C20EE9124D}"/>
              </a:ext>
            </a:extLst>
          </p:cNvPr>
          <p:cNvPicPr>
            <a:picLocks xmlns:a="http://schemas.openxmlformats.org/drawingml/2006/main" noChangeAspect="1"/>
          </p:cNvPicPr>
          <p:nvPr/>
        </p:nvPicPr>
        <p:blipFill>
          <a:blip xmlns:r="http://schemas.openxmlformats.org/officeDocument/2006/relationships" xmlns:a="http://schemas.openxmlformats.org/drawingml/2006/main" r:embed="Ra59247d88c6f468b"/>
          <a:stretch xmlns:a="http://schemas.openxmlformats.org/drawingml/2006/main"/>
        </p:blipFill>
        <p:spPr>
          <a:xfrm xmlns:a="http://schemas.openxmlformats.org/drawingml/2006/main">
            <a:off x="8181975" y="2209800"/>
            <a:ext cx="3143250" cy="3143250"/>
          </a:xfrm>
          <a:prstGeom xmlns:a="http://schemas.openxmlformats.org/drawingml/2006/main" prst="rect">
            <a:avLst/>
          </a:prstGeom>
        </p:spPr>
      </p:pic>
      <p:sp>
        <p:nvSpPr>
          <p:cNvPr id="10" name="body">
            <a:extLst xmlns:a="http://schemas.openxmlformats.org/drawingml/2006/main">
              <a:ext uri="{FF2B5EF4-FFF2-40B4-BE49-F238E27FC236}">
                <a16:creationId xmlns:a16="http://schemas.microsoft.com/office/drawing/2014/main" id="{2BA7B4EB-FD7F-4E53-A258-FE2D30F6D5AA}"/>
              </a:ext>
            </a:extLst>
          </p:cNvPr>
          <p:cNvSpPr>
            <a:spLocks xmlns:a="http://schemas.openxmlformats.org/drawingml/2006/main" noGrp="1"/>
          </p:cNvSpPr>
          <p:nvPr/>
        </p:nvSpPr>
        <p:spPr>
          <a:xfrm xmlns:a="http://schemas.openxmlformats.org/drawingml/2006/main">
            <a:off x="7943850" y="5581650"/>
            <a:ext cx="361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BBC9CD"/>
                </a:solidFill>
                <a:latin typeface="Malgun Gothic"/>
                <a:ea typeface="Malgun Gothic"/>
                <a:cs typeface="Malgun Gothic"/>
              </a:defRPr>
            </a:defPPr>
          </a:lstStyle>
          <a:p xmlns:a="http://schemas.openxmlformats.org/drawingml/2006/main">
            <a:pPr>
              <a:buNone/>
              <a:defRPr sz="1725" b="0">
                <a:solidFill>
                  <a:srgbClr val="BBC9CD"/>
                </a:solidFill>
                <a:latin typeface="Malgun Gothic"/>
                <a:ea typeface="Malgun Gothic"/>
                <a:cs typeface="Malgun Gothic"/>
              </a:defRPr>
            </a:pPr>
            <a:r>
              <a:rPr sz="1725" b="0">
                <a:solidFill>
                  <a:srgbClr val="BBC9CD"/>
                </a:solidFill>
                <a:latin typeface="Malgun Gothic"/>
                <a:ea typeface="Malgun Gothic"/>
                <a:cs typeface="Malgun Gothic"/>
              </a:rPr>
              <a:t>프로젝트 내 시설 아트</a:t>
            </a:r>
          </a:p>
        </p:txBody>
      </p:sp>
      <p:sp>
        <p:nvSpPr>
          <p:cNvPr id="11" name="body">
            <a:extLst xmlns:a="http://schemas.openxmlformats.org/drawingml/2006/main">
              <a:ext uri="{FF2B5EF4-FFF2-40B4-BE49-F238E27FC236}">
                <a16:creationId xmlns:a16="http://schemas.microsoft.com/office/drawing/2014/main" id="{6527FAF4-5D95-46A6-B62B-1A6A889D71EF}"/>
              </a:ext>
            </a:extLst>
          </p:cNvPr>
          <p:cNvSpPr>
            <a:spLocks xmlns:a="http://schemas.openxmlformats.org/drawingml/2006/main" noGrp="1"/>
          </p:cNvSpPr>
          <p:nvPr/>
        </p:nvSpPr>
        <p:spPr>
          <a:xfrm xmlns:a="http://schemas.openxmlformats.org/drawingml/2006/main">
            <a:off x="11087100" y="6353175"/>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BBC9CD"/>
                </a:solidFill>
                <a:latin typeface="Malgun Gothic"/>
                <a:ea typeface="Malgun Gothic"/>
                <a:cs typeface="Malgun Gothic"/>
              </a:defRPr>
            </a:defPPr>
          </a:lstStyle>
          <a:p xmlns:a="http://schemas.openxmlformats.org/drawingml/2006/main">
            <a:pPr>
              <a:buNone/>
              <a:defRPr sz="1500" b="0">
                <a:solidFill>
                  <a:srgbClr val="BBC9CD"/>
                </a:solidFill>
                <a:latin typeface="Malgun Gothic"/>
                <a:ea typeface="Malgun Gothic"/>
                <a:cs typeface="Malgun Gothic"/>
              </a:defRPr>
            </a:pPr>
            <a:r>
              <a:rPr sz="1500" b="0">
                <a:solidFill>
                  <a:srgbClr val="BBC9CD"/>
                </a:solidFill>
                <a:latin typeface="Malgun Gothic"/>
                <a:ea typeface="Malgun Gothic"/>
                <a:cs typeface="Malgun Gothic"/>
              </a:rPr>
              <a:t>08</a:t>
            </a:r>
          </a:p>
        </p:txBody>
      </p:sp>
    </p:spTree>
    <p:extLst>
      <p:ext uri="{BB962C8B-B14F-4D97-AF65-F5344CB8AC3E}">
        <p14:creationId xmlns:p14="http://schemas.microsoft.com/office/powerpoint/2010/main" val="1657343742"/>
      </p:ext>
    </p:extLst>
  </p:cSld>
</p:sld>
</file>

<file path=ppt/slides/slide9.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3AE6CF9-9214-4556-8B77-2C2DCC74DACA}"/>
              </a:ext>
            </a:extLst>
          </p:cNvPr>
          <p:cNvSpPr>
            <a:spLocks xmlns:a="http://schemas.openxmlformats.org/drawingml/2006/main" noGrp="1"/>
          </p:cNvSpPr>
          <p:nvPr/>
        </p:nvSpPr>
        <p:spPr>
          <a:xfrm xmlns:a="http://schemas.openxmlformats.org/drawingml/2006/main">
            <a:off x="609600" y="5715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42633"/>
                </a:solidFill>
                <a:latin typeface="Malgun Gothic"/>
                <a:ea typeface="Malgun Gothic"/>
                <a:cs typeface="Malgun Gothic"/>
              </a:defRPr>
            </a:defPPr>
          </a:lstStyle>
          <a:p xmlns:a="http://schemas.openxmlformats.org/drawingml/2006/main">
            <a:pPr>
              <a:buNone/>
              <a:defRPr sz="3300" b="1">
                <a:solidFill>
                  <a:srgbClr val="142633"/>
                </a:solidFill>
                <a:latin typeface="Malgun Gothic"/>
                <a:ea typeface="Malgun Gothic"/>
                <a:cs typeface="Malgun Gothic"/>
              </a:defRPr>
            </a:pPr>
            <a:r>
              <a:rPr sz="3300" b="1">
                <a:solidFill>
                  <a:srgbClr val="142633"/>
                </a:solidFill>
                <a:latin typeface="Malgun Gothic"/>
                <a:ea typeface="Malgun Gothic"/>
                <a:cs typeface="Malgun Gothic"/>
              </a:rPr>
              <a:t>생산 설정 화면과 버튼</a:t>
            </a:r>
          </a:p>
        </p:txBody>
      </p:sp>
      <p:sp>
        <p:nvSpPr>
          <p:cNvPr id="2" name="lead">
            <a:extLst xmlns:a="http://schemas.openxmlformats.org/drawingml/2006/main">
              <a:ext uri="{FF2B5EF4-FFF2-40B4-BE49-F238E27FC236}">
                <a16:creationId xmlns:a16="http://schemas.microsoft.com/office/drawing/2014/main" id="{66C51045-B5D7-4018-859D-DA00852B862E}"/>
              </a:ext>
            </a:extLst>
          </p:cNvPr>
          <p:cNvSpPr>
            <a:spLocks xmlns:a="http://schemas.openxmlformats.org/drawingml/2006/main" noGrp="1"/>
          </p:cNvSpPr>
          <p:nvPr/>
        </p:nvSpPr>
        <p:spPr>
          <a:xfrm xmlns:a="http://schemas.openxmlformats.org/drawingml/2006/main">
            <a:off x="609600" y="14573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B95B12"/>
                </a:solidFill>
                <a:latin typeface="Malgun Gothic"/>
                <a:ea typeface="Malgun Gothic"/>
                <a:cs typeface="Malgun Gothic"/>
              </a:defRPr>
            </a:defPPr>
          </a:lstStyle>
          <a:p xmlns:a="http://schemas.openxmlformats.org/drawingml/2006/main">
            <a:pPr>
              <a:buNone/>
              <a:defRPr sz="2100" b="0">
                <a:solidFill>
                  <a:srgbClr val="B95B12"/>
                </a:solidFill>
                <a:latin typeface="Malgun Gothic"/>
                <a:ea typeface="Malgun Gothic"/>
                <a:cs typeface="Malgun Gothic"/>
              </a:defRPr>
            </a:pPr>
            <a:r>
              <a:rPr sz="2100" b="0">
                <a:solidFill>
                  <a:srgbClr val="B95B12"/>
                </a:solidFill>
                <a:latin typeface="Malgun Gothic"/>
                <a:ea typeface="Malgun Gothic"/>
                <a:cs typeface="Malgun Gothic"/>
              </a:rPr>
              <a:t>레시피 정보 확인 후 생산품을 확정하는 구조</a:t>
            </a:r>
          </a:p>
        </p:txBody>
      </p:sp>
      <p:graphicFrame>
        <p:nvGraphicFramePr>
          <p:cNvPr id="3" name="">
            <a:extLst xmlns:a="http://schemas.openxmlformats.org/drawingml/2006/main">
              <a:ext uri="{FF2B5EF4-FFF2-40B4-BE49-F238E27FC236}">
                <a16:creationId xmlns:a16="http://schemas.microsoft.com/office/drawing/2014/main" id="{26D9BFAE-6A2A-4D4F-A638-F17052998BFE}"/>
              </a:ext>
            </a:extLst>
          </p:cNvPr>
          <p:cNvGraphicFramePr/>
          <p:nvPr/>
        </p:nvGraphicFramePr>
        <p:xfrm>
          <a:off xmlns:a="http://schemas.openxmlformats.org/drawingml/2006/main" x="609600" y="2190750"/>
          <a:ext xmlns:a="http://schemas.openxmlformats.org/drawingml/2006/main" cx="10972800" cy="3867150"/>
        </p:xfrm>
        <a:graphic xmlns:a="http://schemas.openxmlformats.org/drawingml/2006/main">
          <a:graphicData uri="http://schemas.openxmlformats.org/drawingml/2006/table">
            <a:tbl>
              <a:tblPr/>
              <a:tblGrid>
                <a:gridCol w="2619375"/>
                <a:gridCol w="4333875"/>
                <a:gridCol w="4019550"/>
              </a:tblGrid>
              <a:tr h="552450">
                <a:tc>
                  <a:txBody>
                    <a:bodyPr lIns="114300" tIns="114300" rIns="114300" bIns="114300"/>
                    <a:lstStyle/>
                    <a:p>
                      <a:r>
                        <a:rPr sz="1725" b="1">
                          <a:solidFill>
                            <a:srgbClr val="B95B12"/>
                          </a:solidFill>
                          <a:latin typeface="Malgun Gothic"/>
                          <a:ea typeface="Malgun Gothic"/>
                          <a:cs typeface="Malgun Gothic"/>
                        </a:rPr>
                        <a:t>UI 항목·버튼</a:t>
                      </a:r>
                    </a:p>
                  </a:txBody>
                  <a:tcPr marL="91440" marR="91440" marT="45720" marB="45720">
                    <a:lnL w="9525">
                      <a:solidFill>
                        <a:srgbClr val="CFD5D5"/>
                      </a:solidFill>
                    </a:lnL>
                    <a:lnR w="9525">
                      <a:solidFill>
                        <a:srgbClr val="CFD5D5"/>
                      </a:solidFill>
                    </a:lnR>
                    <a:lnT w="9525">
                      <a:solidFill>
                        <a:srgbClr val="CFD5D5"/>
                      </a:solidFill>
                    </a:lnT>
                    <a:lnB w="9525">
                      <a:solidFill>
                        <a:srgbClr val="CFD5D5"/>
                      </a:solidFill>
                    </a:lnB>
                    <a:solidFill>
                      <a:srgbClr val="E2E6E3"/>
                    </a:solidFill>
                  </a:tcPr>
                </a:tc>
                <a:tc>
                  <a:txBody>
                    <a:bodyPr lIns="114300" tIns="114300" rIns="114300" bIns="114300"/>
                    <a:lstStyle/>
                    <a:p>
                      <a:r>
                        <a:rPr sz="1725" b="1">
                          <a:solidFill>
                            <a:srgbClr val="B95B12"/>
                          </a:solidFill>
                          <a:latin typeface="Malgun Gothic"/>
                          <a:ea typeface="Malgun Gothic"/>
                          <a:cs typeface="Malgun Gothic"/>
                        </a:rPr>
                        <a:t>기능</a:t>
                      </a:r>
                    </a:p>
                  </a:txBody>
                  <a:tcPr marL="91440" marR="91440" marT="45720" marB="45720">
                    <a:lnR w="9525">
                      <a:solidFill>
                        <a:srgbClr val="CFD5D5"/>
                      </a:solidFill>
                    </a:lnR>
                    <a:lnT w="9525">
                      <a:solidFill>
                        <a:srgbClr val="CFD5D5"/>
                      </a:solidFill>
                    </a:lnT>
                    <a:lnB w="9525">
                      <a:solidFill>
                        <a:srgbClr val="CFD5D5"/>
                      </a:solidFill>
                    </a:lnB>
                    <a:solidFill>
                      <a:srgbClr val="E2E6E3"/>
                    </a:solidFill>
                  </a:tcPr>
                </a:tc>
                <a:tc>
                  <a:txBody>
                    <a:bodyPr lIns="114300" tIns="114300" rIns="114300" bIns="114300"/>
                    <a:lstStyle/>
                    <a:p>
                      <a:r>
                        <a:rPr sz="1725" b="1">
                          <a:solidFill>
                            <a:srgbClr val="B95B12"/>
                          </a:solidFill>
                          <a:latin typeface="Malgun Gothic"/>
                          <a:ea typeface="Malgun Gothic"/>
                          <a:cs typeface="Malgun Gothic"/>
                        </a:rPr>
                        <a:t>설계 의도·규칙</a:t>
                      </a:r>
                    </a:p>
                  </a:txBody>
                  <a:tcPr marL="91440" marR="91440" marT="45720" marB="45720">
                    <a:lnR w="9525">
                      <a:solidFill>
                        <a:srgbClr val="CFD5D5"/>
                      </a:solidFill>
                    </a:lnR>
                    <a:lnT w="9525">
                      <a:solidFill>
                        <a:srgbClr val="CFD5D5"/>
                      </a:solidFill>
                    </a:lnT>
                    <a:lnB w="9525">
                      <a:solidFill>
                        <a:srgbClr val="CFD5D5"/>
                      </a:solidFill>
                    </a:lnB>
                    <a:solidFill>
                      <a:srgbClr val="E2E6E3"/>
                    </a:solidFill>
                  </a:tcPr>
                </a:tc>
              </a:tr>
              <a:tr h="552450">
                <a:tc>
                  <a:txBody>
                    <a:bodyPr lIns="114300" tIns="114300" rIns="114300" bIns="114300"/>
                    <a:lstStyle/>
                    <a:p>
                      <a:r>
                        <a:rPr sz="1725" b="0">
                          <a:solidFill>
                            <a:srgbClr val="142633"/>
                          </a:solidFill>
                          <a:latin typeface="Malgun Gothic"/>
                          <a:ea typeface="Malgun Gothic"/>
                          <a:cs typeface="Malgun Gothic"/>
                        </a:rPr>
                        <a:t>생산품 목록</a:t>
                      </a:r>
                    </a:p>
                  </a:txBody>
                  <a:tcPr marL="91440" marR="91440" marT="45720" marB="45720">
                    <a:lnL w="9525">
                      <a:solidFill>
                        <a:srgbClr val="CFD5D5"/>
                      </a:solidFill>
                    </a:lnL>
                    <a:lnR w="9525">
                      <a:solidFill>
                        <a:srgbClr val="CFD5D5"/>
                      </a:solidFill>
                    </a:lnR>
                    <a:lnB w="9525">
                      <a:solidFill>
                        <a:srgbClr val="CFD5D5"/>
                      </a:solidFill>
                    </a:lnB>
                    <a:solidFill>
                      <a:srgbClr val="F5F4EF"/>
                    </a:solidFill>
                  </a:tcPr>
                </a:tc>
                <a:tc>
                  <a:txBody>
                    <a:bodyPr lIns="114300" tIns="114300" rIns="114300" bIns="114300"/>
                    <a:lstStyle/>
                    <a:p>
                      <a:r>
                        <a:rPr sz="1725" b="0">
                          <a:solidFill>
                            <a:srgbClr val="142633"/>
                          </a:solidFill>
                          <a:latin typeface="Malgun Gothic"/>
                          <a:ea typeface="Malgun Gothic"/>
                          <a:cs typeface="Malgun Gothic"/>
                        </a:rPr>
                        <a:t>지원 레시피를 미리 선택</a:t>
                      </a:r>
                    </a:p>
                  </a:txBody>
                  <a:tcPr marL="91440" marR="91440" marT="45720" marB="45720">
                    <a:lnR w="9525">
                      <a:solidFill>
                        <a:srgbClr val="CFD5D5"/>
                      </a:solidFill>
                    </a:lnR>
                    <a:lnB w="9525">
                      <a:solidFill>
                        <a:srgbClr val="CFD5D5"/>
                      </a:solidFill>
                    </a:lnB>
                    <a:solidFill>
                      <a:srgbClr val="F5F4EF"/>
                    </a:solidFill>
                  </a:tcPr>
                </a:tc>
                <a:tc>
                  <a:txBody>
                    <a:bodyPr lIns="114300" tIns="114300" rIns="114300" bIns="114300"/>
                    <a:lstStyle/>
                    <a:p>
                      <a:r>
                        <a:rPr sz="1725" b="0">
                          <a:solidFill>
                            <a:srgbClr val="142633"/>
                          </a:solidFill>
                          <a:latin typeface="Malgun Gothic"/>
                          <a:ea typeface="Malgun Gothic"/>
                          <a:cs typeface="Malgun Gothic"/>
                        </a:rPr>
                        <a:t>선택과 적용을 구분</a:t>
                      </a:r>
                    </a:p>
                  </a:txBody>
                  <a:tcPr marL="91440" marR="91440" marT="45720" marB="45720">
                    <a:lnR w="9525">
                      <a:solidFill>
                        <a:srgbClr val="CFD5D5"/>
                      </a:solidFill>
                    </a:lnR>
                    <a:lnB w="9525">
                      <a:solidFill>
                        <a:srgbClr val="CFD5D5"/>
                      </a:solidFill>
                    </a:lnB>
                    <a:solidFill>
                      <a:srgbClr val="F5F4EF"/>
                    </a:solidFill>
                  </a:tcPr>
                </a:tc>
              </a:tr>
              <a:tr h="552450">
                <a:tc>
                  <a:txBody>
                    <a:bodyPr lIns="114300" tIns="114300" rIns="114300" bIns="114300"/>
                    <a:lstStyle/>
                    <a:p>
                      <a:r>
                        <a:rPr sz="1725" b="0">
                          <a:solidFill>
                            <a:srgbClr val="142633"/>
                          </a:solidFill>
                          <a:latin typeface="Malgun Gothic"/>
                          <a:ea typeface="Malgun Gothic"/>
                          <a:cs typeface="Malgun Gothic"/>
                        </a:rPr>
                        <a:t>비용·재료·완성품</a:t>
                      </a:r>
                    </a:p>
                  </a:txBody>
                  <a:tcPr marL="91440" marR="91440" marT="45720" marB="45720">
                    <a:lnL w="9525">
                      <a:solidFill>
                        <a:srgbClr val="CFD5D5"/>
                      </a:solidFill>
                    </a:lnL>
                    <a:lnR w="9525">
                      <a:solidFill>
                        <a:srgbClr val="CFD5D5"/>
                      </a:solidFill>
                    </a:lnR>
                    <a:lnB w="9525">
                      <a:solidFill>
                        <a:srgbClr val="CFD5D5"/>
                      </a:solidFill>
                    </a:lnB>
                    <a:solidFill>
                      <a:srgbClr val="F5F4EF"/>
                    </a:solidFill>
                  </a:tcPr>
                </a:tc>
                <a:tc>
                  <a:txBody>
                    <a:bodyPr lIns="114300" tIns="114300" rIns="114300" bIns="114300"/>
                    <a:lstStyle/>
                    <a:p>
                      <a:r>
                        <a:rPr sz="1725" b="0">
                          <a:solidFill>
                            <a:srgbClr val="142633"/>
                          </a:solidFill>
                          <a:latin typeface="Malgun Gothic"/>
                          <a:ea typeface="Malgun Gothic"/>
                          <a:cs typeface="Malgun Gothic"/>
                        </a:rPr>
                        <a:t>필요량, 보유량, 시간, 기준가 표시</a:t>
                      </a:r>
                    </a:p>
                  </a:txBody>
                  <a:tcPr marL="91440" marR="91440" marT="45720" marB="45720">
                    <a:lnR w="9525">
                      <a:solidFill>
                        <a:srgbClr val="CFD5D5"/>
                      </a:solidFill>
                    </a:lnR>
                    <a:lnB w="9525">
                      <a:solidFill>
                        <a:srgbClr val="CFD5D5"/>
                      </a:solidFill>
                    </a:lnB>
                    <a:solidFill>
                      <a:srgbClr val="F5F4EF"/>
                    </a:solidFill>
                  </a:tcPr>
                </a:tc>
                <a:tc>
                  <a:txBody>
                    <a:bodyPr lIns="114300" tIns="114300" rIns="114300" bIns="114300"/>
                    <a:lstStyle/>
                    <a:p>
                      <a:r>
                        <a:rPr sz="1725" b="0">
                          <a:solidFill>
                            <a:srgbClr val="142633"/>
                          </a:solidFill>
                          <a:latin typeface="Malgun Gothic"/>
                          <a:ea typeface="Malgun Gothic"/>
                          <a:cs typeface="Malgun Gothic"/>
                        </a:rPr>
                        <a:t>생산 전에 조건을 비교</a:t>
                      </a:r>
                    </a:p>
                  </a:txBody>
                  <a:tcPr marL="91440" marR="91440" marT="45720" marB="45720">
                    <a:lnR w="9525">
                      <a:solidFill>
                        <a:srgbClr val="CFD5D5"/>
                      </a:solidFill>
                    </a:lnR>
                    <a:lnB w="9525">
                      <a:solidFill>
                        <a:srgbClr val="CFD5D5"/>
                      </a:solidFill>
                    </a:lnB>
                    <a:solidFill>
                      <a:srgbClr val="F5F4EF"/>
                    </a:solidFill>
                  </a:tcPr>
                </a:tc>
              </a:tr>
              <a:tr h="552450">
                <a:tc>
                  <a:txBody>
                    <a:bodyPr lIns="114300" tIns="114300" rIns="114300" bIns="114300"/>
                    <a:lstStyle/>
                    <a:p>
                      <a:r>
                        <a:rPr sz="1725" b="0">
                          <a:solidFill>
                            <a:srgbClr val="142633"/>
                          </a:solidFill>
                          <a:latin typeface="Malgun Gothic"/>
                          <a:ea typeface="Malgun Gothic"/>
                          <a:cs typeface="Malgun Gothic"/>
                        </a:rPr>
                        <a:t>이 생산품으로 설정</a:t>
                      </a:r>
                    </a:p>
                  </a:txBody>
                  <a:tcPr marL="91440" marR="91440" marT="45720" marB="45720">
                    <a:lnL w="9525">
                      <a:solidFill>
                        <a:srgbClr val="CFD5D5"/>
                      </a:solidFill>
                    </a:lnL>
                    <a:lnR w="9525">
                      <a:solidFill>
                        <a:srgbClr val="CFD5D5"/>
                      </a:solidFill>
                    </a:lnR>
                    <a:lnB w="9525">
                      <a:solidFill>
                        <a:srgbClr val="CFD5D5"/>
                      </a:solidFill>
                    </a:lnB>
                    <a:solidFill>
                      <a:srgbClr val="F5F4EF"/>
                    </a:solidFill>
                  </a:tcPr>
                </a:tc>
                <a:tc>
                  <a:txBody>
                    <a:bodyPr lIns="114300" tIns="114300" rIns="114300" bIns="114300"/>
                    <a:lstStyle/>
                    <a:p>
                      <a:r>
                        <a:rPr sz="1725" b="0">
                          <a:solidFill>
                            <a:srgbClr val="142633"/>
                          </a:solidFill>
                          <a:latin typeface="Malgun Gothic"/>
                          <a:ea typeface="Malgun Gothic"/>
                          <a:cs typeface="Malgun Gothic"/>
                        </a:rPr>
                        <a:t>선택한 레시피 적용</a:t>
                      </a:r>
                    </a:p>
                  </a:txBody>
                  <a:tcPr marL="91440" marR="91440" marT="45720" marB="45720">
                    <a:lnR w="9525">
                      <a:solidFill>
                        <a:srgbClr val="CFD5D5"/>
                      </a:solidFill>
                    </a:lnR>
                    <a:lnB w="9525">
                      <a:solidFill>
                        <a:srgbClr val="CFD5D5"/>
                      </a:solidFill>
                    </a:lnB>
                    <a:solidFill>
                      <a:srgbClr val="F5F4EF"/>
                    </a:solidFill>
                  </a:tcPr>
                </a:tc>
                <a:tc>
                  <a:txBody>
                    <a:bodyPr lIns="114300" tIns="114300" rIns="114300" bIns="114300"/>
                    <a:lstStyle/>
                    <a:p>
                      <a:r>
                        <a:rPr sz="1725" b="0">
                          <a:solidFill>
                            <a:srgbClr val="142633"/>
                          </a:solidFill>
                          <a:latin typeface="Malgun Gothic"/>
                          <a:ea typeface="Malgun Gothic"/>
                          <a:cs typeface="Malgun Gothic"/>
                        </a:rPr>
                        <a:t>다른 레시피는 진행도 초기화</a:t>
                      </a:r>
                    </a:p>
                  </a:txBody>
                  <a:tcPr marL="91440" marR="91440" marT="45720" marB="45720">
                    <a:lnR w="9525">
                      <a:solidFill>
                        <a:srgbClr val="CFD5D5"/>
                      </a:solidFill>
                    </a:lnR>
                    <a:lnB w="9525">
                      <a:solidFill>
                        <a:srgbClr val="CFD5D5"/>
                      </a:solidFill>
                    </a:lnB>
                    <a:solidFill>
                      <a:srgbClr val="F5F4EF"/>
                    </a:solidFill>
                  </a:tcPr>
                </a:tc>
              </a:tr>
              <a:tr h="552450">
                <a:tc>
                  <a:txBody>
                    <a:bodyPr lIns="114300" tIns="114300" rIns="114300" bIns="114300"/>
                    <a:lstStyle/>
                    <a:p>
                      <a:r>
                        <a:rPr sz="1725" b="0">
                          <a:solidFill>
                            <a:srgbClr val="142633"/>
                          </a:solidFill>
                          <a:latin typeface="Malgun Gothic"/>
                          <a:ea typeface="Malgun Gothic"/>
                          <a:cs typeface="Malgun Gothic"/>
                        </a:rPr>
                        <a:t>현재 생산품 유지</a:t>
                      </a:r>
                    </a:p>
                  </a:txBody>
                  <a:tcPr marL="91440" marR="91440" marT="45720" marB="45720">
                    <a:lnL w="9525">
                      <a:solidFill>
                        <a:srgbClr val="CFD5D5"/>
                      </a:solidFill>
                    </a:lnL>
                    <a:lnR w="9525">
                      <a:solidFill>
                        <a:srgbClr val="CFD5D5"/>
                      </a:solidFill>
                    </a:lnR>
                    <a:lnB w="9525">
                      <a:solidFill>
                        <a:srgbClr val="CFD5D5"/>
                      </a:solidFill>
                    </a:lnB>
                    <a:solidFill>
                      <a:srgbClr val="F5F4EF"/>
                    </a:solidFill>
                  </a:tcPr>
                </a:tc>
                <a:tc>
                  <a:txBody>
                    <a:bodyPr lIns="114300" tIns="114300" rIns="114300" bIns="114300"/>
                    <a:lstStyle/>
                    <a:p>
                      <a:r>
                        <a:rPr sz="1725" b="0">
                          <a:solidFill>
                            <a:srgbClr val="142633"/>
                          </a:solidFill>
                          <a:latin typeface="Malgun Gothic"/>
                          <a:ea typeface="Malgun Gothic"/>
                          <a:cs typeface="Malgun Gothic"/>
                        </a:rPr>
                        <a:t>같은 레시피를 유지</a:t>
                      </a:r>
                    </a:p>
                  </a:txBody>
                  <a:tcPr marL="91440" marR="91440" marT="45720" marB="45720">
                    <a:lnR w="9525">
                      <a:solidFill>
                        <a:srgbClr val="CFD5D5"/>
                      </a:solidFill>
                    </a:lnR>
                    <a:lnB w="9525">
                      <a:solidFill>
                        <a:srgbClr val="CFD5D5"/>
                      </a:solidFill>
                    </a:lnB>
                    <a:solidFill>
                      <a:srgbClr val="F5F4EF"/>
                    </a:solidFill>
                  </a:tcPr>
                </a:tc>
                <a:tc>
                  <a:txBody>
                    <a:bodyPr lIns="114300" tIns="114300" rIns="114300" bIns="114300"/>
                    <a:lstStyle/>
                    <a:p>
                      <a:r>
                        <a:rPr sz="1725" b="0">
                          <a:solidFill>
                            <a:srgbClr val="142633"/>
                          </a:solidFill>
                          <a:latin typeface="Malgun Gothic"/>
                          <a:ea typeface="Malgun Gothic"/>
                          <a:cs typeface="Malgun Gothic"/>
                        </a:rPr>
                        <a:t>기존 진행도를 보존</a:t>
                      </a:r>
                    </a:p>
                  </a:txBody>
                  <a:tcPr marL="91440" marR="91440" marT="45720" marB="45720">
                    <a:lnR w="9525">
                      <a:solidFill>
                        <a:srgbClr val="CFD5D5"/>
                      </a:solidFill>
                    </a:lnR>
                    <a:lnB w="9525">
                      <a:solidFill>
                        <a:srgbClr val="CFD5D5"/>
                      </a:solidFill>
                    </a:lnB>
                    <a:solidFill>
                      <a:srgbClr val="F5F4EF"/>
                    </a:solidFill>
                  </a:tcPr>
                </a:tc>
              </a:tr>
              <a:tr h="552450">
                <a:tc>
                  <a:txBody>
                    <a:bodyPr lIns="114300" tIns="114300" rIns="114300" bIns="114300"/>
                    <a:lstStyle/>
                    <a:p>
                      <a:r>
                        <a:rPr sz="1725" b="0">
                          <a:solidFill>
                            <a:srgbClr val="142633"/>
                          </a:solidFill>
                          <a:latin typeface="Malgun Gothic"/>
                          <a:ea typeface="Malgun Gothic"/>
                          <a:cs typeface="Malgun Gothic"/>
                        </a:rPr>
                        <a:t>생산 중지</a:t>
                      </a:r>
                    </a:p>
                  </a:txBody>
                  <a:tcPr marL="91440" marR="91440" marT="45720" marB="45720">
                    <a:lnL w="9525">
                      <a:solidFill>
                        <a:srgbClr val="CFD5D5"/>
                      </a:solidFill>
                    </a:lnL>
                    <a:lnR w="9525">
                      <a:solidFill>
                        <a:srgbClr val="CFD5D5"/>
                      </a:solidFill>
                    </a:lnR>
                    <a:lnB w="9525">
                      <a:solidFill>
                        <a:srgbClr val="CFD5D5"/>
                      </a:solidFill>
                    </a:lnB>
                    <a:solidFill>
                      <a:srgbClr val="F5F4EF"/>
                    </a:solidFill>
                  </a:tcPr>
                </a:tc>
                <a:tc>
                  <a:txBody>
                    <a:bodyPr lIns="114300" tIns="114300" rIns="114300" bIns="114300"/>
                    <a:lstStyle/>
                    <a:p>
                      <a:r>
                        <a:rPr sz="1725" b="0">
                          <a:solidFill>
                            <a:srgbClr val="142633"/>
                          </a:solidFill>
                          <a:latin typeface="Malgun Gothic"/>
                          <a:ea typeface="Malgun Gothic"/>
                          <a:cs typeface="Malgun Gothic"/>
                        </a:rPr>
                        <a:t>레시피와 진행도 초기화</a:t>
                      </a:r>
                    </a:p>
                  </a:txBody>
                  <a:tcPr marL="91440" marR="91440" marT="45720" marB="45720">
                    <a:lnR w="9525">
                      <a:solidFill>
                        <a:srgbClr val="CFD5D5"/>
                      </a:solidFill>
                    </a:lnR>
                    <a:lnB w="9525">
                      <a:solidFill>
                        <a:srgbClr val="CFD5D5"/>
                      </a:solidFill>
                    </a:lnB>
                    <a:solidFill>
                      <a:srgbClr val="F5F4EF"/>
                    </a:solidFill>
                  </a:tcPr>
                </a:tc>
                <a:tc>
                  <a:txBody>
                    <a:bodyPr lIns="114300" tIns="114300" rIns="114300" bIns="114300"/>
                    <a:lstStyle/>
                    <a:p>
                      <a:r>
                        <a:rPr sz="1725" b="0">
                          <a:solidFill>
                            <a:srgbClr val="142633"/>
                          </a:solidFill>
                          <a:latin typeface="Malgun Gothic"/>
                          <a:ea typeface="Malgun Gothic"/>
                          <a:cs typeface="Malgun Gothic"/>
                        </a:rPr>
                        <a:t>생산 중단을 명시적으로 실행</a:t>
                      </a:r>
                    </a:p>
                  </a:txBody>
                  <a:tcPr marL="91440" marR="91440" marT="45720" marB="45720">
                    <a:lnR w="9525">
                      <a:solidFill>
                        <a:srgbClr val="CFD5D5"/>
                      </a:solidFill>
                    </a:lnR>
                    <a:lnB w="9525">
                      <a:solidFill>
                        <a:srgbClr val="CFD5D5"/>
                      </a:solidFill>
                    </a:lnB>
                    <a:solidFill>
                      <a:srgbClr val="F5F4EF"/>
                    </a:solidFill>
                  </a:tcPr>
                </a:tc>
              </a:tr>
              <a:tr h="552450">
                <a:tc>
                  <a:txBody>
                    <a:bodyPr lIns="114300" tIns="114300" rIns="114300" bIns="114300"/>
                    <a:lstStyle/>
                    <a:p>
                      <a:r>
                        <a:rPr sz="1725" b="0">
                          <a:solidFill>
                            <a:srgbClr val="142633"/>
                          </a:solidFill>
                          <a:latin typeface="Malgun Gothic"/>
                          <a:ea typeface="Malgun Gothic"/>
                          <a:cs typeface="Malgun Gothic"/>
                        </a:rPr>
                        <a:t>철거 / 닫기</a:t>
                      </a:r>
                    </a:p>
                  </a:txBody>
                  <a:tcPr marL="91440" marR="91440" marT="45720" marB="45720">
                    <a:lnL w="9525">
                      <a:solidFill>
                        <a:srgbClr val="CFD5D5"/>
                      </a:solidFill>
                    </a:lnL>
                    <a:lnR w="9525">
                      <a:solidFill>
                        <a:srgbClr val="CFD5D5"/>
                      </a:solidFill>
                    </a:lnR>
                    <a:lnB w="9525">
                      <a:solidFill>
                        <a:srgbClr val="CFD5D5"/>
                      </a:solidFill>
                    </a:lnB>
                    <a:solidFill>
                      <a:srgbClr val="F5F4EF"/>
                    </a:solidFill>
                  </a:tcPr>
                </a:tc>
                <a:tc>
                  <a:txBody>
                    <a:bodyPr lIns="114300" tIns="114300" rIns="114300" bIns="114300"/>
                    <a:lstStyle/>
                    <a:p>
                      <a:r>
                        <a:rPr sz="1725" b="0">
                          <a:solidFill>
                            <a:srgbClr val="142633"/>
                          </a:solidFill>
                          <a:latin typeface="Malgun Gothic"/>
                          <a:ea typeface="Malgun Gothic"/>
                          <a:cs typeface="Malgun Gothic"/>
                        </a:rPr>
                        <a:t>철거 확인 / 팝업 종료</a:t>
                      </a:r>
                    </a:p>
                  </a:txBody>
                  <a:tcPr marL="91440" marR="91440" marT="45720" marB="45720">
                    <a:lnR w="9525">
                      <a:solidFill>
                        <a:srgbClr val="CFD5D5"/>
                      </a:solidFill>
                    </a:lnR>
                    <a:lnB w="9525">
                      <a:solidFill>
                        <a:srgbClr val="CFD5D5"/>
                      </a:solidFill>
                    </a:lnB>
                    <a:solidFill>
                      <a:srgbClr val="F5F4EF"/>
                    </a:solidFill>
                  </a:tcPr>
                </a:tc>
                <a:tc>
                  <a:txBody>
                    <a:bodyPr lIns="114300" tIns="114300" rIns="114300" bIns="114300"/>
                    <a:lstStyle/>
                    <a:p>
                      <a:r>
                        <a:rPr sz="1725" b="0">
                          <a:solidFill>
                            <a:srgbClr val="142633"/>
                          </a:solidFill>
                          <a:latin typeface="Malgun Gothic"/>
                          <a:ea typeface="Malgun Gothic"/>
                          <a:cs typeface="Malgun Gothic"/>
                        </a:rPr>
                        <a:t>철거 전에 재고 이관 조건 검사</a:t>
                      </a:r>
                    </a:p>
                  </a:txBody>
                  <a:tcPr marL="91440" marR="91440" marT="45720" marB="45720">
                    <a:lnR w="9525">
                      <a:solidFill>
                        <a:srgbClr val="CFD5D5"/>
                      </a:solidFill>
                    </a:lnR>
                    <a:lnB w="9525">
                      <a:solidFill>
                        <a:srgbClr val="CFD5D5"/>
                      </a:solidFill>
                    </a:lnB>
                    <a:solidFill>
                      <a:srgbClr val="F5F4EF"/>
                    </a:solidFill>
                  </a:tcPr>
                </a:tc>
              </a:tr>
            </a:tbl>
          </a:graphicData>
        </a:graphic>
      </p:graphicFrame>
      <p:sp>
        <p:nvSpPr>
          <p:cNvPr id="4" name="page">
            <a:extLst xmlns:a="http://schemas.openxmlformats.org/drawingml/2006/main">
              <a:ext uri="{FF2B5EF4-FFF2-40B4-BE49-F238E27FC236}">
                <a16:creationId xmlns:a16="http://schemas.microsoft.com/office/drawing/2014/main" id="{3F3235B4-31B6-45DA-95C4-6939E4D84BF8}"/>
              </a:ext>
            </a:extLst>
          </p:cNvPr>
          <p:cNvSpPr>
            <a:spLocks xmlns:a="http://schemas.openxmlformats.org/drawingml/2006/main" noGrp="1"/>
          </p:cNvSpPr>
          <p:nvPr/>
        </p:nvSpPr>
        <p:spPr>
          <a:xfrm xmlns:a="http://schemas.openxmlformats.org/drawingml/2006/main">
            <a:off x="11087100" y="6353175"/>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425966"/>
                </a:solidFill>
                <a:latin typeface="Malgun Gothic"/>
                <a:ea typeface="Malgun Gothic"/>
                <a:cs typeface="Malgun Gothic"/>
              </a:defRPr>
            </a:defPPr>
          </a:lstStyle>
          <a:p xmlns:a="http://schemas.openxmlformats.org/drawingml/2006/main">
            <a:pPr>
              <a:buNone/>
              <a:defRPr sz="1500" b="0">
                <a:solidFill>
                  <a:srgbClr val="425966"/>
                </a:solidFill>
                <a:latin typeface="Malgun Gothic"/>
                <a:ea typeface="Malgun Gothic"/>
                <a:cs typeface="Malgun Gothic"/>
              </a:defRPr>
            </a:pPr>
            <a:r>
              <a:rPr sz="1500" b="0">
                <a:solidFill>
                  <a:srgbClr val="425966"/>
                </a:solidFill>
                <a:latin typeface="Malgun Gothic"/>
                <a:ea typeface="Malgun Gothic"/>
                <a:cs typeface="Malgun Gothic"/>
              </a:rPr>
              <a:t>09</a:t>
            </a:r>
          </a:p>
        </p:txBody>
      </p:sp>
    </p:spTree>
    <p:extLst>
      <p:ext uri="{BB962C8B-B14F-4D97-AF65-F5344CB8AC3E}">
        <p14:creationId xmlns:p14="http://schemas.microsoft.com/office/powerpoint/2010/main" val="1897581118"/>
      </p:ext>
    </p:extLst>
  </p:cSld>
</p:sld>
</file>

<file path=ppt/slides/slide10.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44D81FBC-7432-453C-89C7-893C904905F6}"/>
              </a:ext>
            </a:extLst>
          </p:cNvPr>
          <p:cNvSpPr>
            <a:spLocks xmlns:a="http://schemas.openxmlformats.org/drawingml/2006/main" noGrp="1"/>
          </p:cNvSpPr>
          <p:nvPr/>
        </p:nvSpPr>
        <p:spPr>
          <a:xfrm xmlns:a="http://schemas.openxmlformats.org/drawingml/2006/main">
            <a:off x="609600" y="5715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633"/>
                </a:solidFill>
                <a:latin typeface="Malgun Gothic"/>
                <a:ea typeface="Malgun Gothic"/>
                <a:cs typeface="Malgun Gothic"/>
              </a:defRPr>
            </a:defPPr>
          </a:lstStyle>
          <a:p xmlns:a="http://schemas.openxmlformats.org/drawingml/2006/main">
            <a:pPr>
              <a:buNone/>
              <a:defRPr sz="3300" b="1">
                <a:solidFill>
                  <a:srgbClr val="142633"/>
                </a:solidFill>
                <a:latin typeface="Malgun Gothic"/>
                <a:ea typeface="Malgun Gothic"/>
                <a:cs typeface="Malgun Gothic"/>
              </a:defRPr>
            </a:pPr>
            <a:r>
              <a:rPr sz="3300" b="1">
                <a:solidFill>
                  <a:srgbClr val="142633"/>
                </a:solidFill>
                <a:latin typeface="Malgun Gothic"/>
                <a:ea typeface="Malgun Gothic"/>
                <a:cs typeface="Malgun Gothic"/>
              </a:rPr>
              <a:t>물류 설계 사례</a:t>
            </a:r>
          </a:p>
        </p:txBody>
      </p:sp>
      <p:sp>
        <p:nvSpPr>
          <p:cNvPr id="2" name="lead">
            <a:extLst xmlns:a="http://schemas.openxmlformats.org/drawingml/2006/main">
              <a:ext uri="{FF2B5EF4-FFF2-40B4-BE49-F238E27FC236}">
                <a16:creationId xmlns:a16="http://schemas.microsoft.com/office/drawing/2014/main" id="{53014104-7484-41A4-AF1A-89A132B9B578}"/>
              </a:ext>
            </a:extLst>
          </p:cNvPr>
          <p:cNvSpPr>
            <a:spLocks xmlns:a="http://schemas.openxmlformats.org/drawingml/2006/main" noGrp="1"/>
          </p:cNvSpPr>
          <p:nvPr/>
        </p:nvSpPr>
        <p:spPr>
          <a:xfrm xmlns:a="http://schemas.openxmlformats.org/drawingml/2006/main">
            <a:off x="609600" y="14573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B95B12"/>
                </a:solidFill>
                <a:latin typeface="Malgun Gothic"/>
                <a:ea typeface="Malgun Gothic"/>
                <a:cs typeface="Malgun Gothic"/>
              </a:defRPr>
            </a:defPPr>
          </a:lstStyle>
          <a:p xmlns:a="http://schemas.openxmlformats.org/drawingml/2006/main">
            <a:pPr>
              <a:buNone/>
              <a:defRPr sz="2100" b="0">
                <a:solidFill>
                  <a:srgbClr val="B95B12"/>
                </a:solidFill>
                <a:latin typeface="Malgun Gothic"/>
                <a:ea typeface="Malgun Gothic"/>
                <a:cs typeface="Malgun Gothic"/>
              </a:defRPr>
            </a:pPr>
            <a:r>
              <a:rPr sz="2100" b="0">
                <a:solidFill>
                  <a:srgbClr val="B95B12"/>
                </a:solidFill>
                <a:latin typeface="Malgun Gothic"/>
                <a:ea typeface="Malgun Gothic"/>
                <a:cs typeface="Malgun Gothic"/>
              </a:rPr>
              <a:t>자동 운반과 혜성 간 수송을 다른 규모로 구성</a:t>
            </a:r>
          </a:p>
        </p:txBody>
      </p:sp>
      <p:sp>
        <p:nvSpPr>
          <p:cNvPr id="3" name="item-heading">
            <a:extLst xmlns:a="http://schemas.openxmlformats.org/drawingml/2006/main">
              <a:ext uri="{FF2B5EF4-FFF2-40B4-BE49-F238E27FC236}">
                <a16:creationId xmlns:a16="http://schemas.microsoft.com/office/drawing/2014/main" id="{3B50D6FD-F8FE-45EE-9AA1-17C1AFCE9FB4}"/>
              </a:ext>
            </a:extLst>
          </p:cNvPr>
          <p:cNvSpPr>
            <a:spLocks xmlns:a="http://schemas.openxmlformats.org/drawingml/2006/main" noGrp="1"/>
          </p:cNvSpPr>
          <p:nvPr/>
        </p:nvSpPr>
        <p:spPr>
          <a:xfrm xmlns:a="http://schemas.openxmlformats.org/drawingml/2006/main">
            <a:off x="609600" y="2381250"/>
            <a:ext cx="676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42633"/>
                </a:solidFill>
                <a:latin typeface="Malgun Gothic"/>
                <a:ea typeface="Malgun Gothic"/>
                <a:cs typeface="Malgun Gothic"/>
              </a:defRPr>
            </a:defPPr>
          </a:lstStyle>
          <a:p xmlns:a="http://schemas.openxmlformats.org/drawingml/2006/main">
            <a:pPr>
              <a:buNone/>
              <a:defRPr sz="2025" b="1">
                <a:solidFill>
                  <a:srgbClr val="142633"/>
                </a:solidFill>
                <a:latin typeface="Malgun Gothic"/>
                <a:ea typeface="Malgun Gothic"/>
                <a:cs typeface="Malgun Gothic"/>
              </a:defRPr>
            </a:pPr>
            <a:r>
              <a:rPr sz="2025" b="1">
                <a:solidFill>
                  <a:srgbClr val="142633"/>
                </a:solidFill>
                <a:latin typeface="Malgun Gothic"/>
                <a:ea typeface="Malgun Gothic"/>
                <a:cs typeface="Malgun Gothic"/>
              </a:rPr>
              <a:t>혜성 내부</a:t>
            </a:r>
          </a:p>
        </p:txBody>
      </p:sp>
      <p:sp>
        <p:nvSpPr>
          <p:cNvPr id="4" name="body">
            <a:extLst xmlns:a="http://schemas.openxmlformats.org/drawingml/2006/main">
              <a:ext uri="{FF2B5EF4-FFF2-40B4-BE49-F238E27FC236}">
                <a16:creationId xmlns:a16="http://schemas.microsoft.com/office/drawing/2014/main" id="{5B2011D3-3A8A-4A2F-A410-7CF208120B8B}"/>
              </a:ext>
            </a:extLst>
          </p:cNvPr>
          <p:cNvSpPr>
            <a:spLocks xmlns:a="http://schemas.openxmlformats.org/drawingml/2006/main" noGrp="1"/>
          </p:cNvSpPr>
          <p:nvPr/>
        </p:nvSpPr>
        <p:spPr>
          <a:xfrm xmlns:a="http://schemas.openxmlformats.org/drawingml/2006/main">
            <a:off x="609600" y="2790825"/>
            <a:ext cx="6762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425966"/>
                </a:solidFill>
                <a:latin typeface="Malgun Gothic"/>
                <a:ea typeface="Malgun Gothic"/>
                <a:cs typeface="Malgun Gothic"/>
              </a:defRPr>
            </a:defPPr>
          </a:lstStyle>
          <a:p xmlns:a="http://schemas.openxmlformats.org/drawingml/2006/main">
            <a:pPr>
              <a:buNone/>
              <a:defRPr sz="1875" b="0">
                <a:solidFill>
                  <a:srgbClr val="425966"/>
                </a:solidFill>
                <a:latin typeface="Malgun Gothic"/>
                <a:ea typeface="Malgun Gothic"/>
                <a:cs typeface="Malgun Gothic"/>
              </a:defRPr>
            </a:pPr>
            <a:r>
              <a:rPr sz="1875" b="0">
                <a:solidFill>
                  <a:srgbClr val="425966"/>
                </a:solidFill>
                <a:latin typeface="Malgun Gothic"/>
                <a:ea typeface="Malgun Gothic"/>
                <a:cs typeface="Malgun Gothic"/>
              </a:rPr>
              <a:t>창고의 지원 드론이 시설 재고와 생산 재료를 자동으로 운반합니다. 빈 이동 통로가 필요합니다.</a:t>
            </a:r>
          </a:p>
        </p:txBody>
      </p:sp>
      <p:sp>
        <p:nvSpPr>
          <p:cNvPr id="5" name="item-heading">
            <a:extLst xmlns:a="http://schemas.openxmlformats.org/drawingml/2006/main">
              <a:ext uri="{FF2B5EF4-FFF2-40B4-BE49-F238E27FC236}">
                <a16:creationId xmlns:a16="http://schemas.microsoft.com/office/drawing/2014/main" id="{890F5AC4-CD75-4C30-8542-98463C43A4A9}"/>
              </a:ext>
            </a:extLst>
          </p:cNvPr>
          <p:cNvSpPr>
            <a:spLocks xmlns:a="http://schemas.openxmlformats.org/drawingml/2006/main" noGrp="1"/>
          </p:cNvSpPr>
          <p:nvPr/>
        </p:nvSpPr>
        <p:spPr>
          <a:xfrm xmlns:a="http://schemas.openxmlformats.org/drawingml/2006/main">
            <a:off x="609600" y="3524250"/>
            <a:ext cx="676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42633"/>
                </a:solidFill>
                <a:latin typeface="Malgun Gothic"/>
                <a:ea typeface="Malgun Gothic"/>
                <a:cs typeface="Malgun Gothic"/>
              </a:defRPr>
            </a:defPPr>
          </a:lstStyle>
          <a:p xmlns:a="http://schemas.openxmlformats.org/drawingml/2006/main">
            <a:pPr>
              <a:buNone/>
              <a:defRPr sz="2025" b="1">
                <a:solidFill>
                  <a:srgbClr val="142633"/>
                </a:solidFill>
                <a:latin typeface="Malgun Gothic"/>
                <a:ea typeface="Malgun Gothic"/>
                <a:cs typeface="Malgun Gothic"/>
              </a:defRPr>
            </a:pPr>
            <a:r>
              <a:rPr sz="2025" b="1">
                <a:solidFill>
                  <a:srgbClr val="142633"/>
                </a:solidFill>
                <a:latin typeface="Malgun Gothic"/>
                <a:ea typeface="Malgun Gothic"/>
                <a:cs typeface="Malgun Gothic"/>
              </a:rPr>
              <a:t>혜성 사이</a:t>
            </a:r>
          </a:p>
        </p:txBody>
      </p:sp>
      <p:sp>
        <p:nvSpPr>
          <p:cNvPr id="6" name="body">
            <a:extLst xmlns:a="http://schemas.openxmlformats.org/drawingml/2006/main">
              <a:ext uri="{FF2B5EF4-FFF2-40B4-BE49-F238E27FC236}">
                <a16:creationId xmlns:a16="http://schemas.microsoft.com/office/drawing/2014/main" id="{B9F9CEB7-ABB0-4B6C-A6A6-431748AED6C9}"/>
              </a:ext>
            </a:extLst>
          </p:cNvPr>
          <p:cNvSpPr>
            <a:spLocks xmlns:a="http://schemas.openxmlformats.org/drawingml/2006/main" noGrp="1"/>
          </p:cNvSpPr>
          <p:nvPr/>
        </p:nvSpPr>
        <p:spPr>
          <a:xfrm xmlns:a="http://schemas.openxmlformats.org/drawingml/2006/main">
            <a:off x="609600" y="3933825"/>
            <a:ext cx="6762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425966"/>
                </a:solidFill>
                <a:latin typeface="Malgun Gothic"/>
                <a:ea typeface="Malgun Gothic"/>
                <a:cs typeface="Malgun Gothic"/>
              </a:defRPr>
            </a:defPPr>
          </a:lstStyle>
          <a:p xmlns:a="http://schemas.openxmlformats.org/drawingml/2006/main">
            <a:pPr>
              <a:buNone/>
              <a:defRPr sz="1875" b="0">
                <a:solidFill>
                  <a:srgbClr val="425966"/>
                </a:solidFill>
                <a:latin typeface="Malgun Gothic"/>
                <a:ea typeface="Malgun Gothic"/>
                <a:cs typeface="Malgun Gothic"/>
              </a:defRPr>
            </a:pPr>
            <a:r>
              <a:rPr sz="1875" b="0">
                <a:solidFill>
                  <a:srgbClr val="425966"/>
                </a:solidFill>
                <a:latin typeface="Malgun Gothic"/>
                <a:ea typeface="Malgun Gothic"/>
                <a:cs typeface="Malgun Gothic"/>
              </a:rPr>
              <a:t>플레이어가 출발지, 도착지, 소재와 수량을 선택해 수송선을 보냅니다.</a:t>
            </a:r>
          </a:p>
        </p:txBody>
      </p:sp>
      <p:sp>
        <p:nvSpPr>
          <p:cNvPr id="7" name="item-heading">
            <a:extLst xmlns:a="http://schemas.openxmlformats.org/drawingml/2006/main">
              <a:ext uri="{FF2B5EF4-FFF2-40B4-BE49-F238E27FC236}">
                <a16:creationId xmlns:a16="http://schemas.microsoft.com/office/drawing/2014/main" id="{74C0AD12-C51E-4F96-B241-1EEBB38A4AF7}"/>
              </a:ext>
            </a:extLst>
          </p:cNvPr>
          <p:cNvSpPr>
            <a:spLocks xmlns:a="http://schemas.openxmlformats.org/drawingml/2006/main" noGrp="1"/>
          </p:cNvSpPr>
          <p:nvPr/>
        </p:nvSpPr>
        <p:spPr>
          <a:xfrm xmlns:a="http://schemas.openxmlformats.org/drawingml/2006/main">
            <a:off x="609600" y="4667250"/>
            <a:ext cx="676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42633"/>
                </a:solidFill>
                <a:latin typeface="Malgun Gothic"/>
                <a:ea typeface="Malgun Gothic"/>
                <a:cs typeface="Malgun Gothic"/>
              </a:defRPr>
            </a:defPPr>
          </a:lstStyle>
          <a:p xmlns:a="http://schemas.openxmlformats.org/drawingml/2006/main">
            <a:pPr>
              <a:buNone/>
              <a:defRPr sz="2025" b="1">
                <a:solidFill>
                  <a:srgbClr val="142633"/>
                </a:solidFill>
                <a:latin typeface="Malgun Gothic"/>
                <a:ea typeface="Malgun Gothic"/>
                <a:cs typeface="Malgun Gothic"/>
              </a:defRPr>
            </a:pPr>
            <a:r>
              <a:rPr sz="2025" b="1">
                <a:solidFill>
                  <a:srgbClr val="142633"/>
                </a:solidFill>
                <a:latin typeface="Malgun Gothic"/>
                <a:ea typeface="Malgun Gothic"/>
                <a:cs typeface="Malgun Gothic"/>
              </a:rPr>
              <a:t>도착 처리</a:t>
            </a:r>
          </a:p>
        </p:txBody>
      </p:sp>
      <p:sp>
        <p:nvSpPr>
          <p:cNvPr id="8" name="body">
            <a:extLst xmlns:a="http://schemas.openxmlformats.org/drawingml/2006/main">
              <a:ext uri="{FF2B5EF4-FFF2-40B4-BE49-F238E27FC236}">
                <a16:creationId xmlns:a16="http://schemas.microsoft.com/office/drawing/2014/main" id="{DF8D472C-E23E-42A9-B33F-CD842BFA39CD}"/>
              </a:ext>
            </a:extLst>
          </p:cNvPr>
          <p:cNvSpPr>
            <a:spLocks xmlns:a="http://schemas.openxmlformats.org/drawingml/2006/main" noGrp="1"/>
          </p:cNvSpPr>
          <p:nvPr/>
        </p:nvSpPr>
        <p:spPr>
          <a:xfrm xmlns:a="http://schemas.openxmlformats.org/drawingml/2006/main">
            <a:off x="609600" y="5076825"/>
            <a:ext cx="6762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425966"/>
                </a:solidFill>
                <a:latin typeface="Malgun Gothic"/>
                <a:ea typeface="Malgun Gothic"/>
                <a:cs typeface="Malgun Gothic"/>
              </a:defRPr>
            </a:defPPr>
          </a:lstStyle>
          <a:p xmlns:a="http://schemas.openxmlformats.org/drawingml/2006/main">
            <a:pPr>
              <a:buNone/>
              <a:defRPr sz="1875" b="0">
                <a:solidFill>
                  <a:srgbClr val="425966"/>
                </a:solidFill>
                <a:latin typeface="Malgun Gothic"/>
                <a:ea typeface="Malgun Gothic"/>
                <a:cs typeface="Malgun Gothic"/>
              </a:defRPr>
            </a:pPr>
            <a:r>
              <a:rPr sz="1875" b="0">
                <a:solidFill>
                  <a:srgbClr val="425966"/>
                </a:solidFill>
                <a:latin typeface="Malgun Gothic"/>
                <a:ea typeface="Malgun Gothic"/>
                <a:cs typeface="Malgun Gothic"/>
              </a:rPr>
              <a:t>항구 공간이 부족하면 남은 화물을 선내에 보관하고 하역을 기다립니다.</a:t>
            </a:r>
          </a:p>
        </p:txBody>
      </p:sp>
      <p:pic>
        <p:nvPicPr>
          <p:cNvPr id="9" name="">
            <a:extLst xmlns:a="http://schemas.openxmlformats.org/drawingml/2006/main">
              <a:ext uri="{FF2B5EF4-FFF2-40B4-BE49-F238E27FC236}">
                <a16:creationId xmlns:a16="http://schemas.microsoft.com/office/drawing/2014/main" id="{15B5FE3A-B139-48C7-BB40-9D3D10624E7B}"/>
              </a:ext>
            </a:extLst>
          </p:cNvPr>
          <p:cNvPicPr>
            <a:picLocks xmlns:a="http://schemas.openxmlformats.org/drawingml/2006/main" noChangeAspect="1"/>
          </p:cNvPicPr>
          <p:nvPr/>
        </p:nvPicPr>
        <p:blipFill>
          <a:blip xmlns:r="http://schemas.openxmlformats.org/officeDocument/2006/relationships" xmlns:a="http://schemas.openxmlformats.org/drawingml/2006/main" r:embed="R32c553fab6584c90"/>
          <a:stretch xmlns:a="http://schemas.openxmlformats.org/drawingml/2006/main"/>
        </p:blipFill>
        <p:spPr>
          <a:xfrm xmlns:a="http://schemas.openxmlformats.org/drawingml/2006/main">
            <a:off x="8181975" y="2209800"/>
            <a:ext cx="3143250" cy="3143250"/>
          </a:xfrm>
          <a:prstGeom xmlns:a="http://schemas.openxmlformats.org/drawingml/2006/main" prst="rect">
            <a:avLst/>
          </a:prstGeom>
        </p:spPr>
      </p:pic>
      <p:sp>
        <p:nvSpPr>
          <p:cNvPr id="10" name="body">
            <a:extLst xmlns:a="http://schemas.openxmlformats.org/drawingml/2006/main">
              <a:ext uri="{FF2B5EF4-FFF2-40B4-BE49-F238E27FC236}">
                <a16:creationId xmlns:a16="http://schemas.microsoft.com/office/drawing/2014/main" id="{28E711C6-0661-4B44-9B6C-72E139B2F212}"/>
              </a:ext>
            </a:extLst>
          </p:cNvPr>
          <p:cNvSpPr>
            <a:spLocks xmlns:a="http://schemas.openxmlformats.org/drawingml/2006/main" noGrp="1"/>
          </p:cNvSpPr>
          <p:nvPr/>
        </p:nvSpPr>
        <p:spPr>
          <a:xfrm xmlns:a="http://schemas.openxmlformats.org/drawingml/2006/main">
            <a:off x="7943850" y="5581650"/>
            <a:ext cx="361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425966"/>
                </a:solidFill>
                <a:latin typeface="Malgun Gothic"/>
                <a:ea typeface="Malgun Gothic"/>
                <a:cs typeface="Malgun Gothic"/>
              </a:defRPr>
            </a:defPPr>
          </a:lstStyle>
          <a:p xmlns:a="http://schemas.openxmlformats.org/drawingml/2006/main">
            <a:pPr>
              <a:buNone/>
              <a:defRPr sz="1725" b="0">
                <a:solidFill>
                  <a:srgbClr val="425966"/>
                </a:solidFill>
                <a:latin typeface="Malgun Gothic"/>
                <a:ea typeface="Malgun Gothic"/>
                <a:cs typeface="Malgun Gothic"/>
              </a:defRPr>
            </a:pPr>
            <a:r>
              <a:rPr sz="1725" b="0">
                <a:solidFill>
                  <a:srgbClr val="425966"/>
                </a:solidFill>
                <a:latin typeface="Malgun Gothic"/>
                <a:ea typeface="Malgun Gothic"/>
                <a:cs typeface="Malgun Gothic"/>
              </a:rPr>
              <a:t>프로젝트 내 시설 아트</a:t>
            </a:r>
          </a:p>
        </p:txBody>
      </p:sp>
      <p:sp>
        <p:nvSpPr>
          <p:cNvPr id="11" name="body">
            <a:extLst xmlns:a="http://schemas.openxmlformats.org/drawingml/2006/main">
              <a:ext uri="{FF2B5EF4-FFF2-40B4-BE49-F238E27FC236}">
                <a16:creationId xmlns:a16="http://schemas.microsoft.com/office/drawing/2014/main" id="{CDEE9A69-D879-4158-A9BE-2303008004FC}"/>
              </a:ext>
            </a:extLst>
          </p:cNvPr>
          <p:cNvSpPr>
            <a:spLocks xmlns:a="http://schemas.openxmlformats.org/drawingml/2006/main" noGrp="1"/>
          </p:cNvSpPr>
          <p:nvPr/>
        </p:nvSpPr>
        <p:spPr>
          <a:xfrm xmlns:a="http://schemas.openxmlformats.org/drawingml/2006/main">
            <a:off x="11087100" y="6353175"/>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425966"/>
                </a:solidFill>
                <a:latin typeface="Malgun Gothic"/>
                <a:ea typeface="Malgun Gothic"/>
                <a:cs typeface="Malgun Gothic"/>
              </a:defRPr>
            </a:defPPr>
          </a:lstStyle>
          <a:p xmlns:a="http://schemas.openxmlformats.org/drawingml/2006/main">
            <a:pPr>
              <a:buNone/>
              <a:defRPr sz="1500" b="0">
                <a:solidFill>
                  <a:srgbClr val="425966"/>
                </a:solidFill>
                <a:latin typeface="Malgun Gothic"/>
                <a:ea typeface="Malgun Gothic"/>
                <a:cs typeface="Malgun Gothic"/>
              </a:defRPr>
            </a:pPr>
            <a:r>
              <a:rPr sz="1500" b="0">
                <a:solidFill>
                  <a:srgbClr val="425966"/>
                </a:solidFill>
                <a:latin typeface="Malgun Gothic"/>
                <a:ea typeface="Malgun Gothic"/>
                <a:cs typeface="Malgun Gothic"/>
              </a:rPr>
              <a:t>10</a:t>
            </a:r>
          </a:p>
        </p:txBody>
      </p:sp>
    </p:spTree>
    <p:extLst>
      <p:ext uri="{BB962C8B-B14F-4D97-AF65-F5344CB8AC3E}">
        <p14:creationId xmlns:p14="http://schemas.microsoft.com/office/powerpoint/2010/main" val="913712673"/>
      </p:ext>
    </p:extLst>
  </p:cSld>
</p:sld>
</file>

<file path=ppt/slides/slide11.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70B27201-7F45-4FBF-A464-CB9C0E2AA2F8}"/>
              </a:ext>
            </a:extLst>
          </p:cNvPr>
          <p:cNvSpPr>
            <a:spLocks xmlns:a="http://schemas.openxmlformats.org/drawingml/2006/main" noGrp="1"/>
          </p:cNvSpPr>
          <p:nvPr/>
        </p:nvSpPr>
        <p:spPr>
          <a:xfrm xmlns:a="http://schemas.openxmlformats.org/drawingml/2006/main">
            <a:off x="609600" y="5715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633"/>
                </a:solidFill>
                <a:latin typeface="Malgun Gothic"/>
                <a:ea typeface="Malgun Gothic"/>
                <a:cs typeface="Malgun Gothic"/>
              </a:defRPr>
            </a:defPPr>
          </a:lstStyle>
          <a:p xmlns:a="http://schemas.openxmlformats.org/drawingml/2006/main">
            <a:pPr>
              <a:buNone/>
              <a:defRPr sz="3300" b="1">
                <a:solidFill>
                  <a:srgbClr val="142633"/>
                </a:solidFill>
                <a:latin typeface="Malgun Gothic"/>
                <a:ea typeface="Malgun Gothic"/>
                <a:cs typeface="Malgun Gothic"/>
              </a:defRPr>
            </a:pPr>
            <a:r>
              <a:rPr sz="3300" b="1">
                <a:solidFill>
                  <a:srgbClr val="142633"/>
                </a:solidFill>
                <a:latin typeface="Malgun Gothic"/>
                <a:ea typeface="Malgun Gothic"/>
                <a:cs typeface="Malgun Gothic"/>
              </a:rPr>
              <a:t>거래와 경영 정보</a:t>
            </a:r>
          </a:p>
        </p:txBody>
      </p:sp>
      <p:sp>
        <p:nvSpPr>
          <p:cNvPr id="2" name="lead">
            <a:extLst xmlns:a="http://schemas.openxmlformats.org/drawingml/2006/main">
              <a:ext uri="{FF2B5EF4-FFF2-40B4-BE49-F238E27FC236}">
                <a16:creationId xmlns:a16="http://schemas.microsoft.com/office/drawing/2014/main" id="{D8314CB5-F171-47C5-8735-6E62AA0B43A3}"/>
              </a:ext>
            </a:extLst>
          </p:cNvPr>
          <p:cNvSpPr>
            <a:spLocks xmlns:a="http://schemas.openxmlformats.org/drawingml/2006/main" noGrp="1"/>
          </p:cNvSpPr>
          <p:nvPr/>
        </p:nvSpPr>
        <p:spPr>
          <a:xfrm xmlns:a="http://schemas.openxmlformats.org/drawingml/2006/main">
            <a:off x="609600" y="14573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B95B12"/>
                </a:solidFill>
                <a:latin typeface="Malgun Gothic"/>
                <a:ea typeface="Malgun Gothic"/>
                <a:cs typeface="Malgun Gothic"/>
              </a:defRPr>
            </a:defPPr>
          </a:lstStyle>
          <a:p xmlns:a="http://schemas.openxmlformats.org/drawingml/2006/main">
            <a:pPr>
              <a:buNone/>
              <a:defRPr sz="2100" b="0">
                <a:solidFill>
                  <a:srgbClr val="B95B12"/>
                </a:solidFill>
                <a:latin typeface="Malgun Gothic"/>
                <a:ea typeface="Malgun Gothic"/>
                <a:cs typeface="Malgun Gothic"/>
              </a:defRPr>
            </a:pPr>
            <a:r>
              <a:rPr sz="2100" b="0">
                <a:solidFill>
                  <a:srgbClr val="B95B12"/>
                </a:solidFill>
                <a:latin typeface="Malgun Gothic"/>
                <a:ea typeface="Malgun Gothic"/>
                <a:cs typeface="Malgun Gothic"/>
              </a:rPr>
              <a:t>시세·재고·자금을 확인하고 거래를 결정</a:t>
            </a:r>
          </a:p>
        </p:txBody>
      </p:sp>
      <p:sp>
        <p:nvSpPr>
          <p:cNvPr id="3" name="item-heading">
            <a:extLst xmlns:a="http://schemas.openxmlformats.org/drawingml/2006/main">
              <a:ext uri="{FF2B5EF4-FFF2-40B4-BE49-F238E27FC236}">
                <a16:creationId xmlns:a16="http://schemas.microsoft.com/office/drawing/2014/main" id="{DF19FF54-438E-4535-8872-10A7BA06D612}"/>
              </a:ext>
            </a:extLst>
          </p:cNvPr>
          <p:cNvSpPr>
            <a:spLocks xmlns:a="http://schemas.openxmlformats.org/drawingml/2006/main" noGrp="1"/>
          </p:cNvSpPr>
          <p:nvPr/>
        </p:nvSpPr>
        <p:spPr>
          <a:xfrm xmlns:a="http://schemas.openxmlformats.org/drawingml/2006/main">
            <a:off x="609600" y="2381250"/>
            <a:ext cx="676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42633"/>
                </a:solidFill>
                <a:latin typeface="Malgun Gothic"/>
                <a:ea typeface="Malgun Gothic"/>
                <a:cs typeface="Malgun Gothic"/>
              </a:defRPr>
            </a:defPPr>
          </a:lstStyle>
          <a:p xmlns:a="http://schemas.openxmlformats.org/drawingml/2006/main">
            <a:pPr>
              <a:buNone/>
              <a:defRPr sz="2025" b="1">
                <a:solidFill>
                  <a:srgbClr val="142633"/>
                </a:solidFill>
                <a:latin typeface="Malgun Gothic"/>
                <a:ea typeface="Malgun Gothic"/>
                <a:cs typeface="Malgun Gothic"/>
              </a:defRPr>
            </a:pPr>
            <a:r>
              <a:rPr sz="2025" b="1">
                <a:solidFill>
                  <a:srgbClr val="142633"/>
                </a:solidFill>
                <a:latin typeface="Malgun Gothic"/>
                <a:ea typeface="Malgun Gothic"/>
                <a:cs typeface="Malgun Gothic"/>
              </a:rPr>
              <a:t>거래 조건</a:t>
            </a:r>
          </a:p>
        </p:txBody>
      </p:sp>
      <p:sp>
        <p:nvSpPr>
          <p:cNvPr id="4" name="body">
            <a:extLst xmlns:a="http://schemas.openxmlformats.org/drawingml/2006/main">
              <a:ext uri="{FF2B5EF4-FFF2-40B4-BE49-F238E27FC236}">
                <a16:creationId xmlns:a16="http://schemas.microsoft.com/office/drawing/2014/main" id="{94DC2559-C284-42A3-B4CC-48BD81E58EBB}"/>
              </a:ext>
            </a:extLst>
          </p:cNvPr>
          <p:cNvSpPr>
            <a:spLocks xmlns:a="http://schemas.openxmlformats.org/drawingml/2006/main" noGrp="1"/>
          </p:cNvSpPr>
          <p:nvPr/>
        </p:nvSpPr>
        <p:spPr>
          <a:xfrm xmlns:a="http://schemas.openxmlformats.org/drawingml/2006/main">
            <a:off x="609600" y="2790825"/>
            <a:ext cx="6762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425966"/>
                </a:solidFill>
                <a:latin typeface="Malgun Gothic"/>
                <a:ea typeface="Malgun Gothic"/>
                <a:cs typeface="Malgun Gothic"/>
              </a:defRPr>
            </a:defPPr>
          </a:lstStyle>
          <a:p xmlns:a="http://schemas.openxmlformats.org/drawingml/2006/main">
            <a:pPr>
              <a:buNone/>
              <a:defRPr sz="1875" b="0">
                <a:solidFill>
                  <a:srgbClr val="425966"/>
                </a:solidFill>
                <a:latin typeface="Malgun Gothic"/>
                <a:ea typeface="Malgun Gothic"/>
                <a:cs typeface="Malgun Gothic"/>
              </a:defRPr>
            </a:pPr>
            <a:r>
              <a:rPr sz="1875" b="0">
                <a:solidFill>
                  <a:srgbClr val="425966"/>
                </a:solidFill>
                <a:latin typeface="Malgun Gothic"/>
                <a:ea typeface="Malgun Gothic"/>
                <a:cs typeface="Malgun Gothic"/>
              </a:rPr>
              <a:t>판매는 현재 혜성 재고에서 차감하고, 구매는 창고·항구·거래소의 빈 공간에 입고합니다.</a:t>
            </a:r>
          </a:p>
        </p:txBody>
      </p:sp>
      <p:sp>
        <p:nvSpPr>
          <p:cNvPr id="5" name="item-heading">
            <a:extLst xmlns:a="http://schemas.openxmlformats.org/drawingml/2006/main">
              <a:ext uri="{FF2B5EF4-FFF2-40B4-BE49-F238E27FC236}">
                <a16:creationId xmlns:a16="http://schemas.microsoft.com/office/drawing/2014/main" id="{9D3263BB-AE05-47AD-B51A-F04BF4B0DCA0}"/>
              </a:ext>
            </a:extLst>
          </p:cNvPr>
          <p:cNvSpPr>
            <a:spLocks xmlns:a="http://schemas.openxmlformats.org/drawingml/2006/main" noGrp="1"/>
          </p:cNvSpPr>
          <p:nvPr/>
        </p:nvSpPr>
        <p:spPr>
          <a:xfrm xmlns:a="http://schemas.openxmlformats.org/drawingml/2006/main">
            <a:off x="609600" y="3524250"/>
            <a:ext cx="676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42633"/>
                </a:solidFill>
                <a:latin typeface="Malgun Gothic"/>
                <a:ea typeface="Malgun Gothic"/>
                <a:cs typeface="Malgun Gothic"/>
              </a:defRPr>
            </a:defPPr>
          </a:lstStyle>
          <a:p xmlns:a="http://schemas.openxmlformats.org/drawingml/2006/main">
            <a:pPr>
              <a:buNone/>
              <a:defRPr sz="2025" b="1">
                <a:solidFill>
                  <a:srgbClr val="142633"/>
                </a:solidFill>
                <a:latin typeface="Malgun Gothic"/>
                <a:ea typeface="Malgun Gothic"/>
                <a:cs typeface="Malgun Gothic"/>
              </a:defRPr>
            </a:pPr>
            <a:r>
              <a:rPr sz="2025" b="1">
                <a:solidFill>
                  <a:srgbClr val="142633"/>
                </a:solidFill>
                <a:latin typeface="Malgun Gothic"/>
                <a:ea typeface="Malgun Gothic"/>
                <a:cs typeface="Malgun Gothic"/>
              </a:rPr>
              <a:t>시간별 정보</a:t>
            </a:r>
          </a:p>
        </p:txBody>
      </p:sp>
      <p:sp>
        <p:nvSpPr>
          <p:cNvPr id="6" name="body">
            <a:extLst xmlns:a="http://schemas.openxmlformats.org/drawingml/2006/main">
              <a:ext uri="{FF2B5EF4-FFF2-40B4-BE49-F238E27FC236}">
                <a16:creationId xmlns:a16="http://schemas.microsoft.com/office/drawing/2014/main" id="{AB7477E2-DC3A-4246-992F-0497B133EA5B}"/>
              </a:ext>
            </a:extLst>
          </p:cNvPr>
          <p:cNvSpPr>
            <a:spLocks xmlns:a="http://schemas.openxmlformats.org/drawingml/2006/main" noGrp="1"/>
          </p:cNvSpPr>
          <p:nvPr/>
        </p:nvSpPr>
        <p:spPr>
          <a:xfrm xmlns:a="http://schemas.openxmlformats.org/drawingml/2006/main">
            <a:off x="609600" y="3933825"/>
            <a:ext cx="6762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425966"/>
                </a:solidFill>
                <a:latin typeface="Malgun Gothic"/>
                <a:ea typeface="Malgun Gothic"/>
                <a:cs typeface="Malgun Gothic"/>
              </a:defRPr>
            </a:defPPr>
          </a:lstStyle>
          <a:p xmlns:a="http://schemas.openxmlformats.org/drawingml/2006/main">
            <a:pPr>
              <a:buNone/>
              <a:defRPr sz="1875" b="0">
                <a:solidFill>
                  <a:srgbClr val="425966"/>
                </a:solidFill>
                <a:latin typeface="Malgun Gothic"/>
                <a:ea typeface="Malgun Gothic"/>
                <a:cs typeface="Malgun Gothic"/>
              </a:defRPr>
            </a:pPr>
            <a:r>
              <a:rPr sz="1875" b="0">
                <a:solidFill>
                  <a:srgbClr val="425966"/>
                </a:solidFill>
                <a:latin typeface="Malgun Gothic"/>
                <a:ea typeface="Malgun Gothic"/>
                <a:cs typeface="Malgun Gothic"/>
              </a:rPr>
              <a:t>6·12·18·24개월 시세 기록과 월별 회사 보유금액을 조회합니다.</a:t>
            </a:r>
          </a:p>
        </p:txBody>
      </p:sp>
      <p:sp>
        <p:nvSpPr>
          <p:cNvPr id="7" name="item-heading">
            <a:extLst xmlns:a="http://schemas.openxmlformats.org/drawingml/2006/main">
              <a:ext uri="{FF2B5EF4-FFF2-40B4-BE49-F238E27FC236}">
                <a16:creationId xmlns:a16="http://schemas.microsoft.com/office/drawing/2014/main" id="{E7193728-2BE7-4DD9-B476-B861285BDA4E}"/>
              </a:ext>
            </a:extLst>
          </p:cNvPr>
          <p:cNvSpPr>
            <a:spLocks xmlns:a="http://schemas.openxmlformats.org/drawingml/2006/main" noGrp="1"/>
          </p:cNvSpPr>
          <p:nvPr/>
        </p:nvSpPr>
        <p:spPr>
          <a:xfrm xmlns:a="http://schemas.openxmlformats.org/drawingml/2006/main">
            <a:off x="609600" y="4667250"/>
            <a:ext cx="676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42633"/>
                </a:solidFill>
                <a:latin typeface="Malgun Gothic"/>
                <a:ea typeface="Malgun Gothic"/>
                <a:cs typeface="Malgun Gothic"/>
              </a:defRPr>
            </a:defPPr>
          </a:lstStyle>
          <a:p xmlns:a="http://schemas.openxmlformats.org/drawingml/2006/main">
            <a:pPr>
              <a:buNone/>
              <a:defRPr sz="2025" b="1">
                <a:solidFill>
                  <a:srgbClr val="142633"/>
                </a:solidFill>
                <a:latin typeface="Malgun Gothic"/>
                <a:ea typeface="Malgun Gothic"/>
                <a:cs typeface="Malgun Gothic"/>
              </a:defRPr>
            </a:pPr>
            <a:r>
              <a:rPr sz="2025" b="1">
                <a:solidFill>
                  <a:srgbClr val="142633"/>
                </a:solidFill>
                <a:latin typeface="Malgun Gothic"/>
                <a:ea typeface="Malgun Gothic"/>
                <a:cs typeface="Malgun Gothic"/>
              </a:rPr>
              <a:t>표시의 정확성</a:t>
            </a:r>
          </a:p>
        </p:txBody>
      </p:sp>
      <p:sp>
        <p:nvSpPr>
          <p:cNvPr id="8" name="body">
            <a:extLst xmlns:a="http://schemas.openxmlformats.org/drawingml/2006/main">
              <a:ext uri="{FF2B5EF4-FFF2-40B4-BE49-F238E27FC236}">
                <a16:creationId xmlns:a16="http://schemas.microsoft.com/office/drawing/2014/main" id="{562BBFC5-EAD9-41D1-84C8-0F2F5C630CC6}"/>
              </a:ext>
            </a:extLst>
          </p:cNvPr>
          <p:cNvSpPr>
            <a:spLocks xmlns:a="http://schemas.openxmlformats.org/drawingml/2006/main" noGrp="1"/>
          </p:cNvSpPr>
          <p:nvPr/>
        </p:nvSpPr>
        <p:spPr>
          <a:xfrm xmlns:a="http://schemas.openxmlformats.org/drawingml/2006/main">
            <a:off x="609600" y="5076825"/>
            <a:ext cx="6762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425966"/>
                </a:solidFill>
                <a:latin typeface="Malgun Gothic"/>
                <a:ea typeface="Malgun Gothic"/>
                <a:cs typeface="Malgun Gothic"/>
              </a:defRPr>
            </a:defPPr>
          </a:lstStyle>
          <a:p xmlns:a="http://schemas.openxmlformats.org/drawingml/2006/main">
            <a:pPr>
              <a:buNone/>
              <a:defRPr sz="1875" b="0">
                <a:solidFill>
                  <a:srgbClr val="425966"/>
                </a:solidFill>
                <a:latin typeface="Malgun Gothic"/>
                <a:ea typeface="Malgun Gothic"/>
                <a:cs typeface="Malgun Gothic"/>
              </a:defRPr>
            </a:pPr>
            <a:r>
              <a:rPr sz="1875" b="0">
                <a:solidFill>
                  <a:srgbClr val="425966"/>
                </a:solidFill>
                <a:latin typeface="Malgun Gothic"/>
                <a:ea typeface="Malgun Gothic"/>
                <a:cs typeface="Malgun Gothic"/>
              </a:rPr>
              <a:t>누적 판매 수익은 비용을 뺀 순이익과 구분합니다. 현재 플레이에는 시장 이벤트를 적용하지 않습니다.</a:t>
            </a:r>
          </a:p>
        </p:txBody>
      </p:sp>
      <p:pic>
        <p:nvPicPr>
          <p:cNvPr id="9" name="">
            <a:extLst xmlns:a="http://schemas.openxmlformats.org/drawingml/2006/main">
              <a:ext uri="{FF2B5EF4-FFF2-40B4-BE49-F238E27FC236}">
                <a16:creationId xmlns:a16="http://schemas.microsoft.com/office/drawing/2014/main" id="{39715CFE-A134-4254-A7B2-8E0704991C05}"/>
              </a:ext>
            </a:extLst>
          </p:cNvPr>
          <p:cNvPicPr>
            <a:picLocks xmlns:a="http://schemas.openxmlformats.org/drawingml/2006/main" noChangeAspect="1"/>
          </p:cNvPicPr>
          <p:nvPr/>
        </p:nvPicPr>
        <p:blipFill>
          <a:blip xmlns:r="http://schemas.openxmlformats.org/officeDocument/2006/relationships" xmlns:a="http://schemas.openxmlformats.org/drawingml/2006/main" r:embed="R8661091102bc4868"/>
          <a:stretch xmlns:a="http://schemas.openxmlformats.org/drawingml/2006/main"/>
        </p:blipFill>
        <p:spPr>
          <a:xfrm xmlns:a="http://schemas.openxmlformats.org/drawingml/2006/main">
            <a:off x="8181975" y="2209800"/>
            <a:ext cx="3143250" cy="3143250"/>
          </a:xfrm>
          <a:prstGeom xmlns:a="http://schemas.openxmlformats.org/drawingml/2006/main" prst="rect">
            <a:avLst/>
          </a:prstGeom>
        </p:spPr>
      </p:pic>
      <p:sp>
        <p:nvSpPr>
          <p:cNvPr id="10" name="body">
            <a:extLst xmlns:a="http://schemas.openxmlformats.org/drawingml/2006/main">
              <a:ext uri="{FF2B5EF4-FFF2-40B4-BE49-F238E27FC236}">
                <a16:creationId xmlns:a16="http://schemas.microsoft.com/office/drawing/2014/main" id="{A42018D1-0087-4367-B19F-78C8E94D8652}"/>
              </a:ext>
            </a:extLst>
          </p:cNvPr>
          <p:cNvSpPr>
            <a:spLocks xmlns:a="http://schemas.openxmlformats.org/drawingml/2006/main" noGrp="1"/>
          </p:cNvSpPr>
          <p:nvPr/>
        </p:nvSpPr>
        <p:spPr>
          <a:xfrm xmlns:a="http://schemas.openxmlformats.org/drawingml/2006/main">
            <a:off x="7943850" y="5581650"/>
            <a:ext cx="361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425966"/>
                </a:solidFill>
                <a:latin typeface="Malgun Gothic"/>
                <a:ea typeface="Malgun Gothic"/>
                <a:cs typeface="Malgun Gothic"/>
              </a:defRPr>
            </a:defPPr>
          </a:lstStyle>
          <a:p xmlns:a="http://schemas.openxmlformats.org/drawingml/2006/main">
            <a:pPr>
              <a:buNone/>
              <a:defRPr sz="1725" b="0">
                <a:solidFill>
                  <a:srgbClr val="425966"/>
                </a:solidFill>
                <a:latin typeface="Malgun Gothic"/>
                <a:ea typeface="Malgun Gothic"/>
                <a:cs typeface="Malgun Gothic"/>
              </a:defRPr>
            </a:pPr>
            <a:r>
              <a:rPr sz="1725" b="0">
                <a:solidFill>
                  <a:srgbClr val="425966"/>
                </a:solidFill>
                <a:latin typeface="Malgun Gothic"/>
                <a:ea typeface="Malgun Gothic"/>
                <a:cs typeface="Malgun Gothic"/>
              </a:rPr>
              <a:t>프로젝트 내 시설 아트</a:t>
            </a:r>
          </a:p>
        </p:txBody>
      </p:sp>
      <p:sp>
        <p:nvSpPr>
          <p:cNvPr id="11" name="body">
            <a:extLst xmlns:a="http://schemas.openxmlformats.org/drawingml/2006/main">
              <a:ext uri="{FF2B5EF4-FFF2-40B4-BE49-F238E27FC236}">
                <a16:creationId xmlns:a16="http://schemas.microsoft.com/office/drawing/2014/main" id="{086D160C-0711-40AB-A8C2-0A9CDD05A4AB}"/>
              </a:ext>
            </a:extLst>
          </p:cNvPr>
          <p:cNvSpPr>
            <a:spLocks xmlns:a="http://schemas.openxmlformats.org/drawingml/2006/main" noGrp="1"/>
          </p:cNvSpPr>
          <p:nvPr/>
        </p:nvSpPr>
        <p:spPr>
          <a:xfrm xmlns:a="http://schemas.openxmlformats.org/drawingml/2006/main">
            <a:off x="11087100" y="6353175"/>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425966"/>
                </a:solidFill>
                <a:latin typeface="Malgun Gothic"/>
                <a:ea typeface="Malgun Gothic"/>
                <a:cs typeface="Malgun Gothic"/>
              </a:defRPr>
            </a:defPPr>
          </a:lstStyle>
          <a:p xmlns:a="http://schemas.openxmlformats.org/drawingml/2006/main">
            <a:pPr>
              <a:buNone/>
              <a:defRPr sz="1500" b="0">
                <a:solidFill>
                  <a:srgbClr val="425966"/>
                </a:solidFill>
                <a:latin typeface="Malgun Gothic"/>
                <a:ea typeface="Malgun Gothic"/>
                <a:cs typeface="Malgun Gothic"/>
              </a:defRPr>
            </a:pPr>
            <a:r>
              <a:rPr sz="1500" b="0">
                <a:solidFill>
                  <a:srgbClr val="425966"/>
                </a:solidFill>
                <a:latin typeface="Malgun Gothic"/>
                <a:ea typeface="Malgun Gothic"/>
                <a:cs typeface="Malgun Gothic"/>
              </a:rPr>
              <a:t>11</a:t>
            </a:r>
          </a:p>
        </p:txBody>
      </p:sp>
    </p:spTree>
    <p:extLst>
      <p:ext uri="{BB962C8B-B14F-4D97-AF65-F5344CB8AC3E}">
        <p14:creationId xmlns:p14="http://schemas.microsoft.com/office/powerpoint/2010/main" val="1006574814"/>
      </p:ext>
    </p:extLst>
  </p:cSld>
</p:sld>
</file>

<file path=ppt/slides/slide12.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626ECEF5-9A4E-468C-9D88-061B52341F99}"/>
              </a:ext>
            </a:extLst>
          </p:cNvPr>
          <p:cNvSpPr>
            <a:spLocks xmlns:a="http://schemas.openxmlformats.org/drawingml/2006/main" noGrp="1"/>
          </p:cNvSpPr>
          <p:nvPr/>
        </p:nvSpPr>
        <p:spPr>
          <a:xfrm xmlns:a="http://schemas.openxmlformats.org/drawingml/2006/main">
            <a:off x="609600" y="5715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42633"/>
                </a:solidFill>
                <a:latin typeface="Malgun Gothic"/>
                <a:ea typeface="Malgun Gothic"/>
                <a:cs typeface="Malgun Gothic"/>
              </a:defRPr>
            </a:defPPr>
          </a:lstStyle>
          <a:p xmlns:a="http://schemas.openxmlformats.org/drawingml/2006/main">
            <a:pPr>
              <a:buNone/>
              <a:defRPr sz="3300" b="1">
                <a:solidFill>
                  <a:srgbClr val="142633"/>
                </a:solidFill>
                <a:latin typeface="Malgun Gothic"/>
                <a:ea typeface="Malgun Gothic"/>
                <a:cs typeface="Malgun Gothic"/>
              </a:defRPr>
            </a:pPr>
            <a:r>
              <a:rPr sz="3300" b="1">
                <a:solidFill>
                  <a:srgbClr val="142633"/>
                </a:solidFill>
                <a:latin typeface="Malgun Gothic"/>
                <a:ea typeface="Malgun Gothic"/>
                <a:cs typeface="Malgun Gothic"/>
              </a:rPr>
              <a:t>거래소 · 재고와 시세</a:t>
            </a:r>
          </a:p>
        </p:txBody>
      </p:sp>
      <p:sp>
        <p:nvSpPr>
          <p:cNvPr id="2" name="lead">
            <a:extLst xmlns:a="http://schemas.openxmlformats.org/drawingml/2006/main">
              <a:ext uri="{FF2B5EF4-FFF2-40B4-BE49-F238E27FC236}">
                <a16:creationId xmlns:a16="http://schemas.microsoft.com/office/drawing/2014/main" id="{E9EDB13A-8246-48C3-B8BC-C9B673F3548B}"/>
              </a:ext>
            </a:extLst>
          </p:cNvPr>
          <p:cNvSpPr>
            <a:spLocks xmlns:a="http://schemas.openxmlformats.org/drawingml/2006/main" noGrp="1"/>
          </p:cNvSpPr>
          <p:nvPr/>
        </p:nvSpPr>
        <p:spPr>
          <a:xfrm xmlns:a="http://schemas.openxmlformats.org/drawingml/2006/main">
            <a:off x="609600" y="145732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B95B12"/>
                </a:solidFill>
                <a:latin typeface="Malgun Gothic"/>
                <a:ea typeface="Malgun Gothic"/>
                <a:cs typeface="Malgun Gothic"/>
              </a:defRPr>
            </a:defPPr>
          </a:lstStyle>
          <a:p xmlns:a="http://schemas.openxmlformats.org/drawingml/2006/main">
            <a:pPr>
              <a:buNone/>
              <a:defRPr sz="2100" b="0">
                <a:solidFill>
                  <a:srgbClr val="B95B12"/>
                </a:solidFill>
                <a:latin typeface="Malgun Gothic"/>
                <a:ea typeface="Malgun Gothic"/>
                <a:cs typeface="Malgun Gothic"/>
              </a:defRPr>
            </a:pPr>
            <a:r>
              <a:rPr sz="2100" b="0">
                <a:solidFill>
                  <a:srgbClr val="B95B12"/>
                </a:solidFill>
                <a:latin typeface="Malgun Gothic"/>
                <a:ea typeface="Malgun Gothic"/>
                <a:cs typeface="Malgun Gothic"/>
              </a:rPr>
              <a:t>실제 인게임 화면 · 가격 정보와 거래 조작</a:t>
            </a:r>
          </a:p>
        </p:txBody>
      </p:sp>
      <p:pic>
        <p:nvPicPr>
          <p:cNvPr id="3" name="">
            <a:extLst xmlns:a="http://schemas.openxmlformats.org/drawingml/2006/main">
              <a:ext uri="{FF2B5EF4-FFF2-40B4-BE49-F238E27FC236}">
                <a16:creationId xmlns:a16="http://schemas.microsoft.com/office/drawing/2014/main" id="{8874068D-6167-47AE-8765-6235E0E46FE8}"/>
              </a:ext>
            </a:extLst>
          </p:cNvPr>
          <p:cNvPicPr>
            <a:picLocks xmlns:a="http://schemas.openxmlformats.org/drawingml/2006/main" noChangeAspect="1"/>
          </p:cNvPicPr>
          <p:nvPr/>
        </p:nvPicPr>
        <p:blipFill>
          <a:blip xmlns:r="http://schemas.openxmlformats.org/officeDocument/2006/relationships" xmlns:a="http://schemas.openxmlformats.org/drawingml/2006/main" r:embed="R493d584b76d04341"/>
          <a:stretch xmlns:a="http://schemas.openxmlformats.org/drawingml/2006/main"/>
        </p:blipFill>
        <p:spPr>
          <a:xfrm xmlns:a="http://schemas.openxmlformats.org/drawingml/2006/main">
            <a:off x="1048625" y="2028825"/>
            <a:ext cx="7170576" cy="4038600"/>
          </a:xfrm>
          <a:prstGeom xmlns:a="http://schemas.openxmlformats.org/drawingml/2006/main" prst="rect">
            <a:avLst/>
          </a:prstGeom>
        </p:spPr>
      </p:pic>
      <p:sp>
        <p:nvSpPr>
          <p:cNvPr id="4" name="body">
            <a:extLst xmlns:a="http://schemas.openxmlformats.org/drawingml/2006/main">
              <a:ext uri="{FF2B5EF4-FFF2-40B4-BE49-F238E27FC236}">
                <a16:creationId xmlns:a16="http://schemas.microsoft.com/office/drawing/2014/main" id="{E2A443FA-8F8A-4E7D-A1BB-71DD85F833C0}"/>
              </a:ext>
            </a:extLst>
          </p:cNvPr>
          <p:cNvSpPr>
            <a:spLocks xmlns:a="http://schemas.openxmlformats.org/drawingml/2006/main" noGrp="1"/>
          </p:cNvSpPr>
          <p:nvPr/>
        </p:nvSpPr>
        <p:spPr>
          <a:xfrm xmlns:a="http://schemas.openxmlformats.org/drawingml/2006/main">
            <a:off x="9048750" y="2190750"/>
            <a:ext cx="2533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142633"/>
                </a:solidFill>
                <a:latin typeface="Malgun Gothic"/>
                <a:ea typeface="Malgun Gothic"/>
                <a:cs typeface="Malgun Gothic"/>
              </a:defRPr>
            </a:defPPr>
          </a:lstStyle>
          <a:p xmlns:a="http://schemas.openxmlformats.org/drawingml/2006/main">
            <a:pPr>
              <a:buNone/>
              <a:defRPr sz="1950" b="1">
                <a:solidFill>
                  <a:srgbClr val="142633"/>
                </a:solidFill>
                <a:latin typeface="Malgun Gothic"/>
                <a:ea typeface="Malgun Gothic"/>
                <a:cs typeface="Malgun Gothic"/>
              </a:defRPr>
            </a:pPr>
            <a:r>
              <a:rPr sz="1950" b="1">
                <a:solidFill>
                  <a:srgbClr val="142633"/>
                </a:solidFill>
                <a:latin typeface="Malgun Gothic"/>
                <a:ea typeface="Malgun Gothic"/>
                <a:cs typeface="Malgun Gothic"/>
              </a:rPr>
              <a:t>소재 목록</a:t>
            </a:r>
          </a:p>
        </p:txBody>
      </p:sp>
      <p:sp>
        <p:nvSpPr>
          <p:cNvPr id="5" name="body">
            <a:extLst xmlns:a="http://schemas.openxmlformats.org/drawingml/2006/main">
              <a:ext uri="{FF2B5EF4-FFF2-40B4-BE49-F238E27FC236}">
                <a16:creationId xmlns:a16="http://schemas.microsoft.com/office/drawing/2014/main" id="{DC4DD3B7-DA84-47D7-8DD5-BDB9C3DF2341}"/>
              </a:ext>
            </a:extLst>
          </p:cNvPr>
          <p:cNvSpPr>
            <a:spLocks xmlns:a="http://schemas.openxmlformats.org/drawingml/2006/main" noGrp="1"/>
          </p:cNvSpPr>
          <p:nvPr/>
        </p:nvSpPr>
        <p:spPr>
          <a:xfrm xmlns:a="http://schemas.openxmlformats.org/drawingml/2006/main">
            <a:off x="9048750" y="2600325"/>
            <a:ext cx="25336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425966"/>
                </a:solidFill>
                <a:latin typeface="Malgun Gothic"/>
                <a:ea typeface="Malgun Gothic"/>
                <a:cs typeface="Malgun Gothic"/>
              </a:defRPr>
            </a:defPPr>
          </a:lstStyle>
          <a:p xmlns:a="http://schemas.openxmlformats.org/drawingml/2006/main">
            <a:pPr>
              <a:buNone/>
              <a:defRPr sz="1725" b="0">
                <a:solidFill>
                  <a:srgbClr val="425966"/>
                </a:solidFill>
                <a:latin typeface="Malgun Gothic"/>
                <a:ea typeface="Malgun Gothic"/>
                <a:cs typeface="Malgun Gothic"/>
              </a:defRPr>
            </a:pPr>
            <a:r>
              <a:rPr sz="1725" b="0">
                <a:solidFill>
                  <a:srgbClr val="425966"/>
                </a:solidFill>
                <a:latin typeface="Malgun Gothic"/>
                <a:ea typeface="Malgun Gothic"/>
                <a:cs typeface="Malgun Gothic"/>
              </a:rPr>
              <a:t>현재 혜성과 회사 전체 재고를 비교하고 소재를 선택합니다.</a:t>
            </a:r>
          </a:p>
        </p:txBody>
      </p:sp>
      <p:sp>
        <p:nvSpPr>
          <p:cNvPr id="6" name="body">
            <a:extLst xmlns:a="http://schemas.openxmlformats.org/drawingml/2006/main">
              <a:ext uri="{FF2B5EF4-FFF2-40B4-BE49-F238E27FC236}">
                <a16:creationId xmlns:a16="http://schemas.microsoft.com/office/drawing/2014/main" id="{A0F30452-9B50-48CD-B840-A34EF893C4BC}"/>
              </a:ext>
            </a:extLst>
          </p:cNvPr>
          <p:cNvSpPr>
            <a:spLocks xmlns:a="http://schemas.openxmlformats.org/drawingml/2006/main" noGrp="1"/>
          </p:cNvSpPr>
          <p:nvPr/>
        </p:nvSpPr>
        <p:spPr>
          <a:xfrm xmlns:a="http://schemas.openxmlformats.org/drawingml/2006/main">
            <a:off x="9048750" y="3486150"/>
            <a:ext cx="2533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142633"/>
                </a:solidFill>
                <a:latin typeface="Malgun Gothic"/>
                <a:ea typeface="Malgun Gothic"/>
                <a:cs typeface="Malgun Gothic"/>
              </a:defRPr>
            </a:defPPr>
          </a:lstStyle>
          <a:p xmlns:a="http://schemas.openxmlformats.org/drawingml/2006/main">
            <a:pPr>
              <a:buNone/>
              <a:defRPr sz="1950" b="1">
                <a:solidFill>
                  <a:srgbClr val="142633"/>
                </a:solidFill>
                <a:latin typeface="Malgun Gothic"/>
                <a:ea typeface="Malgun Gothic"/>
                <a:cs typeface="Malgun Gothic"/>
              </a:defRPr>
            </a:pPr>
            <a:r>
              <a:rPr sz="1950" b="1">
                <a:solidFill>
                  <a:srgbClr val="142633"/>
                </a:solidFill>
                <a:latin typeface="Malgun Gothic"/>
                <a:ea typeface="Malgun Gothic"/>
                <a:cs typeface="Malgun Gothic"/>
              </a:rPr>
              <a:t>6·12·18·24개월</a:t>
            </a:r>
          </a:p>
        </p:txBody>
      </p:sp>
      <p:sp>
        <p:nvSpPr>
          <p:cNvPr id="7" name="body">
            <a:extLst xmlns:a="http://schemas.openxmlformats.org/drawingml/2006/main">
              <a:ext uri="{FF2B5EF4-FFF2-40B4-BE49-F238E27FC236}">
                <a16:creationId xmlns:a16="http://schemas.microsoft.com/office/drawing/2014/main" id="{F50E4AFF-9CD1-401B-8C5E-F7584B5EB090}"/>
              </a:ext>
            </a:extLst>
          </p:cNvPr>
          <p:cNvSpPr>
            <a:spLocks xmlns:a="http://schemas.openxmlformats.org/drawingml/2006/main" noGrp="1"/>
          </p:cNvSpPr>
          <p:nvPr/>
        </p:nvSpPr>
        <p:spPr>
          <a:xfrm xmlns:a="http://schemas.openxmlformats.org/drawingml/2006/main">
            <a:off x="9048750" y="3895725"/>
            <a:ext cx="25336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425966"/>
                </a:solidFill>
                <a:latin typeface="Malgun Gothic"/>
                <a:ea typeface="Malgun Gothic"/>
                <a:cs typeface="Malgun Gothic"/>
              </a:defRPr>
            </a:defPPr>
          </a:lstStyle>
          <a:p xmlns:a="http://schemas.openxmlformats.org/drawingml/2006/main">
            <a:pPr>
              <a:buNone/>
              <a:defRPr sz="1725" b="0">
                <a:solidFill>
                  <a:srgbClr val="425966"/>
                </a:solidFill>
                <a:latin typeface="Malgun Gothic"/>
                <a:ea typeface="Malgun Gothic"/>
                <a:cs typeface="Malgun Gothic"/>
              </a:defRPr>
            </a:pPr>
            <a:r>
              <a:rPr sz="1725" b="0">
                <a:solidFill>
                  <a:srgbClr val="425966"/>
                </a:solidFill>
                <a:latin typeface="Malgun Gothic"/>
                <a:ea typeface="Malgun Gothic"/>
                <a:cs typeface="Malgun Gothic"/>
              </a:rPr>
              <a:t>조회 기간을 바꾸고 월별 시세를 확인합니다.</a:t>
            </a:r>
          </a:p>
        </p:txBody>
      </p:sp>
      <p:sp>
        <p:nvSpPr>
          <p:cNvPr id="8" name="body">
            <a:extLst xmlns:a="http://schemas.openxmlformats.org/drawingml/2006/main">
              <a:ext uri="{FF2B5EF4-FFF2-40B4-BE49-F238E27FC236}">
                <a16:creationId xmlns:a16="http://schemas.microsoft.com/office/drawing/2014/main" id="{5AFD63B8-A1C6-4F4D-A49B-2D4FB5A39578}"/>
              </a:ext>
            </a:extLst>
          </p:cNvPr>
          <p:cNvSpPr>
            <a:spLocks xmlns:a="http://schemas.openxmlformats.org/drawingml/2006/main" noGrp="1"/>
          </p:cNvSpPr>
          <p:nvPr/>
        </p:nvSpPr>
        <p:spPr>
          <a:xfrm xmlns:a="http://schemas.openxmlformats.org/drawingml/2006/main">
            <a:off x="9048750" y="4781550"/>
            <a:ext cx="2533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142633"/>
                </a:solidFill>
                <a:latin typeface="Malgun Gothic"/>
                <a:ea typeface="Malgun Gothic"/>
                <a:cs typeface="Malgun Gothic"/>
              </a:defRPr>
            </a:defPPr>
          </a:lstStyle>
          <a:p xmlns:a="http://schemas.openxmlformats.org/drawingml/2006/main">
            <a:pPr>
              <a:buNone/>
              <a:defRPr sz="1950" b="1">
                <a:solidFill>
                  <a:srgbClr val="142633"/>
                </a:solidFill>
                <a:latin typeface="Malgun Gothic"/>
                <a:ea typeface="Malgun Gothic"/>
                <a:cs typeface="Malgun Gothic"/>
              </a:defRPr>
            </a:pPr>
            <a:r>
              <a:rPr sz="1950" b="1">
                <a:solidFill>
                  <a:srgbClr val="142633"/>
                </a:solidFill>
                <a:latin typeface="Malgun Gothic"/>
                <a:ea typeface="Malgun Gothic"/>
                <a:cs typeface="Malgun Gothic"/>
              </a:rPr>
              <a:t>구입 / 판매</a:t>
            </a:r>
          </a:p>
        </p:txBody>
      </p:sp>
      <p:sp>
        <p:nvSpPr>
          <p:cNvPr id="9" name="body">
            <a:extLst xmlns:a="http://schemas.openxmlformats.org/drawingml/2006/main">
              <a:ext uri="{FF2B5EF4-FFF2-40B4-BE49-F238E27FC236}">
                <a16:creationId xmlns:a16="http://schemas.microsoft.com/office/drawing/2014/main" id="{1C1C44FD-E5AE-499A-9DF4-26C33B6C31C0}"/>
              </a:ext>
            </a:extLst>
          </p:cNvPr>
          <p:cNvSpPr>
            <a:spLocks xmlns:a="http://schemas.openxmlformats.org/drawingml/2006/main" noGrp="1"/>
          </p:cNvSpPr>
          <p:nvPr/>
        </p:nvSpPr>
        <p:spPr>
          <a:xfrm xmlns:a="http://schemas.openxmlformats.org/drawingml/2006/main">
            <a:off x="9048750" y="5191125"/>
            <a:ext cx="25336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425966"/>
                </a:solidFill>
                <a:latin typeface="Malgun Gothic"/>
                <a:ea typeface="Malgun Gothic"/>
                <a:cs typeface="Malgun Gothic"/>
              </a:defRPr>
            </a:defPPr>
          </a:lstStyle>
          <a:p xmlns:a="http://schemas.openxmlformats.org/drawingml/2006/main">
            <a:pPr>
              <a:buNone/>
              <a:defRPr sz="1725" b="0">
                <a:solidFill>
                  <a:srgbClr val="425966"/>
                </a:solidFill>
                <a:latin typeface="Malgun Gothic"/>
                <a:ea typeface="Malgun Gothic"/>
                <a:cs typeface="Malgun Gothic"/>
              </a:defRPr>
            </a:pPr>
            <a:r>
              <a:rPr sz="1725" b="0">
                <a:solidFill>
                  <a:srgbClr val="425966"/>
                </a:solidFill>
                <a:latin typeface="Malgun Gothic"/>
                <a:ea typeface="Malgun Gothic"/>
                <a:cs typeface="Malgun Gothic"/>
              </a:rPr>
              <a:t>거래 방향과 단가를 확인한 뒤 수량을 정합니다.</a:t>
            </a:r>
          </a:p>
        </p:txBody>
      </p:sp>
      <p:sp>
        <p:nvSpPr>
          <p:cNvPr id="10" name="design-intent">
            <a:extLst xmlns:a="http://schemas.openxmlformats.org/drawingml/2006/main">
              <a:ext uri="{FF2B5EF4-FFF2-40B4-BE49-F238E27FC236}">
                <a16:creationId xmlns:a16="http://schemas.microsoft.com/office/drawing/2014/main" id="{1979EEFF-66B0-422E-889C-7B924DFE711D}"/>
              </a:ext>
            </a:extLst>
          </p:cNvPr>
          <p:cNvSpPr>
            <a:spLocks xmlns:a="http://schemas.openxmlformats.org/drawingml/2006/main" noGrp="1"/>
          </p:cNvSpPr>
          <p:nvPr/>
        </p:nvSpPr>
        <p:spPr>
          <a:xfrm xmlns:a="http://schemas.openxmlformats.org/drawingml/2006/main">
            <a:off x="609600" y="6219825"/>
            <a:ext cx="10096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425966"/>
                </a:solidFill>
                <a:latin typeface="Malgun Gothic"/>
                <a:ea typeface="Malgun Gothic"/>
                <a:cs typeface="Malgun Gothic"/>
              </a:defRPr>
            </a:defPPr>
          </a:lstStyle>
          <a:p xmlns:a="http://schemas.openxmlformats.org/drawingml/2006/main">
            <a:pPr>
              <a:buNone/>
              <a:defRPr sz="1725" b="0">
                <a:solidFill>
                  <a:srgbClr val="425966"/>
                </a:solidFill>
                <a:latin typeface="Malgun Gothic"/>
                <a:ea typeface="Malgun Gothic"/>
                <a:cs typeface="Malgun Gothic"/>
              </a:defRPr>
            </a:pPr>
            <a:r>
              <a:rPr sz="1725" b="0">
                <a:solidFill>
                  <a:srgbClr val="425966"/>
                </a:solidFill>
                <a:latin typeface="Malgun Gothic"/>
                <a:ea typeface="Malgun Gothic"/>
                <a:cs typeface="Malgun Gothic"/>
              </a:rPr>
              <a:t>개발 의도: 재고와 가격 정보를 확인한 뒤 거래를 실행하는 순서로 구성합니다.</a:t>
            </a:r>
          </a:p>
        </p:txBody>
      </p:sp>
      <p:sp>
        <p:nvSpPr>
          <p:cNvPr id="11" name="page">
            <a:extLst xmlns:a="http://schemas.openxmlformats.org/drawingml/2006/main">
              <a:ext uri="{FF2B5EF4-FFF2-40B4-BE49-F238E27FC236}">
                <a16:creationId xmlns:a16="http://schemas.microsoft.com/office/drawing/2014/main" id="{F3D7097D-29D9-4BD1-AFD3-1E06FC8CFC3D}"/>
              </a:ext>
            </a:extLst>
          </p:cNvPr>
          <p:cNvSpPr>
            <a:spLocks xmlns:a="http://schemas.openxmlformats.org/drawingml/2006/main" noGrp="1"/>
          </p:cNvSpPr>
          <p:nvPr/>
        </p:nvSpPr>
        <p:spPr>
          <a:xfrm xmlns:a="http://schemas.openxmlformats.org/drawingml/2006/main">
            <a:off x="11087100" y="6353175"/>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425966"/>
                </a:solidFill>
                <a:latin typeface="Malgun Gothic"/>
                <a:ea typeface="Malgun Gothic"/>
                <a:cs typeface="Malgun Gothic"/>
              </a:defRPr>
            </a:defPPr>
          </a:lstStyle>
          <a:p xmlns:a="http://schemas.openxmlformats.org/drawingml/2006/main">
            <a:pPr>
              <a:buNone/>
              <a:defRPr sz="1500" b="0">
                <a:solidFill>
                  <a:srgbClr val="425966"/>
                </a:solidFill>
                <a:latin typeface="Malgun Gothic"/>
                <a:ea typeface="Malgun Gothic"/>
                <a:cs typeface="Malgun Gothic"/>
              </a:defRPr>
            </a:pPr>
            <a:r>
              <a:rPr sz="1500" b="0">
                <a:solidFill>
                  <a:srgbClr val="425966"/>
                </a:solidFill>
                <a:latin typeface="Malgun Gothic"/>
                <a:ea typeface="Malgun Gothic"/>
                <a:cs typeface="Malgun Gothic"/>
              </a:rPr>
              <a:t>12</a:t>
            </a:r>
          </a:p>
        </p:txBody>
      </p:sp>
    </p:spTree>
    <p:extLst>
      <p:ext uri="{BB962C8B-B14F-4D97-AF65-F5344CB8AC3E}">
        <p14:creationId xmlns:p14="http://schemas.microsoft.com/office/powerpoint/2010/main" val="945287223"/>
      </p:ext>
    </p:extLst>
  </p:cSld>
</p:sld>
</file>

<file path=ppt/slides/slide13.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F34BBB3B-10C7-44D6-96A4-C32A3D9DC1F2}"/>
              </a:ext>
            </a:extLst>
          </p:cNvPr>
          <p:cNvSpPr>
            <a:spLocks xmlns:a="http://schemas.openxmlformats.org/drawingml/2006/main" noGrp="1"/>
          </p:cNvSpPr>
          <p:nvPr/>
        </p:nvSpPr>
        <p:spPr>
          <a:xfrm xmlns:a="http://schemas.openxmlformats.org/drawingml/2006/main">
            <a:off x="609600" y="5715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42633"/>
                </a:solidFill>
                <a:latin typeface="Malgun Gothic"/>
                <a:ea typeface="Malgun Gothic"/>
                <a:cs typeface="Malgun Gothic"/>
              </a:defRPr>
            </a:defPPr>
          </a:lstStyle>
          <a:p xmlns:a="http://schemas.openxmlformats.org/drawingml/2006/main">
            <a:pPr>
              <a:buNone/>
              <a:defRPr sz="3300" b="1">
                <a:solidFill>
                  <a:srgbClr val="142633"/>
                </a:solidFill>
                <a:latin typeface="Malgun Gothic"/>
                <a:ea typeface="Malgun Gothic"/>
                <a:cs typeface="Malgun Gothic"/>
              </a:defRPr>
            </a:pPr>
            <a:r>
              <a:rPr sz="3300" b="1">
                <a:solidFill>
                  <a:srgbClr val="142633"/>
                </a:solidFill>
                <a:latin typeface="Malgun Gothic"/>
                <a:ea typeface="Malgun Gothic"/>
                <a:cs typeface="Malgun Gothic"/>
              </a:rPr>
              <a:t>거래소 버튼의 기능</a:t>
            </a:r>
          </a:p>
        </p:txBody>
      </p:sp>
      <p:sp>
        <p:nvSpPr>
          <p:cNvPr id="2" name="lead">
            <a:extLst xmlns:a="http://schemas.openxmlformats.org/drawingml/2006/main">
              <a:ext uri="{FF2B5EF4-FFF2-40B4-BE49-F238E27FC236}">
                <a16:creationId xmlns:a16="http://schemas.microsoft.com/office/drawing/2014/main" id="{D53A682E-4628-49C7-860B-FBBC9A1F7CE7}"/>
              </a:ext>
            </a:extLst>
          </p:cNvPr>
          <p:cNvSpPr>
            <a:spLocks xmlns:a="http://schemas.openxmlformats.org/drawingml/2006/main" noGrp="1"/>
          </p:cNvSpPr>
          <p:nvPr/>
        </p:nvSpPr>
        <p:spPr>
          <a:xfrm xmlns:a="http://schemas.openxmlformats.org/drawingml/2006/main">
            <a:off x="609600" y="145732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B95B12"/>
                </a:solidFill>
                <a:latin typeface="Malgun Gothic"/>
                <a:ea typeface="Malgun Gothic"/>
                <a:cs typeface="Malgun Gothic"/>
              </a:defRPr>
            </a:defPPr>
          </a:lstStyle>
          <a:p xmlns:a="http://schemas.openxmlformats.org/drawingml/2006/main">
            <a:pPr>
              <a:buNone/>
              <a:defRPr sz="2100" b="0">
                <a:solidFill>
                  <a:srgbClr val="B95B12"/>
                </a:solidFill>
                <a:latin typeface="Malgun Gothic"/>
                <a:ea typeface="Malgun Gothic"/>
                <a:cs typeface="Malgun Gothic"/>
              </a:defRPr>
            </a:pPr>
            <a:r>
              <a:rPr sz="2100" b="0">
                <a:solidFill>
                  <a:srgbClr val="B95B12"/>
                </a:solidFill>
                <a:latin typeface="Malgun Gothic"/>
                <a:ea typeface="Malgun Gothic"/>
                <a:cs typeface="Malgun Gothic"/>
              </a:rPr>
              <a:t>실제 거래 패널 확대 · 수량 결정과 실행</a:t>
            </a:r>
          </a:p>
        </p:txBody>
      </p:sp>
      <p:pic>
        <p:nvPicPr>
          <p:cNvPr id="3" name="">
            <a:extLst xmlns:a="http://schemas.openxmlformats.org/drawingml/2006/main">
              <a:ext uri="{FF2B5EF4-FFF2-40B4-BE49-F238E27FC236}">
                <a16:creationId xmlns:a16="http://schemas.microsoft.com/office/drawing/2014/main" id="{BD69BBDC-447B-43FF-A4DE-F89EB9DB1DB6}"/>
              </a:ext>
            </a:extLst>
          </p:cNvPr>
          <p:cNvPicPr>
            <a:picLocks xmlns:a="http://schemas.openxmlformats.org/drawingml/2006/main" noChangeAspect="1"/>
          </p:cNvPicPr>
          <p:nvPr/>
        </p:nvPicPr>
        <p:blipFill>
          <a:blip xmlns:r="http://schemas.openxmlformats.org/officeDocument/2006/relationships" xmlns:a="http://schemas.openxmlformats.org/drawingml/2006/main" r:embed="R4270ae9d1624413b"/>
          <a:srcRect xmlns:a="http://schemas.openxmlformats.org/drawingml/2006/main" l="75900" t="18200" r="6100" b="11200"/>
          <a:stretch xmlns:a="http://schemas.openxmlformats.org/drawingml/2006/main"/>
        </p:blipFill>
        <p:spPr>
          <a:xfrm xmlns:a="http://schemas.openxmlformats.org/drawingml/2006/main">
            <a:off x="609600" y="2143125"/>
            <a:ext cx="2714625" cy="4000500"/>
          </a:xfrm>
          <a:prstGeom xmlns:a="http://schemas.openxmlformats.org/drawingml/2006/main" prst="rect">
            <a:avLst/>
          </a:prstGeom>
        </p:spPr>
      </p:pic>
      <p:sp>
        <p:nvSpPr>
          <p:cNvPr id="4" name="body">
            <a:extLst xmlns:a="http://schemas.openxmlformats.org/drawingml/2006/main">
              <a:ext uri="{FF2B5EF4-FFF2-40B4-BE49-F238E27FC236}">
                <a16:creationId xmlns:a16="http://schemas.microsoft.com/office/drawing/2014/main" id="{FC70FCF3-BE8F-4789-98C1-82F9B5D9A640}"/>
              </a:ext>
            </a:extLst>
          </p:cNvPr>
          <p:cNvSpPr>
            <a:spLocks xmlns:a="http://schemas.openxmlformats.org/drawingml/2006/main" noGrp="1"/>
          </p:cNvSpPr>
          <p:nvPr/>
        </p:nvSpPr>
        <p:spPr>
          <a:xfrm xmlns:a="http://schemas.openxmlformats.org/drawingml/2006/main">
            <a:off x="3857625" y="2190750"/>
            <a:ext cx="77247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142633"/>
                </a:solidFill>
                <a:latin typeface="Malgun Gothic"/>
                <a:ea typeface="Malgun Gothic"/>
                <a:cs typeface="Malgun Gothic"/>
              </a:defRPr>
            </a:defPPr>
          </a:lstStyle>
          <a:p xmlns:a="http://schemas.openxmlformats.org/drawingml/2006/main">
            <a:pPr>
              <a:buNone/>
              <a:defRPr sz="1950" b="1">
                <a:solidFill>
                  <a:srgbClr val="142633"/>
                </a:solidFill>
                <a:latin typeface="Malgun Gothic"/>
                <a:ea typeface="Malgun Gothic"/>
                <a:cs typeface="Malgun Gothic"/>
              </a:defRPr>
            </a:pPr>
            <a:r>
              <a:rPr sz="1950" b="1">
                <a:solidFill>
                  <a:srgbClr val="142633"/>
                </a:solidFill>
                <a:latin typeface="Malgun Gothic"/>
                <a:ea typeface="Malgun Gothic"/>
                <a:cs typeface="Malgun Gothic"/>
              </a:rPr>
              <a:t>구입 / 판매</a:t>
            </a:r>
          </a:p>
        </p:txBody>
      </p:sp>
      <p:sp>
        <p:nvSpPr>
          <p:cNvPr id="5" name="body">
            <a:extLst xmlns:a="http://schemas.openxmlformats.org/drawingml/2006/main">
              <a:ext uri="{FF2B5EF4-FFF2-40B4-BE49-F238E27FC236}">
                <a16:creationId xmlns:a16="http://schemas.microsoft.com/office/drawing/2014/main" id="{8858ECB2-10C9-4229-B1AB-6F4092442681}"/>
              </a:ext>
            </a:extLst>
          </p:cNvPr>
          <p:cNvSpPr>
            <a:spLocks xmlns:a="http://schemas.openxmlformats.org/drawingml/2006/main" noGrp="1"/>
          </p:cNvSpPr>
          <p:nvPr/>
        </p:nvSpPr>
        <p:spPr>
          <a:xfrm xmlns:a="http://schemas.openxmlformats.org/drawingml/2006/main">
            <a:off x="3857625" y="2600325"/>
            <a:ext cx="77247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425966"/>
                </a:solidFill>
                <a:latin typeface="Malgun Gothic"/>
                <a:ea typeface="Malgun Gothic"/>
                <a:cs typeface="Malgun Gothic"/>
              </a:defRPr>
            </a:defPPr>
          </a:lstStyle>
          <a:p xmlns:a="http://schemas.openxmlformats.org/drawingml/2006/main">
            <a:pPr>
              <a:buNone/>
              <a:defRPr sz="1875" b="0">
                <a:solidFill>
                  <a:srgbClr val="425966"/>
                </a:solidFill>
                <a:latin typeface="Malgun Gothic"/>
                <a:ea typeface="Malgun Gothic"/>
                <a:cs typeface="Malgun Gothic"/>
              </a:defRPr>
            </a:pPr>
            <a:r>
              <a:rPr sz="1875" b="0">
                <a:solidFill>
                  <a:srgbClr val="425966"/>
                </a:solidFill>
                <a:latin typeface="Malgun Gothic"/>
                <a:ea typeface="Malgun Gothic"/>
                <a:cs typeface="Malgun Gothic"/>
              </a:rPr>
              <a:t>거래 방향을 바꾸고 수량을 1스택으로 초기화합니다.</a:t>
            </a:r>
          </a:p>
        </p:txBody>
      </p:sp>
      <p:sp>
        <p:nvSpPr>
          <p:cNvPr id="6" name="body">
            <a:extLst xmlns:a="http://schemas.openxmlformats.org/drawingml/2006/main">
              <a:ext uri="{FF2B5EF4-FFF2-40B4-BE49-F238E27FC236}">
                <a16:creationId xmlns:a16="http://schemas.microsoft.com/office/drawing/2014/main" id="{41CDCB63-246F-4EE3-8684-27F3873C7745}"/>
              </a:ext>
            </a:extLst>
          </p:cNvPr>
          <p:cNvSpPr>
            <a:spLocks xmlns:a="http://schemas.openxmlformats.org/drawingml/2006/main" noGrp="1"/>
          </p:cNvSpPr>
          <p:nvPr/>
        </p:nvSpPr>
        <p:spPr>
          <a:xfrm xmlns:a="http://schemas.openxmlformats.org/drawingml/2006/main">
            <a:off x="3857625" y="3486150"/>
            <a:ext cx="77247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142633"/>
                </a:solidFill>
                <a:latin typeface="Malgun Gothic"/>
                <a:ea typeface="Malgun Gothic"/>
                <a:cs typeface="Malgun Gothic"/>
              </a:defRPr>
            </a:defPPr>
          </a:lstStyle>
          <a:p xmlns:a="http://schemas.openxmlformats.org/drawingml/2006/main">
            <a:pPr>
              <a:buNone/>
              <a:defRPr sz="1950" b="1">
                <a:solidFill>
                  <a:srgbClr val="142633"/>
                </a:solidFill>
                <a:latin typeface="Malgun Gothic"/>
                <a:ea typeface="Malgun Gothic"/>
                <a:cs typeface="Malgun Gothic"/>
              </a:defRPr>
            </a:pPr>
            <a:r>
              <a:rPr sz="1950" b="1">
                <a:solidFill>
                  <a:srgbClr val="142633"/>
                </a:solidFill>
                <a:latin typeface="Malgun Gothic"/>
                <a:ea typeface="Malgun Gothic"/>
                <a:cs typeface="Malgun Gothic"/>
              </a:rPr>
              <a:t>슬라이더 / −1 / +1 / 최대</a:t>
            </a:r>
          </a:p>
        </p:txBody>
      </p:sp>
      <p:sp>
        <p:nvSpPr>
          <p:cNvPr id="7" name="body">
            <a:extLst xmlns:a="http://schemas.openxmlformats.org/drawingml/2006/main">
              <a:ext uri="{FF2B5EF4-FFF2-40B4-BE49-F238E27FC236}">
                <a16:creationId xmlns:a16="http://schemas.microsoft.com/office/drawing/2014/main" id="{0228107E-0479-45AF-BA16-C0626EAC0E5C}"/>
              </a:ext>
            </a:extLst>
          </p:cNvPr>
          <p:cNvSpPr>
            <a:spLocks xmlns:a="http://schemas.openxmlformats.org/drawingml/2006/main" noGrp="1"/>
          </p:cNvSpPr>
          <p:nvPr/>
        </p:nvSpPr>
        <p:spPr>
          <a:xfrm xmlns:a="http://schemas.openxmlformats.org/drawingml/2006/main">
            <a:off x="3857625" y="3895725"/>
            <a:ext cx="77247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425966"/>
                </a:solidFill>
                <a:latin typeface="Malgun Gothic"/>
                <a:ea typeface="Malgun Gothic"/>
                <a:cs typeface="Malgun Gothic"/>
              </a:defRPr>
            </a:defPPr>
          </a:lstStyle>
          <a:p xmlns:a="http://schemas.openxmlformats.org/drawingml/2006/main">
            <a:pPr>
              <a:buNone/>
              <a:defRPr sz="1875" b="0">
                <a:solidFill>
                  <a:srgbClr val="425966"/>
                </a:solidFill>
                <a:latin typeface="Malgun Gothic"/>
                <a:ea typeface="Malgun Gothic"/>
                <a:cs typeface="Malgun Gothic"/>
              </a:defRPr>
            </a:pPr>
            <a:r>
              <a:rPr sz="1875" b="0">
                <a:solidFill>
                  <a:srgbClr val="425966"/>
                </a:solidFill>
                <a:latin typeface="Malgun Gothic"/>
                <a:ea typeface="Malgun Gothic"/>
                <a:cs typeface="Malgun Gothic"/>
              </a:rPr>
              <a:t>자금·재고·보관 공간으로 계산한 가능 수량 안에서 조절합니다.</a:t>
            </a:r>
          </a:p>
        </p:txBody>
      </p:sp>
      <p:sp>
        <p:nvSpPr>
          <p:cNvPr id="8" name="body">
            <a:extLst xmlns:a="http://schemas.openxmlformats.org/drawingml/2006/main">
              <a:ext uri="{FF2B5EF4-FFF2-40B4-BE49-F238E27FC236}">
                <a16:creationId xmlns:a16="http://schemas.microsoft.com/office/drawing/2014/main" id="{6C56DC07-F743-41A2-B833-E3F73D0D7121}"/>
              </a:ext>
            </a:extLst>
          </p:cNvPr>
          <p:cNvSpPr>
            <a:spLocks xmlns:a="http://schemas.openxmlformats.org/drawingml/2006/main" noGrp="1"/>
          </p:cNvSpPr>
          <p:nvPr/>
        </p:nvSpPr>
        <p:spPr>
          <a:xfrm xmlns:a="http://schemas.openxmlformats.org/drawingml/2006/main">
            <a:off x="3857625" y="4781550"/>
            <a:ext cx="77247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142633"/>
                </a:solidFill>
                <a:latin typeface="Malgun Gothic"/>
                <a:ea typeface="Malgun Gothic"/>
                <a:cs typeface="Malgun Gothic"/>
              </a:defRPr>
            </a:defPPr>
          </a:lstStyle>
          <a:p xmlns:a="http://schemas.openxmlformats.org/drawingml/2006/main">
            <a:pPr>
              <a:buNone/>
              <a:defRPr sz="1950" b="1">
                <a:solidFill>
                  <a:srgbClr val="142633"/>
                </a:solidFill>
                <a:latin typeface="Malgun Gothic"/>
                <a:ea typeface="Malgun Gothic"/>
                <a:cs typeface="Malgun Gothic"/>
              </a:defRPr>
            </a:pPr>
            <a:r>
              <a:rPr sz="1950" b="1">
                <a:solidFill>
                  <a:srgbClr val="142633"/>
                </a:solidFill>
                <a:latin typeface="Malgun Gothic"/>
                <a:ea typeface="Malgun Gothic"/>
                <a:cs typeface="Malgun Gothic"/>
              </a:rPr>
              <a:t>거래 확인</a:t>
            </a:r>
          </a:p>
        </p:txBody>
      </p:sp>
      <p:sp>
        <p:nvSpPr>
          <p:cNvPr id="9" name="body">
            <a:extLst xmlns:a="http://schemas.openxmlformats.org/drawingml/2006/main">
              <a:ext uri="{FF2B5EF4-FFF2-40B4-BE49-F238E27FC236}">
                <a16:creationId xmlns:a16="http://schemas.microsoft.com/office/drawing/2014/main" id="{94A1243D-DC62-4D54-989C-82A535849656}"/>
              </a:ext>
            </a:extLst>
          </p:cNvPr>
          <p:cNvSpPr>
            <a:spLocks xmlns:a="http://schemas.openxmlformats.org/drawingml/2006/main" noGrp="1"/>
          </p:cNvSpPr>
          <p:nvPr/>
        </p:nvSpPr>
        <p:spPr>
          <a:xfrm xmlns:a="http://schemas.openxmlformats.org/drawingml/2006/main">
            <a:off x="3857625" y="5191125"/>
            <a:ext cx="77247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425966"/>
                </a:solidFill>
                <a:latin typeface="Malgun Gothic"/>
                <a:ea typeface="Malgun Gothic"/>
                <a:cs typeface="Malgun Gothic"/>
              </a:defRPr>
            </a:defPPr>
          </a:lstStyle>
          <a:p xmlns:a="http://schemas.openxmlformats.org/drawingml/2006/main">
            <a:pPr>
              <a:buNone/>
              <a:defRPr sz="1875" b="0">
                <a:solidFill>
                  <a:srgbClr val="425966"/>
                </a:solidFill>
                <a:latin typeface="Malgun Gothic"/>
                <a:ea typeface="Malgun Gothic"/>
                <a:cs typeface="Malgun Gothic"/>
              </a:defRPr>
            </a:pPr>
            <a:r>
              <a:rPr sz="1875" b="0">
                <a:solidFill>
                  <a:srgbClr val="425966"/>
                </a:solidFill>
                <a:latin typeface="Malgun Gothic"/>
                <a:ea typeface="Malgun Gothic"/>
                <a:cs typeface="Malgun Gothic"/>
              </a:rPr>
              <a:t>조건을 검사한 뒤 자금과 현재 혜성 재고를 함께 반영합니다.</a:t>
            </a:r>
          </a:p>
        </p:txBody>
      </p:sp>
      <p:sp>
        <p:nvSpPr>
          <p:cNvPr id="10" name="design-intent">
            <a:extLst xmlns:a="http://schemas.openxmlformats.org/drawingml/2006/main">
              <a:ext uri="{FF2B5EF4-FFF2-40B4-BE49-F238E27FC236}">
                <a16:creationId xmlns:a16="http://schemas.microsoft.com/office/drawing/2014/main" id="{68D47DDD-575C-4C5B-8056-7AEFB633DA16}"/>
              </a:ext>
            </a:extLst>
          </p:cNvPr>
          <p:cNvSpPr>
            <a:spLocks xmlns:a="http://schemas.openxmlformats.org/drawingml/2006/main" noGrp="1"/>
          </p:cNvSpPr>
          <p:nvPr/>
        </p:nvSpPr>
        <p:spPr>
          <a:xfrm xmlns:a="http://schemas.openxmlformats.org/drawingml/2006/main">
            <a:off x="609600" y="6219825"/>
            <a:ext cx="10096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425966"/>
                </a:solidFill>
                <a:latin typeface="Malgun Gothic"/>
                <a:ea typeface="Malgun Gothic"/>
                <a:cs typeface="Malgun Gothic"/>
              </a:defRPr>
            </a:defPPr>
          </a:lstStyle>
          <a:p xmlns:a="http://schemas.openxmlformats.org/drawingml/2006/main">
            <a:pPr>
              <a:buNone/>
              <a:defRPr sz="1725" b="0">
                <a:solidFill>
                  <a:srgbClr val="425966"/>
                </a:solidFill>
                <a:latin typeface="Malgun Gothic"/>
                <a:ea typeface="Malgun Gothic"/>
                <a:cs typeface="Malgun Gothic"/>
              </a:defRPr>
            </a:pPr>
            <a:r>
              <a:rPr sz="1725" b="0">
                <a:solidFill>
                  <a:srgbClr val="425966"/>
                </a:solidFill>
                <a:latin typeface="Malgun Gothic"/>
                <a:ea typeface="Malgun Gothic"/>
                <a:cs typeface="Malgun Gothic"/>
              </a:rPr>
              <a:t>거래 가능 조건을 만족할 때 실행 버튼이 활성화됩니다.</a:t>
            </a:r>
          </a:p>
        </p:txBody>
      </p:sp>
      <p:sp>
        <p:nvSpPr>
          <p:cNvPr id="11" name="page">
            <a:extLst xmlns:a="http://schemas.openxmlformats.org/drawingml/2006/main">
              <a:ext uri="{FF2B5EF4-FFF2-40B4-BE49-F238E27FC236}">
                <a16:creationId xmlns:a16="http://schemas.microsoft.com/office/drawing/2014/main" id="{5EEF504A-7A7D-4D29-9694-9C06CAD77796}"/>
              </a:ext>
            </a:extLst>
          </p:cNvPr>
          <p:cNvSpPr>
            <a:spLocks xmlns:a="http://schemas.openxmlformats.org/drawingml/2006/main" noGrp="1"/>
          </p:cNvSpPr>
          <p:nvPr/>
        </p:nvSpPr>
        <p:spPr>
          <a:xfrm xmlns:a="http://schemas.openxmlformats.org/drawingml/2006/main">
            <a:off x="11087100" y="6353175"/>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425966"/>
                </a:solidFill>
                <a:latin typeface="Malgun Gothic"/>
                <a:ea typeface="Malgun Gothic"/>
                <a:cs typeface="Malgun Gothic"/>
              </a:defRPr>
            </a:defPPr>
          </a:lstStyle>
          <a:p xmlns:a="http://schemas.openxmlformats.org/drawingml/2006/main">
            <a:pPr>
              <a:buNone/>
              <a:defRPr sz="1500" b="0">
                <a:solidFill>
                  <a:srgbClr val="425966"/>
                </a:solidFill>
                <a:latin typeface="Malgun Gothic"/>
                <a:ea typeface="Malgun Gothic"/>
                <a:cs typeface="Malgun Gothic"/>
              </a:defRPr>
            </a:pPr>
            <a:r>
              <a:rPr sz="1500" b="0">
                <a:solidFill>
                  <a:srgbClr val="425966"/>
                </a:solidFill>
                <a:latin typeface="Malgun Gothic"/>
                <a:ea typeface="Malgun Gothic"/>
                <a:cs typeface="Malgun Gothic"/>
              </a:rPr>
              <a:t>13</a:t>
            </a:r>
          </a:p>
        </p:txBody>
      </p:sp>
    </p:spTree>
    <p:extLst>
      <p:ext uri="{BB962C8B-B14F-4D97-AF65-F5344CB8AC3E}">
        <p14:creationId xmlns:p14="http://schemas.microsoft.com/office/powerpoint/2010/main" val="1137007892"/>
      </p:ext>
    </p:extLst>
  </p:cSld>
</p:sld>
</file>

<file path=ppt/slides/slide14.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83F335E3-B59E-42E0-AD2B-C4C266089599}"/>
              </a:ext>
            </a:extLst>
          </p:cNvPr>
          <p:cNvSpPr>
            <a:spLocks xmlns:a="http://schemas.openxmlformats.org/drawingml/2006/main" noGrp="1"/>
          </p:cNvSpPr>
          <p:nvPr/>
        </p:nvSpPr>
        <p:spPr>
          <a:xfrm xmlns:a="http://schemas.openxmlformats.org/drawingml/2006/main">
            <a:off x="609600" y="5715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633"/>
                </a:solidFill>
                <a:latin typeface="Malgun Gothic"/>
                <a:ea typeface="Malgun Gothic"/>
                <a:cs typeface="Malgun Gothic"/>
              </a:defRPr>
            </a:defPPr>
          </a:lstStyle>
          <a:p xmlns:a="http://schemas.openxmlformats.org/drawingml/2006/main">
            <a:pPr>
              <a:buNone/>
              <a:defRPr sz="3300" b="1">
                <a:solidFill>
                  <a:srgbClr val="142633"/>
                </a:solidFill>
                <a:latin typeface="Malgun Gothic"/>
                <a:ea typeface="Malgun Gothic"/>
                <a:cs typeface="Malgun Gothic"/>
              </a:defRPr>
            </a:pPr>
            <a:r>
              <a:rPr sz="3300" b="1">
                <a:solidFill>
                  <a:srgbClr val="142633"/>
                </a:solidFill>
                <a:latin typeface="Malgun Gothic"/>
                <a:ea typeface="Malgun Gothic"/>
                <a:cs typeface="Malgun Gothic"/>
              </a:rPr>
              <a:t>확장과 투자 판단</a:t>
            </a:r>
          </a:p>
        </p:txBody>
      </p:sp>
      <p:sp>
        <p:nvSpPr>
          <p:cNvPr id="2" name="lead">
            <a:extLst xmlns:a="http://schemas.openxmlformats.org/drawingml/2006/main">
              <a:ext uri="{FF2B5EF4-FFF2-40B4-BE49-F238E27FC236}">
                <a16:creationId xmlns:a16="http://schemas.microsoft.com/office/drawing/2014/main" id="{D4A10535-120D-41D9-987F-525614765930}"/>
              </a:ext>
            </a:extLst>
          </p:cNvPr>
          <p:cNvSpPr>
            <a:spLocks xmlns:a="http://schemas.openxmlformats.org/drawingml/2006/main" noGrp="1"/>
          </p:cNvSpPr>
          <p:nvPr/>
        </p:nvSpPr>
        <p:spPr>
          <a:xfrm xmlns:a="http://schemas.openxmlformats.org/drawingml/2006/main">
            <a:off x="609600" y="14573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B95B12"/>
                </a:solidFill>
                <a:latin typeface="Malgun Gothic"/>
                <a:ea typeface="Malgun Gothic"/>
                <a:cs typeface="Malgun Gothic"/>
              </a:defRPr>
            </a:defPPr>
          </a:lstStyle>
          <a:p xmlns:a="http://schemas.openxmlformats.org/drawingml/2006/main">
            <a:pPr>
              <a:buNone/>
              <a:defRPr sz="2100" b="0">
                <a:solidFill>
                  <a:srgbClr val="B95B12"/>
                </a:solidFill>
                <a:latin typeface="Malgun Gothic"/>
                <a:ea typeface="Malgun Gothic"/>
                <a:cs typeface="Malgun Gothic"/>
              </a:defRPr>
            </a:pPr>
            <a:r>
              <a:rPr sz="2100" b="0">
                <a:solidFill>
                  <a:srgbClr val="B95B12"/>
                </a:solidFill>
                <a:latin typeface="Malgun Gothic"/>
                <a:ea typeface="Malgun Gothic"/>
                <a:cs typeface="Malgun Gothic"/>
              </a:rPr>
              <a:t>새 혜성의 자원·공간·거리와 개척 비용을 비교</a:t>
            </a:r>
          </a:p>
        </p:txBody>
      </p:sp>
      <p:sp>
        <p:nvSpPr>
          <p:cNvPr id="3" name="item-heading">
            <a:extLst xmlns:a="http://schemas.openxmlformats.org/drawingml/2006/main">
              <a:ext uri="{FF2B5EF4-FFF2-40B4-BE49-F238E27FC236}">
                <a16:creationId xmlns:a16="http://schemas.microsoft.com/office/drawing/2014/main" id="{9806F4D4-23B7-465B-B08E-3455FEF4B5E5}"/>
              </a:ext>
            </a:extLst>
          </p:cNvPr>
          <p:cNvSpPr>
            <a:spLocks xmlns:a="http://schemas.openxmlformats.org/drawingml/2006/main" noGrp="1"/>
          </p:cNvSpPr>
          <p:nvPr/>
        </p:nvSpPr>
        <p:spPr>
          <a:xfrm xmlns:a="http://schemas.openxmlformats.org/drawingml/2006/main">
            <a:off x="609600" y="2381250"/>
            <a:ext cx="676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42633"/>
                </a:solidFill>
                <a:latin typeface="Malgun Gothic"/>
                <a:ea typeface="Malgun Gothic"/>
                <a:cs typeface="Malgun Gothic"/>
              </a:defRPr>
            </a:defPPr>
          </a:lstStyle>
          <a:p xmlns:a="http://schemas.openxmlformats.org/drawingml/2006/main">
            <a:pPr>
              <a:buNone/>
              <a:defRPr sz="2025" b="1">
                <a:solidFill>
                  <a:srgbClr val="142633"/>
                </a:solidFill>
                <a:latin typeface="Malgun Gothic"/>
                <a:ea typeface="Malgun Gothic"/>
                <a:cs typeface="Malgun Gothic"/>
              </a:defRPr>
            </a:pPr>
            <a:r>
              <a:rPr sz="2025" b="1">
                <a:solidFill>
                  <a:srgbClr val="142633"/>
                </a:solidFill>
                <a:latin typeface="Malgun Gothic"/>
                <a:ea typeface="Malgun Gothic"/>
                <a:cs typeface="Malgun Gothic"/>
              </a:rPr>
              <a:t>탐사</a:t>
            </a:r>
          </a:p>
        </p:txBody>
      </p:sp>
      <p:sp>
        <p:nvSpPr>
          <p:cNvPr id="4" name="body">
            <a:extLst xmlns:a="http://schemas.openxmlformats.org/drawingml/2006/main">
              <a:ext uri="{FF2B5EF4-FFF2-40B4-BE49-F238E27FC236}">
                <a16:creationId xmlns:a16="http://schemas.microsoft.com/office/drawing/2014/main" id="{29652C07-0CD9-45D1-BD51-48C085E05992}"/>
              </a:ext>
            </a:extLst>
          </p:cNvPr>
          <p:cNvSpPr>
            <a:spLocks xmlns:a="http://schemas.openxmlformats.org/drawingml/2006/main" noGrp="1"/>
          </p:cNvSpPr>
          <p:nvPr/>
        </p:nvSpPr>
        <p:spPr>
          <a:xfrm xmlns:a="http://schemas.openxmlformats.org/drawingml/2006/main">
            <a:off x="609600" y="2790825"/>
            <a:ext cx="6762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425966"/>
                </a:solidFill>
                <a:latin typeface="Malgun Gothic"/>
                <a:ea typeface="Malgun Gothic"/>
                <a:cs typeface="Malgun Gothic"/>
              </a:defRPr>
            </a:defPPr>
          </a:lstStyle>
          <a:p xmlns:a="http://schemas.openxmlformats.org/drawingml/2006/main">
            <a:pPr>
              <a:buNone/>
              <a:defRPr sz="1875" b="0">
                <a:solidFill>
                  <a:srgbClr val="425966"/>
                </a:solidFill>
                <a:latin typeface="Malgun Gothic"/>
                <a:ea typeface="Malgun Gothic"/>
                <a:cs typeface="Malgun Gothic"/>
              </a:defRPr>
            </a:pPr>
            <a:r>
              <a:rPr sz="1875" b="0">
                <a:solidFill>
                  <a:srgbClr val="425966"/>
                </a:solidFill>
                <a:latin typeface="Malgun Gothic"/>
                <a:ea typeface="Malgun Gothic"/>
                <a:cs typeface="Malgun Gothic"/>
              </a:rPr>
              <a:t>1,500솔라를 지불하고 8초 뒤 후보 3개를 확인합니다.</a:t>
            </a:r>
          </a:p>
        </p:txBody>
      </p:sp>
      <p:sp>
        <p:nvSpPr>
          <p:cNvPr id="5" name="item-heading">
            <a:extLst xmlns:a="http://schemas.openxmlformats.org/drawingml/2006/main">
              <a:ext uri="{FF2B5EF4-FFF2-40B4-BE49-F238E27FC236}">
                <a16:creationId xmlns:a16="http://schemas.microsoft.com/office/drawing/2014/main" id="{48B666E4-7C05-4322-A227-3E288994B179}"/>
              </a:ext>
            </a:extLst>
          </p:cNvPr>
          <p:cNvSpPr>
            <a:spLocks xmlns:a="http://schemas.openxmlformats.org/drawingml/2006/main" noGrp="1"/>
          </p:cNvSpPr>
          <p:nvPr/>
        </p:nvSpPr>
        <p:spPr>
          <a:xfrm xmlns:a="http://schemas.openxmlformats.org/drawingml/2006/main">
            <a:off x="609600" y="3524250"/>
            <a:ext cx="676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42633"/>
                </a:solidFill>
                <a:latin typeface="Malgun Gothic"/>
                <a:ea typeface="Malgun Gothic"/>
                <a:cs typeface="Malgun Gothic"/>
              </a:defRPr>
            </a:defPPr>
          </a:lstStyle>
          <a:p xmlns:a="http://schemas.openxmlformats.org/drawingml/2006/main">
            <a:pPr>
              <a:buNone/>
              <a:defRPr sz="2025" b="1">
                <a:solidFill>
                  <a:srgbClr val="142633"/>
                </a:solidFill>
                <a:latin typeface="Malgun Gothic"/>
                <a:ea typeface="Malgun Gothic"/>
                <a:cs typeface="Malgun Gothic"/>
              </a:defRPr>
            </a:pPr>
            <a:r>
              <a:rPr sz="2025" b="1">
                <a:solidFill>
                  <a:srgbClr val="142633"/>
                </a:solidFill>
                <a:latin typeface="Malgun Gothic"/>
                <a:ea typeface="Malgun Gothic"/>
                <a:cs typeface="Malgun Gothic"/>
              </a:rPr>
              <a:t>개척</a:t>
            </a:r>
          </a:p>
        </p:txBody>
      </p:sp>
      <p:sp>
        <p:nvSpPr>
          <p:cNvPr id="6" name="body">
            <a:extLst xmlns:a="http://schemas.openxmlformats.org/drawingml/2006/main">
              <a:ext uri="{FF2B5EF4-FFF2-40B4-BE49-F238E27FC236}">
                <a16:creationId xmlns:a16="http://schemas.microsoft.com/office/drawing/2014/main" id="{7D71587B-389A-4103-A278-3AB216BB3BBC}"/>
              </a:ext>
            </a:extLst>
          </p:cNvPr>
          <p:cNvSpPr>
            <a:spLocks xmlns:a="http://schemas.openxmlformats.org/drawingml/2006/main" noGrp="1"/>
          </p:cNvSpPr>
          <p:nvPr/>
        </p:nvSpPr>
        <p:spPr>
          <a:xfrm xmlns:a="http://schemas.openxmlformats.org/drawingml/2006/main">
            <a:off x="609600" y="3933825"/>
            <a:ext cx="6762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425966"/>
                </a:solidFill>
                <a:latin typeface="Malgun Gothic"/>
                <a:ea typeface="Malgun Gothic"/>
                <a:cs typeface="Malgun Gothic"/>
              </a:defRPr>
            </a:defPPr>
          </a:lstStyle>
          <a:p xmlns:a="http://schemas.openxmlformats.org/drawingml/2006/main">
            <a:pPr>
              <a:buNone/>
              <a:defRPr sz="1875" b="0">
                <a:solidFill>
                  <a:srgbClr val="425966"/>
                </a:solidFill>
                <a:latin typeface="Malgun Gothic"/>
                <a:ea typeface="Malgun Gothic"/>
                <a:cs typeface="Malgun Gothic"/>
              </a:defRPr>
            </a:pPr>
            <a:r>
              <a:rPr sz="1875" b="0">
                <a:solidFill>
                  <a:srgbClr val="425966"/>
                </a:solidFill>
                <a:latin typeface="Malgun Gothic"/>
                <a:ea typeface="Malgun Gothic"/>
                <a:cs typeface="Malgun Gothic"/>
              </a:rPr>
              <a:t>후보를 선택해 비용을 지불하면 항구를 갖춘 새 혜성을 소유합니다.</a:t>
            </a:r>
          </a:p>
        </p:txBody>
      </p:sp>
      <p:sp>
        <p:nvSpPr>
          <p:cNvPr id="7" name="item-heading">
            <a:extLst xmlns:a="http://schemas.openxmlformats.org/drawingml/2006/main">
              <a:ext uri="{FF2B5EF4-FFF2-40B4-BE49-F238E27FC236}">
                <a16:creationId xmlns:a16="http://schemas.microsoft.com/office/drawing/2014/main" id="{EFB0FD75-DD4D-43E0-8D1B-A2FFEF1ADAF2}"/>
              </a:ext>
            </a:extLst>
          </p:cNvPr>
          <p:cNvSpPr>
            <a:spLocks xmlns:a="http://schemas.openxmlformats.org/drawingml/2006/main" noGrp="1"/>
          </p:cNvSpPr>
          <p:nvPr/>
        </p:nvSpPr>
        <p:spPr>
          <a:xfrm xmlns:a="http://schemas.openxmlformats.org/drawingml/2006/main">
            <a:off x="609600" y="4667250"/>
            <a:ext cx="676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42633"/>
                </a:solidFill>
                <a:latin typeface="Malgun Gothic"/>
                <a:ea typeface="Malgun Gothic"/>
                <a:cs typeface="Malgun Gothic"/>
              </a:defRPr>
            </a:defPPr>
          </a:lstStyle>
          <a:p xmlns:a="http://schemas.openxmlformats.org/drawingml/2006/main">
            <a:pPr>
              <a:buNone/>
              <a:defRPr sz="2025" b="1">
                <a:solidFill>
                  <a:srgbClr val="142633"/>
                </a:solidFill>
                <a:latin typeface="Malgun Gothic"/>
                <a:ea typeface="Malgun Gothic"/>
                <a:cs typeface="Malgun Gothic"/>
              </a:defRPr>
            </a:pPr>
            <a:r>
              <a:rPr sz="2025" b="1">
                <a:solidFill>
                  <a:srgbClr val="142633"/>
                </a:solidFill>
                <a:latin typeface="Malgun Gothic"/>
                <a:ea typeface="Malgun Gothic"/>
                <a:cs typeface="Malgun Gothic"/>
              </a:rPr>
              <a:t>동시 운영</a:t>
            </a:r>
          </a:p>
        </p:txBody>
      </p:sp>
      <p:sp>
        <p:nvSpPr>
          <p:cNvPr id="8" name="body">
            <a:extLst xmlns:a="http://schemas.openxmlformats.org/drawingml/2006/main">
              <a:ext uri="{FF2B5EF4-FFF2-40B4-BE49-F238E27FC236}">
                <a16:creationId xmlns:a16="http://schemas.microsoft.com/office/drawing/2014/main" id="{2208A4C0-0CAE-4A8A-BCAA-4D77075EDEAF}"/>
              </a:ext>
            </a:extLst>
          </p:cNvPr>
          <p:cNvSpPr>
            <a:spLocks xmlns:a="http://schemas.openxmlformats.org/drawingml/2006/main" noGrp="1"/>
          </p:cNvSpPr>
          <p:nvPr/>
        </p:nvSpPr>
        <p:spPr>
          <a:xfrm xmlns:a="http://schemas.openxmlformats.org/drawingml/2006/main">
            <a:off x="609600" y="5076825"/>
            <a:ext cx="6762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425966"/>
                </a:solidFill>
                <a:latin typeface="Malgun Gothic"/>
                <a:ea typeface="Malgun Gothic"/>
                <a:cs typeface="Malgun Gothic"/>
              </a:defRPr>
            </a:defPPr>
          </a:lstStyle>
          <a:p xmlns:a="http://schemas.openxmlformats.org/drawingml/2006/main">
            <a:pPr>
              <a:buNone/>
              <a:defRPr sz="1875" b="0">
                <a:solidFill>
                  <a:srgbClr val="425966"/>
                </a:solidFill>
                <a:latin typeface="Malgun Gothic"/>
                <a:ea typeface="Malgun Gothic"/>
                <a:cs typeface="Malgun Gothic"/>
              </a:defRPr>
            </a:pPr>
            <a:r>
              <a:rPr sz="1875" b="0">
                <a:solidFill>
                  <a:srgbClr val="425966"/>
                </a:solidFill>
                <a:latin typeface="Malgun Gothic"/>
                <a:ea typeface="Malgun Gothic"/>
                <a:cs typeface="Malgun Gothic"/>
              </a:rPr>
              <a:t>선택하지 않은 혜성도 계속 생산합니다. 플레이어는 개발 구역을 전환하며 회사를 관리합니다.</a:t>
            </a:r>
          </a:p>
        </p:txBody>
      </p:sp>
      <p:pic>
        <p:nvPicPr>
          <p:cNvPr id="9" name="">
            <a:extLst xmlns:a="http://schemas.openxmlformats.org/drawingml/2006/main">
              <a:ext uri="{FF2B5EF4-FFF2-40B4-BE49-F238E27FC236}">
                <a16:creationId xmlns:a16="http://schemas.microsoft.com/office/drawing/2014/main" id="{86A06695-3569-4BFC-A495-BECC19A5B7F4}"/>
              </a:ext>
            </a:extLst>
          </p:cNvPr>
          <p:cNvPicPr>
            <a:picLocks xmlns:a="http://schemas.openxmlformats.org/drawingml/2006/main" noChangeAspect="1"/>
          </p:cNvPicPr>
          <p:nvPr/>
        </p:nvPicPr>
        <p:blipFill>
          <a:blip xmlns:r="http://schemas.openxmlformats.org/officeDocument/2006/relationships" xmlns:a="http://schemas.openxmlformats.org/drawingml/2006/main" r:embed="Re9ced13faa164ecd"/>
          <a:stretch xmlns:a="http://schemas.openxmlformats.org/drawingml/2006/main"/>
        </p:blipFill>
        <p:spPr>
          <a:xfrm xmlns:a="http://schemas.openxmlformats.org/drawingml/2006/main">
            <a:off x="8181975" y="2209800"/>
            <a:ext cx="3143250" cy="3143250"/>
          </a:xfrm>
          <a:prstGeom xmlns:a="http://schemas.openxmlformats.org/drawingml/2006/main" prst="rect">
            <a:avLst/>
          </a:prstGeom>
        </p:spPr>
      </p:pic>
      <p:sp>
        <p:nvSpPr>
          <p:cNvPr id="10" name="body">
            <a:extLst xmlns:a="http://schemas.openxmlformats.org/drawingml/2006/main">
              <a:ext uri="{FF2B5EF4-FFF2-40B4-BE49-F238E27FC236}">
                <a16:creationId xmlns:a16="http://schemas.microsoft.com/office/drawing/2014/main" id="{8E530669-FED9-4088-88A3-4D7883BDC48E}"/>
              </a:ext>
            </a:extLst>
          </p:cNvPr>
          <p:cNvSpPr>
            <a:spLocks xmlns:a="http://schemas.openxmlformats.org/drawingml/2006/main" noGrp="1"/>
          </p:cNvSpPr>
          <p:nvPr/>
        </p:nvSpPr>
        <p:spPr>
          <a:xfrm xmlns:a="http://schemas.openxmlformats.org/drawingml/2006/main">
            <a:off x="7943850" y="5581650"/>
            <a:ext cx="361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425966"/>
                </a:solidFill>
                <a:latin typeface="Malgun Gothic"/>
                <a:ea typeface="Malgun Gothic"/>
                <a:cs typeface="Malgun Gothic"/>
              </a:defRPr>
            </a:defPPr>
          </a:lstStyle>
          <a:p xmlns:a="http://schemas.openxmlformats.org/drawingml/2006/main">
            <a:pPr>
              <a:buNone/>
              <a:defRPr sz="1725" b="0">
                <a:solidFill>
                  <a:srgbClr val="425966"/>
                </a:solidFill>
                <a:latin typeface="Malgun Gothic"/>
                <a:ea typeface="Malgun Gothic"/>
                <a:cs typeface="Malgun Gothic"/>
              </a:defRPr>
            </a:pPr>
            <a:r>
              <a:rPr sz="1725" b="0">
                <a:solidFill>
                  <a:srgbClr val="425966"/>
                </a:solidFill>
                <a:latin typeface="Malgun Gothic"/>
                <a:ea typeface="Malgun Gothic"/>
                <a:cs typeface="Malgun Gothic"/>
              </a:rPr>
              <a:t>프로젝트 내 시설 아트</a:t>
            </a:r>
          </a:p>
        </p:txBody>
      </p:sp>
      <p:sp>
        <p:nvSpPr>
          <p:cNvPr id="11" name="body">
            <a:extLst xmlns:a="http://schemas.openxmlformats.org/drawingml/2006/main">
              <a:ext uri="{FF2B5EF4-FFF2-40B4-BE49-F238E27FC236}">
                <a16:creationId xmlns:a16="http://schemas.microsoft.com/office/drawing/2014/main" id="{E0257218-4B7B-4C94-A130-5035E02501C5}"/>
              </a:ext>
            </a:extLst>
          </p:cNvPr>
          <p:cNvSpPr>
            <a:spLocks xmlns:a="http://schemas.openxmlformats.org/drawingml/2006/main" noGrp="1"/>
          </p:cNvSpPr>
          <p:nvPr/>
        </p:nvSpPr>
        <p:spPr>
          <a:xfrm xmlns:a="http://schemas.openxmlformats.org/drawingml/2006/main">
            <a:off x="11087100" y="6353175"/>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425966"/>
                </a:solidFill>
                <a:latin typeface="Malgun Gothic"/>
                <a:ea typeface="Malgun Gothic"/>
                <a:cs typeface="Malgun Gothic"/>
              </a:defRPr>
            </a:defPPr>
          </a:lstStyle>
          <a:p xmlns:a="http://schemas.openxmlformats.org/drawingml/2006/main">
            <a:pPr>
              <a:buNone/>
              <a:defRPr sz="1500" b="0">
                <a:solidFill>
                  <a:srgbClr val="425966"/>
                </a:solidFill>
                <a:latin typeface="Malgun Gothic"/>
                <a:ea typeface="Malgun Gothic"/>
                <a:cs typeface="Malgun Gothic"/>
              </a:defRPr>
            </a:pPr>
            <a:r>
              <a:rPr sz="1500" b="0">
                <a:solidFill>
                  <a:srgbClr val="425966"/>
                </a:solidFill>
                <a:latin typeface="Malgun Gothic"/>
                <a:ea typeface="Malgun Gothic"/>
                <a:cs typeface="Malgun Gothic"/>
              </a:rPr>
              <a:t>14</a:t>
            </a:r>
          </a:p>
        </p:txBody>
      </p:sp>
    </p:spTree>
    <p:extLst>
      <p:ext uri="{BB962C8B-B14F-4D97-AF65-F5344CB8AC3E}">
        <p14:creationId xmlns:p14="http://schemas.microsoft.com/office/powerpoint/2010/main" val="108824599"/>
      </p:ext>
    </p:extLst>
  </p:cSld>
</p:sld>
</file>

<file path=ppt/slides/slide15.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D6245402-E335-492B-85ED-917CA839A5BC}"/>
              </a:ext>
            </a:extLst>
          </p:cNvPr>
          <p:cNvSpPr>
            <a:spLocks xmlns:a="http://schemas.openxmlformats.org/drawingml/2006/main" noGrp="1"/>
          </p:cNvSpPr>
          <p:nvPr/>
        </p:nvSpPr>
        <p:spPr>
          <a:xfrm xmlns:a="http://schemas.openxmlformats.org/drawingml/2006/main">
            <a:off x="609600" y="5715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42633"/>
                </a:solidFill>
                <a:latin typeface="Malgun Gothic"/>
                <a:ea typeface="Malgun Gothic"/>
                <a:cs typeface="Malgun Gothic"/>
              </a:defRPr>
            </a:defPPr>
          </a:lstStyle>
          <a:p xmlns:a="http://schemas.openxmlformats.org/drawingml/2006/main">
            <a:pPr>
              <a:buNone/>
              <a:defRPr sz="3300" b="1">
                <a:solidFill>
                  <a:srgbClr val="142633"/>
                </a:solidFill>
                <a:latin typeface="Malgun Gothic"/>
                <a:ea typeface="Malgun Gothic"/>
                <a:cs typeface="Malgun Gothic"/>
              </a:defRPr>
            </a:pPr>
            <a:r>
              <a:rPr sz="3300" b="1">
                <a:solidFill>
                  <a:srgbClr val="142633"/>
                </a:solidFill>
                <a:latin typeface="Malgun Gothic"/>
                <a:ea typeface="Malgun Gothic"/>
                <a:cs typeface="Malgun Gothic"/>
              </a:rPr>
              <a:t>혜성 탐사와 개척 UI</a:t>
            </a:r>
          </a:p>
        </p:txBody>
      </p:sp>
      <p:sp>
        <p:nvSpPr>
          <p:cNvPr id="2" name="lead">
            <a:extLst xmlns:a="http://schemas.openxmlformats.org/drawingml/2006/main">
              <a:ext uri="{FF2B5EF4-FFF2-40B4-BE49-F238E27FC236}">
                <a16:creationId xmlns:a16="http://schemas.microsoft.com/office/drawing/2014/main" id="{591C5C27-AE0D-4341-9FE0-81B7665F9F7A}"/>
              </a:ext>
            </a:extLst>
          </p:cNvPr>
          <p:cNvSpPr>
            <a:spLocks xmlns:a="http://schemas.openxmlformats.org/drawingml/2006/main" noGrp="1"/>
          </p:cNvSpPr>
          <p:nvPr/>
        </p:nvSpPr>
        <p:spPr>
          <a:xfrm xmlns:a="http://schemas.openxmlformats.org/drawingml/2006/main">
            <a:off x="609600" y="145732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B95B12"/>
                </a:solidFill>
                <a:latin typeface="Malgun Gothic"/>
                <a:ea typeface="Malgun Gothic"/>
                <a:cs typeface="Malgun Gothic"/>
              </a:defRPr>
            </a:defPPr>
          </a:lstStyle>
          <a:p xmlns:a="http://schemas.openxmlformats.org/drawingml/2006/main">
            <a:pPr>
              <a:buNone/>
              <a:defRPr sz="2100" b="0">
                <a:solidFill>
                  <a:srgbClr val="B95B12"/>
                </a:solidFill>
                <a:latin typeface="Malgun Gothic"/>
                <a:ea typeface="Malgun Gothic"/>
                <a:cs typeface="Malgun Gothic"/>
              </a:defRPr>
            </a:pPr>
            <a:r>
              <a:rPr sz="2100" b="0">
                <a:solidFill>
                  <a:srgbClr val="B95B12"/>
                </a:solidFill>
                <a:latin typeface="Malgun Gothic"/>
                <a:ea typeface="Malgun Gothic"/>
                <a:cs typeface="Malgun Gothic"/>
              </a:rPr>
              <a:t>실제 인게임 화면 · 후보를 비교한 뒤 투자</a:t>
            </a:r>
          </a:p>
        </p:txBody>
      </p:sp>
      <p:pic>
        <p:nvPicPr>
          <p:cNvPr id="3" name="">
            <a:extLst xmlns:a="http://schemas.openxmlformats.org/drawingml/2006/main">
              <a:ext uri="{FF2B5EF4-FFF2-40B4-BE49-F238E27FC236}">
                <a16:creationId xmlns:a16="http://schemas.microsoft.com/office/drawing/2014/main" id="{E0166A2B-632A-4BDF-A3E7-E4A8D0FD8570}"/>
              </a:ext>
            </a:extLst>
          </p:cNvPr>
          <p:cNvPicPr>
            <a:picLocks xmlns:a="http://schemas.openxmlformats.org/drawingml/2006/main" noChangeAspect="1"/>
          </p:cNvPicPr>
          <p:nvPr/>
        </p:nvPicPr>
        <p:blipFill>
          <a:blip xmlns:r="http://schemas.openxmlformats.org/officeDocument/2006/relationships" xmlns:a="http://schemas.openxmlformats.org/drawingml/2006/main" r:embed="R0718695224624533"/>
          <a:stretch xmlns:a="http://schemas.openxmlformats.org/drawingml/2006/main"/>
        </p:blipFill>
        <p:spPr>
          <a:xfrm xmlns:a="http://schemas.openxmlformats.org/drawingml/2006/main">
            <a:off x="1067303" y="2028825"/>
            <a:ext cx="7133218" cy="4038600"/>
          </a:xfrm>
          <a:prstGeom xmlns:a="http://schemas.openxmlformats.org/drawingml/2006/main" prst="rect">
            <a:avLst/>
          </a:prstGeom>
        </p:spPr>
      </p:pic>
      <p:sp>
        <p:nvSpPr>
          <p:cNvPr id="4" name="body">
            <a:extLst xmlns:a="http://schemas.openxmlformats.org/drawingml/2006/main">
              <a:ext uri="{FF2B5EF4-FFF2-40B4-BE49-F238E27FC236}">
                <a16:creationId xmlns:a16="http://schemas.microsoft.com/office/drawing/2014/main" id="{F5FD2E06-EF59-4293-B7FB-6DEE71AD7D24}"/>
              </a:ext>
            </a:extLst>
          </p:cNvPr>
          <p:cNvSpPr>
            <a:spLocks xmlns:a="http://schemas.openxmlformats.org/drawingml/2006/main" noGrp="1"/>
          </p:cNvSpPr>
          <p:nvPr/>
        </p:nvSpPr>
        <p:spPr>
          <a:xfrm xmlns:a="http://schemas.openxmlformats.org/drawingml/2006/main">
            <a:off x="9048750" y="2190750"/>
            <a:ext cx="2533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142633"/>
                </a:solidFill>
                <a:latin typeface="Malgun Gothic"/>
                <a:ea typeface="Malgun Gothic"/>
                <a:cs typeface="Malgun Gothic"/>
              </a:defRPr>
            </a:defPPr>
          </a:lstStyle>
          <a:p xmlns:a="http://schemas.openxmlformats.org/drawingml/2006/main">
            <a:pPr>
              <a:buNone/>
              <a:defRPr sz="1950" b="1">
                <a:solidFill>
                  <a:srgbClr val="142633"/>
                </a:solidFill>
                <a:latin typeface="Malgun Gothic"/>
                <a:ea typeface="Malgun Gothic"/>
                <a:cs typeface="Malgun Gothic"/>
              </a:defRPr>
            </a:pPr>
            <a:r>
              <a:rPr sz="1950" b="1">
                <a:solidFill>
                  <a:srgbClr val="142633"/>
                </a:solidFill>
                <a:latin typeface="Malgun Gothic"/>
                <a:ea typeface="Malgun Gothic"/>
                <a:cs typeface="Malgun Gothic"/>
              </a:rPr>
              <a:t>새 탐사 시작</a:t>
            </a:r>
          </a:p>
        </p:txBody>
      </p:sp>
      <p:sp>
        <p:nvSpPr>
          <p:cNvPr id="5" name="body">
            <a:extLst xmlns:a="http://schemas.openxmlformats.org/drawingml/2006/main">
              <a:ext uri="{FF2B5EF4-FFF2-40B4-BE49-F238E27FC236}">
                <a16:creationId xmlns:a16="http://schemas.microsoft.com/office/drawing/2014/main" id="{33117376-A302-4574-BAEE-8CDF5DB5A79E}"/>
              </a:ext>
            </a:extLst>
          </p:cNvPr>
          <p:cNvSpPr>
            <a:spLocks xmlns:a="http://schemas.openxmlformats.org/drawingml/2006/main" noGrp="1"/>
          </p:cNvSpPr>
          <p:nvPr/>
        </p:nvSpPr>
        <p:spPr>
          <a:xfrm xmlns:a="http://schemas.openxmlformats.org/drawingml/2006/main">
            <a:off x="9048750" y="2600325"/>
            <a:ext cx="25336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425966"/>
                </a:solidFill>
                <a:latin typeface="Malgun Gothic"/>
                <a:ea typeface="Malgun Gothic"/>
                <a:cs typeface="Malgun Gothic"/>
              </a:defRPr>
            </a:defPPr>
          </a:lstStyle>
          <a:p xmlns:a="http://schemas.openxmlformats.org/drawingml/2006/main">
            <a:pPr>
              <a:buNone/>
              <a:defRPr sz="1725" b="0">
                <a:solidFill>
                  <a:srgbClr val="425966"/>
                </a:solidFill>
                <a:latin typeface="Malgun Gothic"/>
                <a:ea typeface="Malgun Gothic"/>
                <a:cs typeface="Malgun Gothic"/>
              </a:defRPr>
            </a:pPr>
            <a:r>
              <a:rPr sz="1725" b="0">
                <a:solidFill>
                  <a:srgbClr val="425966"/>
                </a:solidFill>
                <a:latin typeface="Malgun Gothic"/>
                <a:ea typeface="Malgun Gothic"/>
                <a:cs typeface="Malgun Gothic"/>
              </a:rPr>
              <a:t>1,500솔라를 사용해 8초 뒤 후보 3개를 발견합니다.</a:t>
            </a:r>
          </a:p>
        </p:txBody>
      </p:sp>
      <p:sp>
        <p:nvSpPr>
          <p:cNvPr id="6" name="body">
            <a:extLst xmlns:a="http://schemas.openxmlformats.org/drawingml/2006/main">
              <a:ext uri="{FF2B5EF4-FFF2-40B4-BE49-F238E27FC236}">
                <a16:creationId xmlns:a16="http://schemas.microsoft.com/office/drawing/2014/main" id="{DAB004BD-A97B-4266-BF06-B6690A527DD6}"/>
              </a:ext>
            </a:extLst>
          </p:cNvPr>
          <p:cNvSpPr>
            <a:spLocks xmlns:a="http://schemas.openxmlformats.org/drawingml/2006/main" noGrp="1"/>
          </p:cNvSpPr>
          <p:nvPr/>
        </p:nvSpPr>
        <p:spPr>
          <a:xfrm xmlns:a="http://schemas.openxmlformats.org/drawingml/2006/main">
            <a:off x="9048750" y="3486150"/>
            <a:ext cx="2533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142633"/>
                </a:solidFill>
                <a:latin typeface="Malgun Gothic"/>
                <a:ea typeface="Malgun Gothic"/>
                <a:cs typeface="Malgun Gothic"/>
              </a:defRPr>
            </a:defPPr>
          </a:lstStyle>
          <a:p xmlns:a="http://schemas.openxmlformats.org/drawingml/2006/main">
            <a:pPr>
              <a:buNone/>
              <a:defRPr sz="1950" b="1">
                <a:solidFill>
                  <a:srgbClr val="142633"/>
                </a:solidFill>
                <a:latin typeface="Malgun Gothic"/>
                <a:ea typeface="Malgun Gothic"/>
                <a:cs typeface="Malgun Gothic"/>
              </a:defRPr>
            </a:pPr>
            <a:r>
              <a:rPr sz="1950" b="1">
                <a:solidFill>
                  <a:srgbClr val="142633"/>
                </a:solidFill>
                <a:latin typeface="Malgun Gothic"/>
                <a:ea typeface="Malgun Gothic"/>
                <a:cs typeface="Malgun Gothic"/>
              </a:rPr>
              <a:t>후보 선택</a:t>
            </a:r>
          </a:p>
        </p:txBody>
      </p:sp>
      <p:sp>
        <p:nvSpPr>
          <p:cNvPr id="7" name="body">
            <a:extLst xmlns:a="http://schemas.openxmlformats.org/drawingml/2006/main">
              <a:ext uri="{FF2B5EF4-FFF2-40B4-BE49-F238E27FC236}">
                <a16:creationId xmlns:a16="http://schemas.microsoft.com/office/drawing/2014/main" id="{0809C949-07D2-4044-B969-1B6B3680C9BA}"/>
              </a:ext>
            </a:extLst>
          </p:cNvPr>
          <p:cNvSpPr>
            <a:spLocks xmlns:a="http://schemas.openxmlformats.org/drawingml/2006/main" noGrp="1"/>
          </p:cNvSpPr>
          <p:nvPr/>
        </p:nvSpPr>
        <p:spPr>
          <a:xfrm xmlns:a="http://schemas.openxmlformats.org/drawingml/2006/main">
            <a:off x="9048750" y="3895725"/>
            <a:ext cx="25336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425966"/>
                </a:solidFill>
                <a:latin typeface="Malgun Gothic"/>
                <a:ea typeface="Malgun Gothic"/>
                <a:cs typeface="Malgun Gothic"/>
              </a:defRPr>
            </a:defPPr>
          </a:lstStyle>
          <a:p xmlns:a="http://schemas.openxmlformats.org/drawingml/2006/main">
            <a:pPr>
              <a:buNone/>
              <a:defRPr sz="1725" b="0">
                <a:solidFill>
                  <a:srgbClr val="425966"/>
                </a:solidFill>
                <a:latin typeface="Malgun Gothic"/>
                <a:ea typeface="Malgun Gothic"/>
                <a:cs typeface="Malgun Gothic"/>
              </a:defRPr>
            </a:pPr>
            <a:r>
              <a:rPr sz="1725" b="0">
                <a:solidFill>
                  <a:srgbClr val="425966"/>
                </a:solidFill>
                <a:latin typeface="Malgun Gothic"/>
                <a:ea typeface="Malgun Gothic"/>
                <a:cs typeface="Malgun Gothic"/>
              </a:rPr>
              <a:t>크기·거리·매장량과 개척 비용을 비교합니다.</a:t>
            </a:r>
          </a:p>
        </p:txBody>
      </p:sp>
      <p:sp>
        <p:nvSpPr>
          <p:cNvPr id="8" name="body">
            <a:extLst xmlns:a="http://schemas.openxmlformats.org/drawingml/2006/main">
              <a:ext uri="{FF2B5EF4-FFF2-40B4-BE49-F238E27FC236}">
                <a16:creationId xmlns:a16="http://schemas.microsoft.com/office/drawing/2014/main" id="{29760CBD-BE7B-41EE-8F2D-C6FB4223A53E}"/>
              </a:ext>
            </a:extLst>
          </p:cNvPr>
          <p:cNvSpPr>
            <a:spLocks xmlns:a="http://schemas.openxmlformats.org/drawingml/2006/main" noGrp="1"/>
          </p:cNvSpPr>
          <p:nvPr/>
        </p:nvSpPr>
        <p:spPr>
          <a:xfrm xmlns:a="http://schemas.openxmlformats.org/drawingml/2006/main">
            <a:off x="9048750" y="4781550"/>
            <a:ext cx="2533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142633"/>
                </a:solidFill>
                <a:latin typeface="Malgun Gothic"/>
                <a:ea typeface="Malgun Gothic"/>
                <a:cs typeface="Malgun Gothic"/>
              </a:defRPr>
            </a:defPPr>
          </a:lstStyle>
          <a:p xmlns:a="http://schemas.openxmlformats.org/drawingml/2006/main">
            <a:pPr>
              <a:buNone/>
              <a:defRPr sz="1950" b="1">
                <a:solidFill>
                  <a:srgbClr val="142633"/>
                </a:solidFill>
                <a:latin typeface="Malgun Gothic"/>
                <a:ea typeface="Malgun Gothic"/>
                <a:cs typeface="Malgun Gothic"/>
              </a:defRPr>
            </a:pPr>
            <a:r>
              <a:rPr sz="1950" b="1">
                <a:solidFill>
                  <a:srgbClr val="142633"/>
                </a:solidFill>
                <a:latin typeface="Malgun Gothic"/>
                <a:ea typeface="Malgun Gothic"/>
                <a:cs typeface="Malgun Gothic"/>
              </a:rPr>
              <a:t>선택한 혜성 개척하기</a:t>
            </a:r>
          </a:p>
        </p:txBody>
      </p:sp>
      <p:sp>
        <p:nvSpPr>
          <p:cNvPr id="9" name="body">
            <a:extLst xmlns:a="http://schemas.openxmlformats.org/drawingml/2006/main">
              <a:ext uri="{FF2B5EF4-FFF2-40B4-BE49-F238E27FC236}">
                <a16:creationId xmlns:a16="http://schemas.microsoft.com/office/drawing/2014/main" id="{223CD296-20B5-41B7-A01B-1CD948507E37}"/>
              </a:ext>
            </a:extLst>
          </p:cNvPr>
          <p:cNvSpPr>
            <a:spLocks xmlns:a="http://schemas.openxmlformats.org/drawingml/2006/main" noGrp="1"/>
          </p:cNvSpPr>
          <p:nvPr/>
        </p:nvSpPr>
        <p:spPr>
          <a:xfrm xmlns:a="http://schemas.openxmlformats.org/drawingml/2006/main">
            <a:off x="9048750" y="5191125"/>
            <a:ext cx="25336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425966"/>
                </a:solidFill>
                <a:latin typeface="Malgun Gothic"/>
                <a:ea typeface="Malgun Gothic"/>
                <a:cs typeface="Malgun Gothic"/>
              </a:defRPr>
            </a:defPPr>
          </a:lstStyle>
          <a:p xmlns:a="http://schemas.openxmlformats.org/drawingml/2006/main">
            <a:pPr>
              <a:buNone/>
              <a:defRPr sz="1725" b="0">
                <a:solidFill>
                  <a:srgbClr val="425966"/>
                </a:solidFill>
                <a:latin typeface="Malgun Gothic"/>
                <a:ea typeface="Malgun Gothic"/>
                <a:cs typeface="Malgun Gothic"/>
              </a:defRPr>
            </a:pPr>
            <a:r>
              <a:rPr sz="1725" b="0">
                <a:solidFill>
                  <a:srgbClr val="425966"/>
                </a:solidFill>
                <a:latin typeface="Malgun Gothic"/>
                <a:ea typeface="Malgun Gothic"/>
                <a:cs typeface="Malgun Gothic"/>
              </a:rPr>
              <a:t>후보를 선택하고 자금이 충분하면 항구와 함께 확보합니다.</a:t>
            </a:r>
          </a:p>
        </p:txBody>
      </p:sp>
      <p:sp>
        <p:nvSpPr>
          <p:cNvPr id="10" name="design-intent">
            <a:extLst xmlns:a="http://schemas.openxmlformats.org/drawingml/2006/main">
              <a:ext uri="{FF2B5EF4-FFF2-40B4-BE49-F238E27FC236}">
                <a16:creationId xmlns:a16="http://schemas.microsoft.com/office/drawing/2014/main" id="{E36650AB-2D92-445B-9789-C3EA2CFFB123}"/>
              </a:ext>
            </a:extLst>
          </p:cNvPr>
          <p:cNvSpPr>
            <a:spLocks xmlns:a="http://schemas.openxmlformats.org/drawingml/2006/main" noGrp="1"/>
          </p:cNvSpPr>
          <p:nvPr/>
        </p:nvSpPr>
        <p:spPr>
          <a:xfrm xmlns:a="http://schemas.openxmlformats.org/drawingml/2006/main">
            <a:off x="609600" y="6219825"/>
            <a:ext cx="10096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425966"/>
                </a:solidFill>
                <a:latin typeface="Malgun Gothic"/>
                <a:ea typeface="Malgun Gothic"/>
                <a:cs typeface="Malgun Gothic"/>
              </a:defRPr>
            </a:defPPr>
          </a:lstStyle>
          <a:p xmlns:a="http://schemas.openxmlformats.org/drawingml/2006/main">
            <a:pPr>
              <a:buNone/>
              <a:defRPr sz="1725" b="0">
                <a:solidFill>
                  <a:srgbClr val="425966"/>
                </a:solidFill>
                <a:latin typeface="Malgun Gothic"/>
                <a:ea typeface="Malgun Gothic"/>
                <a:cs typeface="Malgun Gothic"/>
              </a:defRPr>
            </a:pPr>
            <a:r>
              <a:rPr sz="1725" b="0">
                <a:solidFill>
                  <a:srgbClr val="425966"/>
                </a:solidFill>
                <a:latin typeface="Malgun Gothic"/>
                <a:ea typeface="Malgun Gothic"/>
                <a:cs typeface="Malgun Gothic"/>
              </a:rPr>
              <a:t>개발 의도: 혜성의 규모·자원·거리를 개척 비용과 함께 비교하게 합니다.</a:t>
            </a:r>
          </a:p>
        </p:txBody>
      </p:sp>
      <p:sp>
        <p:nvSpPr>
          <p:cNvPr id="11" name="page">
            <a:extLst xmlns:a="http://schemas.openxmlformats.org/drawingml/2006/main">
              <a:ext uri="{FF2B5EF4-FFF2-40B4-BE49-F238E27FC236}">
                <a16:creationId xmlns:a16="http://schemas.microsoft.com/office/drawing/2014/main" id="{E480C713-C279-49DA-A6DB-D59F6D0DD327}"/>
              </a:ext>
            </a:extLst>
          </p:cNvPr>
          <p:cNvSpPr>
            <a:spLocks xmlns:a="http://schemas.openxmlformats.org/drawingml/2006/main" noGrp="1"/>
          </p:cNvSpPr>
          <p:nvPr/>
        </p:nvSpPr>
        <p:spPr>
          <a:xfrm xmlns:a="http://schemas.openxmlformats.org/drawingml/2006/main">
            <a:off x="11087100" y="6353175"/>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425966"/>
                </a:solidFill>
                <a:latin typeface="Malgun Gothic"/>
                <a:ea typeface="Malgun Gothic"/>
                <a:cs typeface="Malgun Gothic"/>
              </a:defRPr>
            </a:defPPr>
          </a:lstStyle>
          <a:p xmlns:a="http://schemas.openxmlformats.org/drawingml/2006/main">
            <a:pPr>
              <a:buNone/>
              <a:defRPr sz="1500" b="0">
                <a:solidFill>
                  <a:srgbClr val="425966"/>
                </a:solidFill>
                <a:latin typeface="Malgun Gothic"/>
                <a:ea typeface="Malgun Gothic"/>
                <a:cs typeface="Malgun Gothic"/>
              </a:defRPr>
            </a:pPr>
            <a:r>
              <a:rPr sz="1500" b="0">
                <a:solidFill>
                  <a:srgbClr val="425966"/>
                </a:solidFill>
                <a:latin typeface="Malgun Gothic"/>
                <a:ea typeface="Malgun Gothic"/>
                <a:cs typeface="Malgun Gothic"/>
              </a:rPr>
              <a:t>15</a:t>
            </a:r>
          </a:p>
        </p:txBody>
      </p:sp>
    </p:spTree>
    <p:extLst>
      <p:ext uri="{BB962C8B-B14F-4D97-AF65-F5344CB8AC3E}">
        <p14:creationId xmlns:p14="http://schemas.microsoft.com/office/powerpoint/2010/main" val="40292851"/>
      </p:ext>
    </p:extLst>
  </p:cSld>
</p:sld>
</file>

<file path=ppt/slides/slide16.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DB6BF13F-7164-49DF-B142-E0DCC93916F5}"/>
              </a:ext>
            </a:extLst>
          </p:cNvPr>
          <p:cNvSpPr>
            <a:spLocks xmlns:a="http://schemas.openxmlformats.org/drawingml/2006/main" noGrp="1"/>
          </p:cNvSpPr>
          <p:nvPr/>
        </p:nvSpPr>
        <p:spPr>
          <a:xfrm xmlns:a="http://schemas.openxmlformats.org/drawingml/2006/main">
            <a:off x="609600" y="5715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42633"/>
                </a:solidFill>
                <a:latin typeface="Malgun Gothic"/>
                <a:ea typeface="Malgun Gothic"/>
                <a:cs typeface="Malgun Gothic"/>
              </a:defRPr>
            </a:defPPr>
          </a:lstStyle>
          <a:p xmlns:a="http://schemas.openxmlformats.org/drawingml/2006/main">
            <a:pPr>
              <a:buNone/>
              <a:defRPr sz="3300" b="1">
                <a:solidFill>
                  <a:srgbClr val="142633"/>
                </a:solidFill>
                <a:latin typeface="Malgun Gothic"/>
                <a:ea typeface="Malgun Gothic"/>
                <a:cs typeface="Malgun Gothic"/>
              </a:defRPr>
            </a:pPr>
            <a:r>
              <a:rPr sz="3300" b="1">
                <a:solidFill>
                  <a:srgbClr val="142633"/>
                </a:solidFill>
                <a:latin typeface="Malgun Gothic"/>
                <a:ea typeface="Malgun Gothic"/>
                <a:cs typeface="Malgun Gothic"/>
              </a:rPr>
              <a:t>수송선 관리 UI</a:t>
            </a:r>
          </a:p>
        </p:txBody>
      </p:sp>
      <p:sp>
        <p:nvSpPr>
          <p:cNvPr id="2" name="lead">
            <a:extLst xmlns:a="http://schemas.openxmlformats.org/drawingml/2006/main">
              <a:ext uri="{FF2B5EF4-FFF2-40B4-BE49-F238E27FC236}">
                <a16:creationId xmlns:a16="http://schemas.microsoft.com/office/drawing/2014/main" id="{6BE8E16B-2194-4FC7-9BC1-94BF255BCB4F}"/>
              </a:ext>
            </a:extLst>
          </p:cNvPr>
          <p:cNvSpPr>
            <a:spLocks xmlns:a="http://schemas.openxmlformats.org/drawingml/2006/main" noGrp="1"/>
          </p:cNvSpPr>
          <p:nvPr/>
        </p:nvSpPr>
        <p:spPr>
          <a:xfrm xmlns:a="http://schemas.openxmlformats.org/drawingml/2006/main">
            <a:off x="609600" y="145732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B95B12"/>
                </a:solidFill>
                <a:latin typeface="Malgun Gothic"/>
                <a:ea typeface="Malgun Gothic"/>
                <a:cs typeface="Malgun Gothic"/>
              </a:defRPr>
            </a:defPPr>
          </a:lstStyle>
          <a:p xmlns:a="http://schemas.openxmlformats.org/drawingml/2006/main">
            <a:pPr>
              <a:buNone/>
              <a:defRPr sz="2100" b="0">
                <a:solidFill>
                  <a:srgbClr val="B95B12"/>
                </a:solidFill>
                <a:latin typeface="Malgun Gothic"/>
                <a:ea typeface="Malgun Gothic"/>
                <a:cs typeface="Malgun Gothic"/>
              </a:defRPr>
            </a:pPr>
            <a:r>
              <a:rPr sz="2100" b="0">
                <a:solidFill>
                  <a:srgbClr val="B95B12"/>
                </a:solidFill>
                <a:latin typeface="Malgun Gothic"/>
                <a:ea typeface="Malgun Gothic"/>
                <a:cs typeface="Malgun Gothic"/>
              </a:rPr>
              <a:t>실제 인게임 화면 · 거점 사이의 물자 운송</a:t>
            </a:r>
          </a:p>
        </p:txBody>
      </p:sp>
      <p:pic>
        <p:nvPicPr>
          <p:cNvPr id="3" name="">
            <a:extLst xmlns:a="http://schemas.openxmlformats.org/drawingml/2006/main">
              <a:ext uri="{FF2B5EF4-FFF2-40B4-BE49-F238E27FC236}">
                <a16:creationId xmlns:a16="http://schemas.microsoft.com/office/drawing/2014/main" id="{EBE925B3-4D14-4F7F-80D2-290C91B32C4D}"/>
              </a:ext>
            </a:extLst>
          </p:cNvPr>
          <p:cNvPicPr>
            <a:picLocks xmlns:a="http://schemas.openxmlformats.org/drawingml/2006/main" noChangeAspect="1"/>
          </p:cNvPicPr>
          <p:nvPr/>
        </p:nvPicPr>
        <p:blipFill>
          <a:blip xmlns:r="http://schemas.openxmlformats.org/officeDocument/2006/relationships" xmlns:a="http://schemas.openxmlformats.org/drawingml/2006/main" r:embed="R1f6da824358b4cd1"/>
          <a:stretch xmlns:a="http://schemas.openxmlformats.org/drawingml/2006/main"/>
        </p:blipFill>
        <p:spPr>
          <a:xfrm xmlns:a="http://schemas.openxmlformats.org/drawingml/2006/main">
            <a:off x="1021517" y="2028825"/>
            <a:ext cx="7224791" cy="4038600"/>
          </a:xfrm>
          <a:prstGeom xmlns:a="http://schemas.openxmlformats.org/drawingml/2006/main" prst="rect">
            <a:avLst/>
          </a:prstGeom>
        </p:spPr>
      </p:pic>
      <p:sp>
        <p:nvSpPr>
          <p:cNvPr id="4" name="body">
            <a:extLst xmlns:a="http://schemas.openxmlformats.org/drawingml/2006/main">
              <a:ext uri="{FF2B5EF4-FFF2-40B4-BE49-F238E27FC236}">
                <a16:creationId xmlns:a16="http://schemas.microsoft.com/office/drawing/2014/main" id="{8C20F383-9501-4B6B-BF4A-9BDD7CB69406}"/>
              </a:ext>
            </a:extLst>
          </p:cNvPr>
          <p:cNvSpPr>
            <a:spLocks xmlns:a="http://schemas.openxmlformats.org/drawingml/2006/main" noGrp="1"/>
          </p:cNvSpPr>
          <p:nvPr/>
        </p:nvSpPr>
        <p:spPr>
          <a:xfrm xmlns:a="http://schemas.openxmlformats.org/drawingml/2006/main">
            <a:off x="9048750" y="2190750"/>
            <a:ext cx="2533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142633"/>
                </a:solidFill>
                <a:latin typeface="Malgun Gothic"/>
                <a:ea typeface="Malgun Gothic"/>
                <a:cs typeface="Malgun Gothic"/>
              </a:defRPr>
            </a:defPPr>
          </a:lstStyle>
          <a:p xmlns:a="http://schemas.openxmlformats.org/drawingml/2006/main">
            <a:pPr>
              <a:buNone/>
              <a:defRPr sz="1950" b="1">
                <a:solidFill>
                  <a:srgbClr val="142633"/>
                </a:solidFill>
                <a:latin typeface="Malgun Gothic"/>
                <a:ea typeface="Malgun Gothic"/>
                <a:cs typeface="Malgun Gothic"/>
              </a:defRPr>
            </a:pPr>
            <a:r>
              <a:rPr sz="1950" b="1">
                <a:solidFill>
                  <a:srgbClr val="142633"/>
                </a:solidFill>
                <a:latin typeface="Malgun Gothic"/>
                <a:ea typeface="Malgun Gothic"/>
                <a:cs typeface="Malgun Gothic"/>
              </a:rPr>
              <a:t>좌우 선택 버튼</a:t>
            </a:r>
          </a:p>
        </p:txBody>
      </p:sp>
      <p:sp>
        <p:nvSpPr>
          <p:cNvPr id="5" name="body">
            <a:extLst xmlns:a="http://schemas.openxmlformats.org/drawingml/2006/main">
              <a:ext uri="{FF2B5EF4-FFF2-40B4-BE49-F238E27FC236}">
                <a16:creationId xmlns:a16="http://schemas.microsoft.com/office/drawing/2014/main" id="{78FD2D91-2112-4CD7-8A4C-B60687FD26D8}"/>
              </a:ext>
            </a:extLst>
          </p:cNvPr>
          <p:cNvSpPr>
            <a:spLocks xmlns:a="http://schemas.openxmlformats.org/drawingml/2006/main" noGrp="1"/>
          </p:cNvSpPr>
          <p:nvPr/>
        </p:nvSpPr>
        <p:spPr>
          <a:xfrm xmlns:a="http://schemas.openxmlformats.org/drawingml/2006/main">
            <a:off x="9048750" y="2600325"/>
            <a:ext cx="25336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425966"/>
                </a:solidFill>
                <a:latin typeface="Malgun Gothic"/>
                <a:ea typeface="Malgun Gothic"/>
                <a:cs typeface="Malgun Gothic"/>
              </a:defRPr>
            </a:defPPr>
          </a:lstStyle>
          <a:p xmlns:a="http://schemas.openxmlformats.org/drawingml/2006/main">
            <a:pPr>
              <a:buNone/>
              <a:defRPr sz="1725" b="0">
                <a:solidFill>
                  <a:srgbClr val="425966"/>
                </a:solidFill>
                <a:latin typeface="Malgun Gothic"/>
                <a:ea typeface="Malgun Gothic"/>
                <a:cs typeface="Malgun Gothic"/>
              </a:defRPr>
            </a:pPr>
            <a:r>
              <a:rPr sz="1725" b="0">
                <a:solidFill>
                  <a:srgbClr val="425966"/>
                </a:solidFill>
                <a:latin typeface="Malgun Gothic"/>
                <a:ea typeface="Malgun Gothic"/>
                <a:cs typeface="Malgun Gothic"/>
              </a:rPr>
              <a:t>수송선·출발지·도착지·운송 물자를 바꿉니다.</a:t>
            </a:r>
          </a:p>
        </p:txBody>
      </p:sp>
      <p:sp>
        <p:nvSpPr>
          <p:cNvPr id="6" name="body">
            <a:extLst xmlns:a="http://schemas.openxmlformats.org/drawingml/2006/main">
              <a:ext uri="{FF2B5EF4-FFF2-40B4-BE49-F238E27FC236}">
                <a16:creationId xmlns:a16="http://schemas.microsoft.com/office/drawing/2014/main" id="{F714C6EF-EBF4-43AA-91B5-DA0D44FCC1F3}"/>
              </a:ext>
            </a:extLst>
          </p:cNvPr>
          <p:cNvSpPr>
            <a:spLocks xmlns:a="http://schemas.openxmlformats.org/drawingml/2006/main" noGrp="1"/>
          </p:cNvSpPr>
          <p:nvPr/>
        </p:nvSpPr>
        <p:spPr>
          <a:xfrm xmlns:a="http://schemas.openxmlformats.org/drawingml/2006/main">
            <a:off x="9048750" y="3486150"/>
            <a:ext cx="2533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142633"/>
                </a:solidFill>
                <a:latin typeface="Malgun Gothic"/>
                <a:ea typeface="Malgun Gothic"/>
                <a:cs typeface="Malgun Gothic"/>
              </a:defRPr>
            </a:defPPr>
          </a:lstStyle>
          <a:p xmlns:a="http://schemas.openxmlformats.org/drawingml/2006/main">
            <a:pPr>
              <a:buNone/>
              <a:defRPr sz="1950" b="1">
                <a:solidFill>
                  <a:srgbClr val="142633"/>
                </a:solidFill>
                <a:latin typeface="Malgun Gothic"/>
                <a:ea typeface="Malgun Gothic"/>
                <a:cs typeface="Malgun Gothic"/>
              </a:defRPr>
            </a:pPr>
            <a:r>
              <a:rPr sz="1950" b="1">
                <a:solidFill>
                  <a:srgbClr val="142633"/>
                </a:solidFill>
                <a:latin typeface="Malgun Gothic"/>
                <a:ea typeface="Malgun Gothic"/>
                <a:cs typeface="Malgun Gothic"/>
              </a:rPr>
              <a:t>수량 슬라이더</a:t>
            </a:r>
          </a:p>
        </p:txBody>
      </p:sp>
      <p:sp>
        <p:nvSpPr>
          <p:cNvPr id="7" name="body">
            <a:extLst xmlns:a="http://schemas.openxmlformats.org/drawingml/2006/main">
              <a:ext uri="{FF2B5EF4-FFF2-40B4-BE49-F238E27FC236}">
                <a16:creationId xmlns:a16="http://schemas.microsoft.com/office/drawing/2014/main" id="{033F2C3F-2C9D-4BCB-9BC8-DC8CCB228985}"/>
              </a:ext>
            </a:extLst>
          </p:cNvPr>
          <p:cNvSpPr>
            <a:spLocks xmlns:a="http://schemas.openxmlformats.org/drawingml/2006/main" noGrp="1"/>
          </p:cNvSpPr>
          <p:nvPr/>
        </p:nvSpPr>
        <p:spPr>
          <a:xfrm xmlns:a="http://schemas.openxmlformats.org/drawingml/2006/main">
            <a:off x="9048750" y="3895725"/>
            <a:ext cx="25336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425966"/>
                </a:solidFill>
                <a:latin typeface="Malgun Gothic"/>
                <a:ea typeface="Malgun Gothic"/>
                <a:cs typeface="Malgun Gothic"/>
              </a:defRPr>
            </a:defPPr>
          </a:lstStyle>
          <a:p xmlns:a="http://schemas.openxmlformats.org/drawingml/2006/main">
            <a:pPr>
              <a:buNone/>
              <a:defRPr sz="1725" b="0">
                <a:solidFill>
                  <a:srgbClr val="425966"/>
                </a:solidFill>
                <a:latin typeface="Malgun Gothic"/>
                <a:ea typeface="Malgun Gothic"/>
                <a:cs typeface="Malgun Gothic"/>
              </a:defRPr>
            </a:pPr>
            <a:r>
              <a:rPr sz="1725" b="0">
                <a:solidFill>
                  <a:srgbClr val="425966"/>
                </a:solidFill>
                <a:latin typeface="Malgun Gothic"/>
                <a:ea typeface="Malgun Gothic"/>
                <a:cs typeface="Malgun Gothic"/>
              </a:rPr>
              <a:t>출발 재고와 선박의 적재 한도 안에서 수량을 정합니다.</a:t>
            </a:r>
          </a:p>
        </p:txBody>
      </p:sp>
      <p:sp>
        <p:nvSpPr>
          <p:cNvPr id="8" name="body">
            <a:extLst xmlns:a="http://schemas.openxmlformats.org/drawingml/2006/main">
              <a:ext uri="{FF2B5EF4-FFF2-40B4-BE49-F238E27FC236}">
                <a16:creationId xmlns:a16="http://schemas.microsoft.com/office/drawing/2014/main" id="{63CE6351-9E8E-40F8-89DB-BD5733A62D9B}"/>
              </a:ext>
            </a:extLst>
          </p:cNvPr>
          <p:cNvSpPr>
            <a:spLocks xmlns:a="http://schemas.openxmlformats.org/drawingml/2006/main" noGrp="1"/>
          </p:cNvSpPr>
          <p:nvPr/>
        </p:nvSpPr>
        <p:spPr>
          <a:xfrm xmlns:a="http://schemas.openxmlformats.org/drawingml/2006/main">
            <a:off x="9048750" y="4781550"/>
            <a:ext cx="2533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142633"/>
                </a:solidFill>
                <a:latin typeface="Malgun Gothic"/>
                <a:ea typeface="Malgun Gothic"/>
                <a:cs typeface="Malgun Gothic"/>
              </a:defRPr>
            </a:defPPr>
          </a:lstStyle>
          <a:p xmlns:a="http://schemas.openxmlformats.org/drawingml/2006/main">
            <a:pPr>
              <a:buNone/>
              <a:defRPr sz="1950" b="1">
                <a:solidFill>
                  <a:srgbClr val="142633"/>
                </a:solidFill>
                <a:latin typeface="Malgun Gothic"/>
                <a:ea typeface="Malgun Gothic"/>
                <a:cs typeface="Malgun Gothic"/>
              </a:defRPr>
            </a:pPr>
            <a:r>
              <a:rPr sz="1950" b="1">
                <a:solidFill>
                  <a:srgbClr val="142633"/>
                </a:solidFill>
                <a:latin typeface="Malgun Gothic"/>
                <a:ea typeface="Malgun Gothic"/>
                <a:cs typeface="Malgun Gothic"/>
              </a:rPr>
              <a:t>운송 시작 / 추가 구매</a:t>
            </a:r>
          </a:p>
        </p:txBody>
      </p:sp>
      <p:sp>
        <p:nvSpPr>
          <p:cNvPr id="9" name="body">
            <a:extLst xmlns:a="http://schemas.openxmlformats.org/drawingml/2006/main">
              <a:ext uri="{FF2B5EF4-FFF2-40B4-BE49-F238E27FC236}">
                <a16:creationId xmlns:a16="http://schemas.microsoft.com/office/drawing/2014/main" id="{260429B5-F456-41DD-A85D-51ED306B750C}"/>
              </a:ext>
            </a:extLst>
          </p:cNvPr>
          <p:cNvSpPr>
            <a:spLocks xmlns:a="http://schemas.openxmlformats.org/drawingml/2006/main" noGrp="1"/>
          </p:cNvSpPr>
          <p:nvPr/>
        </p:nvSpPr>
        <p:spPr>
          <a:xfrm xmlns:a="http://schemas.openxmlformats.org/drawingml/2006/main">
            <a:off x="9048750" y="5191125"/>
            <a:ext cx="25336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425966"/>
                </a:solidFill>
                <a:latin typeface="Malgun Gothic"/>
                <a:ea typeface="Malgun Gothic"/>
                <a:cs typeface="Malgun Gothic"/>
              </a:defRPr>
            </a:defPPr>
          </a:lstStyle>
          <a:p xmlns:a="http://schemas.openxmlformats.org/drawingml/2006/main">
            <a:pPr>
              <a:buNone/>
              <a:defRPr sz="1725" b="0">
                <a:solidFill>
                  <a:srgbClr val="425966"/>
                </a:solidFill>
                <a:latin typeface="Malgun Gothic"/>
                <a:ea typeface="Malgun Gothic"/>
                <a:cs typeface="Malgun Gothic"/>
              </a:defRPr>
            </a:pPr>
            <a:r>
              <a:rPr sz="1725" b="0">
                <a:solidFill>
                  <a:srgbClr val="425966"/>
                </a:solidFill>
                <a:latin typeface="Malgun Gothic"/>
                <a:ea typeface="Malgun Gothic"/>
                <a:cs typeface="Malgun Gothic"/>
              </a:rPr>
              <a:t>운송 조건을 확인해 출항하거나 선박을 늘립니다.</a:t>
            </a:r>
          </a:p>
        </p:txBody>
      </p:sp>
      <p:sp>
        <p:nvSpPr>
          <p:cNvPr id="10" name="design-intent">
            <a:extLst xmlns:a="http://schemas.openxmlformats.org/drawingml/2006/main">
              <a:ext uri="{FF2B5EF4-FFF2-40B4-BE49-F238E27FC236}">
                <a16:creationId xmlns:a16="http://schemas.microsoft.com/office/drawing/2014/main" id="{1EA45FEC-06AB-43C8-9850-E03667B6875D}"/>
              </a:ext>
            </a:extLst>
          </p:cNvPr>
          <p:cNvSpPr>
            <a:spLocks xmlns:a="http://schemas.openxmlformats.org/drawingml/2006/main" noGrp="1"/>
          </p:cNvSpPr>
          <p:nvPr/>
        </p:nvSpPr>
        <p:spPr>
          <a:xfrm xmlns:a="http://schemas.openxmlformats.org/drawingml/2006/main">
            <a:off x="609600" y="6219825"/>
            <a:ext cx="10096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425966"/>
                </a:solidFill>
                <a:latin typeface="Malgun Gothic"/>
                <a:ea typeface="Malgun Gothic"/>
                <a:cs typeface="Malgun Gothic"/>
              </a:defRPr>
            </a:defPPr>
          </a:lstStyle>
          <a:p xmlns:a="http://schemas.openxmlformats.org/drawingml/2006/main">
            <a:pPr>
              <a:buNone/>
              <a:defRPr sz="1725" b="0">
                <a:solidFill>
                  <a:srgbClr val="425966"/>
                </a:solidFill>
                <a:latin typeface="Malgun Gothic"/>
                <a:ea typeface="Malgun Gothic"/>
                <a:cs typeface="Malgun Gothic"/>
              </a:defRPr>
            </a:pPr>
            <a:r>
              <a:rPr sz="1725" b="0">
                <a:solidFill>
                  <a:srgbClr val="425966"/>
                </a:solidFill>
                <a:latin typeface="Malgun Gothic"/>
                <a:ea typeface="Malgun Gothic"/>
                <a:cs typeface="Malgun Gothic"/>
              </a:rPr>
              <a:t>개발 의도: 출발 재고와 목적지를 선택한 뒤 운송비·시간을 확인하고 실행하게 합니다.</a:t>
            </a:r>
          </a:p>
        </p:txBody>
      </p:sp>
      <p:sp>
        <p:nvSpPr>
          <p:cNvPr id="11" name="page">
            <a:extLst xmlns:a="http://schemas.openxmlformats.org/drawingml/2006/main">
              <a:ext uri="{FF2B5EF4-FFF2-40B4-BE49-F238E27FC236}">
                <a16:creationId xmlns:a16="http://schemas.microsoft.com/office/drawing/2014/main" id="{CC1C8DD8-F547-4F35-9F2A-DEC6CA297E71}"/>
              </a:ext>
            </a:extLst>
          </p:cNvPr>
          <p:cNvSpPr>
            <a:spLocks xmlns:a="http://schemas.openxmlformats.org/drawingml/2006/main" noGrp="1"/>
          </p:cNvSpPr>
          <p:nvPr/>
        </p:nvSpPr>
        <p:spPr>
          <a:xfrm xmlns:a="http://schemas.openxmlformats.org/drawingml/2006/main">
            <a:off x="11087100" y="6353175"/>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425966"/>
                </a:solidFill>
                <a:latin typeface="Malgun Gothic"/>
                <a:ea typeface="Malgun Gothic"/>
                <a:cs typeface="Malgun Gothic"/>
              </a:defRPr>
            </a:defPPr>
          </a:lstStyle>
          <a:p xmlns:a="http://schemas.openxmlformats.org/drawingml/2006/main">
            <a:pPr>
              <a:buNone/>
              <a:defRPr sz="1500" b="0">
                <a:solidFill>
                  <a:srgbClr val="425966"/>
                </a:solidFill>
                <a:latin typeface="Malgun Gothic"/>
                <a:ea typeface="Malgun Gothic"/>
                <a:cs typeface="Malgun Gothic"/>
              </a:defRPr>
            </a:pPr>
            <a:r>
              <a:rPr sz="1500" b="0">
                <a:solidFill>
                  <a:srgbClr val="425966"/>
                </a:solidFill>
                <a:latin typeface="Malgun Gothic"/>
                <a:ea typeface="Malgun Gothic"/>
                <a:cs typeface="Malgun Gothic"/>
              </a:rPr>
              <a:t>16</a:t>
            </a:r>
          </a:p>
        </p:txBody>
      </p:sp>
    </p:spTree>
    <p:extLst>
      <p:ext uri="{BB962C8B-B14F-4D97-AF65-F5344CB8AC3E}">
        <p14:creationId xmlns:p14="http://schemas.microsoft.com/office/powerpoint/2010/main" val="977090773"/>
      </p:ext>
    </p:extLst>
  </p:cSld>
</p:sld>
</file>

<file path=ppt/slides/slide17.xml><?xml version="1.0" encoding="utf-8"?>
<p:sld xmlns:p="http://schemas.openxmlformats.org/presentationml/2006/main">
  <p:cSld>
    <p:bg>
      <p:bgPr>
        <a:solidFill xmlns:a="http://schemas.openxmlformats.org/drawingml/2006/main">
          <a:srgbClr val="0B1C27"/>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E2828A43-4C2F-4642-9260-AA18D0DDB7C4}"/>
              </a:ext>
            </a:extLst>
          </p:cNvPr>
          <p:cNvSpPr>
            <a:spLocks xmlns:a="http://schemas.openxmlformats.org/drawingml/2006/main" noGrp="1"/>
          </p:cNvSpPr>
          <p:nvPr/>
        </p:nvSpPr>
        <p:spPr>
          <a:xfrm xmlns:a="http://schemas.openxmlformats.org/drawingml/2006/main">
            <a:off x="609600" y="5715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F4F4F0"/>
                </a:solidFill>
                <a:latin typeface="Malgun Gothic"/>
                <a:ea typeface="Malgun Gothic"/>
                <a:cs typeface="Malgun Gothic"/>
              </a:defRPr>
            </a:defPPr>
          </a:lstStyle>
          <a:p xmlns:a="http://schemas.openxmlformats.org/drawingml/2006/main">
            <a:pPr>
              <a:buNone/>
              <a:defRPr sz="3300" b="1">
                <a:solidFill>
                  <a:srgbClr val="F4F4F0"/>
                </a:solidFill>
                <a:latin typeface="Malgun Gothic"/>
                <a:ea typeface="Malgun Gothic"/>
                <a:cs typeface="Malgun Gothic"/>
              </a:defRPr>
            </a:pPr>
            <a:r>
              <a:rPr sz="3300" b="1">
                <a:solidFill>
                  <a:srgbClr val="F4F4F0"/>
                </a:solidFill>
                <a:latin typeface="Malgun Gothic"/>
                <a:ea typeface="Malgun Gothic"/>
                <a:cs typeface="Malgun Gothic"/>
              </a:rPr>
              <a:t>안정성 설계 사례</a:t>
            </a:r>
          </a:p>
        </p:txBody>
      </p:sp>
      <p:sp>
        <p:nvSpPr>
          <p:cNvPr id="2" name="lead">
            <a:extLst xmlns:a="http://schemas.openxmlformats.org/drawingml/2006/main">
              <a:ext uri="{FF2B5EF4-FFF2-40B4-BE49-F238E27FC236}">
                <a16:creationId xmlns:a16="http://schemas.microsoft.com/office/drawing/2014/main" id="{6008456A-756D-43CD-B1EB-2D352A634B13}"/>
              </a:ext>
            </a:extLst>
          </p:cNvPr>
          <p:cNvSpPr>
            <a:spLocks xmlns:a="http://schemas.openxmlformats.org/drawingml/2006/main" noGrp="1"/>
          </p:cNvSpPr>
          <p:nvPr/>
        </p:nvSpPr>
        <p:spPr>
          <a:xfrm xmlns:a="http://schemas.openxmlformats.org/drawingml/2006/main">
            <a:off x="609600" y="14573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FAF5C"/>
                </a:solidFill>
                <a:latin typeface="Malgun Gothic"/>
                <a:ea typeface="Malgun Gothic"/>
                <a:cs typeface="Malgun Gothic"/>
              </a:defRPr>
            </a:defPPr>
          </a:lstStyle>
          <a:p xmlns:a="http://schemas.openxmlformats.org/drawingml/2006/main">
            <a:pPr>
              <a:buNone/>
              <a:defRPr sz="2100" b="0">
                <a:solidFill>
                  <a:srgbClr val="FFAF5C"/>
                </a:solidFill>
                <a:latin typeface="Malgun Gothic"/>
                <a:ea typeface="Malgun Gothic"/>
                <a:cs typeface="Malgun Gothic"/>
              </a:defRPr>
            </a:pPr>
            <a:r>
              <a:rPr sz="2100" b="0">
                <a:solidFill>
                  <a:srgbClr val="FFAF5C"/>
                </a:solidFill>
                <a:latin typeface="Malgun Gothic"/>
                <a:ea typeface="Malgun Gothic"/>
                <a:cs typeface="Malgun Gothic"/>
              </a:rPr>
              <a:t>저장과 철거 과정에서 자산을 보존</a:t>
            </a:r>
          </a:p>
        </p:txBody>
      </p:sp>
      <p:sp>
        <p:nvSpPr>
          <p:cNvPr id="3" name="item-heading">
            <a:extLst xmlns:a="http://schemas.openxmlformats.org/drawingml/2006/main">
              <a:ext uri="{FF2B5EF4-FFF2-40B4-BE49-F238E27FC236}">
                <a16:creationId xmlns:a16="http://schemas.microsoft.com/office/drawing/2014/main" id="{BEBFDB58-17DA-4CE6-9250-11119A5B42C7}"/>
              </a:ext>
            </a:extLst>
          </p:cNvPr>
          <p:cNvSpPr>
            <a:spLocks xmlns:a="http://schemas.openxmlformats.org/drawingml/2006/main" noGrp="1"/>
          </p:cNvSpPr>
          <p:nvPr/>
        </p:nvSpPr>
        <p:spPr>
          <a:xfrm xmlns:a="http://schemas.openxmlformats.org/drawingml/2006/main">
            <a:off x="609600" y="23812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F4F4F0"/>
                </a:solidFill>
                <a:latin typeface="Malgun Gothic"/>
                <a:ea typeface="Malgun Gothic"/>
                <a:cs typeface="Malgun Gothic"/>
              </a:defRPr>
            </a:defPPr>
          </a:lstStyle>
          <a:p xmlns:a="http://schemas.openxmlformats.org/drawingml/2006/main">
            <a:pPr>
              <a:buNone/>
              <a:defRPr sz="2025" b="1">
                <a:solidFill>
                  <a:srgbClr val="F4F4F0"/>
                </a:solidFill>
                <a:latin typeface="Malgun Gothic"/>
                <a:ea typeface="Malgun Gothic"/>
                <a:cs typeface="Malgun Gothic"/>
              </a:defRPr>
            </a:pPr>
            <a:r>
              <a:rPr sz="2025" b="1">
                <a:solidFill>
                  <a:srgbClr val="F4F4F0"/>
                </a:solidFill>
                <a:latin typeface="Malgun Gothic"/>
                <a:ea typeface="Malgun Gothic"/>
                <a:cs typeface="Malgun Gothic"/>
              </a:rPr>
              <a:t>저장·복원</a:t>
            </a:r>
          </a:p>
        </p:txBody>
      </p:sp>
      <p:sp>
        <p:nvSpPr>
          <p:cNvPr id="4" name="body">
            <a:extLst xmlns:a="http://schemas.openxmlformats.org/drawingml/2006/main">
              <a:ext uri="{FF2B5EF4-FFF2-40B4-BE49-F238E27FC236}">
                <a16:creationId xmlns:a16="http://schemas.microsoft.com/office/drawing/2014/main" id="{0BE4D4CB-3A24-4D94-961B-A6094BDFAB0A}"/>
              </a:ext>
            </a:extLst>
          </p:cNvPr>
          <p:cNvSpPr>
            <a:spLocks xmlns:a="http://schemas.openxmlformats.org/drawingml/2006/main" noGrp="1"/>
          </p:cNvSpPr>
          <p:nvPr/>
        </p:nvSpPr>
        <p:spPr>
          <a:xfrm xmlns:a="http://schemas.openxmlformats.org/drawingml/2006/main">
            <a:off x="609600" y="2790825"/>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BC9CD"/>
                </a:solidFill>
                <a:latin typeface="Malgun Gothic"/>
                <a:ea typeface="Malgun Gothic"/>
                <a:cs typeface="Malgun Gothic"/>
              </a:defRPr>
            </a:defPPr>
          </a:lstStyle>
          <a:p xmlns:a="http://schemas.openxmlformats.org/drawingml/2006/main">
            <a:pPr>
              <a:buNone/>
              <a:defRPr sz="1875" b="0">
                <a:solidFill>
                  <a:srgbClr val="BBC9CD"/>
                </a:solidFill>
                <a:latin typeface="Malgun Gothic"/>
                <a:ea typeface="Malgun Gothic"/>
                <a:cs typeface="Malgun Gothic"/>
              </a:defRPr>
            </a:pPr>
            <a:r>
              <a:rPr sz="1875" b="0">
                <a:solidFill>
                  <a:srgbClr val="BBC9CD"/>
                </a:solidFill>
                <a:latin typeface="Malgun Gothic"/>
                <a:ea typeface="Malgun Gothic"/>
                <a:cs typeface="Malgun Gothic"/>
              </a:rPr>
              <a:t>혜성, 광맥, 재고와 생산 진행, 수송 중 화물을 저장하는 구조를 갖췄습니다.</a:t>
            </a:r>
          </a:p>
        </p:txBody>
      </p:sp>
      <p:sp>
        <p:nvSpPr>
          <p:cNvPr id="5" name="item-heading">
            <a:extLst xmlns:a="http://schemas.openxmlformats.org/drawingml/2006/main">
              <a:ext uri="{FF2B5EF4-FFF2-40B4-BE49-F238E27FC236}">
                <a16:creationId xmlns:a16="http://schemas.microsoft.com/office/drawing/2014/main" id="{9CA79B41-CE0D-487B-9CC5-0B85F6DCAC1B}"/>
              </a:ext>
            </a:extLst>
          </p:cNvPr>
          <p:cNvSpPr>
            <a:spLocks xmlns:a="http://schemas.openxmlformats.org/drawingml/2006/main" noGrp="1"/>
          </p:cNvSpPr>
          <p:nvPr/>
        </p:nvSpPr>
        <p:spPr>
          <a:xfrm xmlns:a="http://schemas.openxmlformats.org/drawingml/2006/main">
            <a:off x="609600" y="35242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F4F4F0"/>
                </a:solidFill>
                <a:latin typeface="Malgun Gothic"/>
                <a:ea typeface="Malgun Gothic"/>
                <a:cs typeface="Malgun Gothic"/>
              </a:defRPr>
            </a:defPPr>
          </a:lstStyle>
          <a:p xmlns:a="http://schemas.openxmlformats.org/drawingml/2006/main">
            <a:pPr>
              <a:buNone/>
              <a:defRPr sz="2025" b="1">
                <a:solidFill>
                  <a:srgbClr val="F4F4F0"/>
                </a:solidFill>
                <a:latin typeface="Malgun Gothic"/>
                <a:ea typeface="Malgun Gothic"/>
                <a:cs typeface="Malgun Gothic"/>
              </a:defRPr>
            </a:pPr>
            <a:r>
              <a:rPr sz="2025" b="1">
                <a:solidFill>
                  <a:srgbClr val="F4F4F0"/>
                </a:solidFill>
                <a:latin typeface="Malgun Gothic"/>
                <a:ea typeface="Malgun Gothic"/>
                <a:cs typeface="Malgun Gothic"/>
              </a:rPr>
              <a:t>실패 처리</a:t>
            </a:r>
          </a:p>
        </p:txBody>
      </p:sp>
      <p:sp>
        <p:nvSpPr>
          <p:cNvPr id="6" name="body">
            <a:extLst xmlns:a="http://schemas.openxmlformats.org/drawingml/2006/main">
              <a:ext uri="{FF2B5EF4-FFF2-40B4-BE49-F238E27FC236}">
                <a16:creationId xmlns:a16="http://schemas.microsoft.com/office/drawing/2014/main" id="{AB8E19FC-BDDA-4E6B-B251-C82F2F19E6C5}"/>
              </a:ext>
            </a:extLst>
          </p:cNvPr>
          <p:cNvSpPr>
            <a:spLocks xmlns:a="http://schemas.openxmlformats.org/drawingml/2006/main" noGrp="1"/>
          </p:cNvSpPr>
          <p:nvPr/>
        </p:nvSpPr>
        <p:spPr>
          <a:xfrm xmlns:a="http://schemas.openxmlformats.org/drawingml/2006/main">
            <a:off x="609600" y="3933825"/>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BC9CD"/>
                </a:solidFill>
                <a:latin typeface="Malgun Gothic"/>
                <a:ea typeface="Malgun Gothic"/>
                <a:cs typeface="Malgun Gothic"/>
              </a:defRPr>
            </a:defPPr>
          </a:lstStyle>
          <a:p xmlns:a="http://schemas.openxmlformats.org/drawingml/2006/main">
            <a:pPr>
              <a:buNone/>
              <a:defRPr sz="1875" b="0">
                <a:solidFill>
                  <a:srgbClr val="BBC9CD"/>
                </a:solidFill>
                <a:latin typeface="Malgun Gothic"/>
                <a:ea typeface="Malgun Gothic"/>
                <a:cs typeface="Malgun Gothic"/>
              </a:defRPr>
            </a:pPr>
            <a:r>
              <a:rPr sz="1875" b="0">
                <a:solidFill>
                  <a:srgbClr val="BBC9CD"/>
                </a:solidFill>
                <a:latin typeface="Malgun Gothic"/>
                <a:ea typeface="Malgun Gothic"/>
                <a:cs typeface="Malgun Gothic"/>
              </a:rPr>
              <a:t>잘못된 저장 데이터는 현재 플레이를 변경하지 않고 거부합니다.</a:t>
            </a:r>
          </a:p>
        </p:txBody>
      </p:sp>
      <p:sp>
        <p:nvSpPr>
          <p:cNvPr id="7" name="item-heading">
            <a:extLst xmlns:a="http://schemas.openxmlformats.org/drawingml/2006/main">
              <a:ext uri="{FF2B5EF4-FFF2-40B4-BE49-F238E27FC236}">
                <a16:creationId xmlns:a16="http://schemas.microsoft.com/office/drawing/2014/main" id="{FC66FEDF-7196-4B9A-89FC-0B1C7C2F1D13}"/>
              </a:ext>
            </a:extLst>
          </p:cNvPr>
          <p:cNvSpPr>
            <a:spLocks xmlns:a="http://schemas.openxmlformats.org/drawingml/2006/main" noGrp="1"/>
          </p:cNvSpPr>
          <p:nvPr/>
        </p:nvSpPr>
        <p:spPr>
          <a:xfrm xmlns:a="http://schemas.openxmlformats.org/drawingml/2006/main">
            <a:off x="609600" y="46672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F4F4F0"/>
                </a:solidFill>
                <a:latin typeface="Malgun Gothic"/>
                <a:ea typeface="Malgun Gothic"/>
                <a:cs typeface="Malgun Gothic"/>
              </a:defRPr>
            </a:defPPr>
          </a:lstStyle>
          <a:p xmlns:a="http://schemas.openxmlformats.org/drawingml/2006/main">
            <a:pPr>
              <a:buNone/>
              <a:defRPr sz="2025" b="1">
                <a:solidFill>
                  <a:srgbClr val="F4F4F0"/>
                </a:solidFill>
                <a:latin typeface="Malgun Gothic"/>
                <a:ea typeface="Malgun Gothic"/>
                <a:cs typeface="Malgun Gothic"/>
              </a:defRPr>
            </a:pPr>
            <a:r>
              <a:rPr sz="2025" b="1">
                <a:solidFill>
                  <a:srgbClr val="F4F4F0"/>
                </a:solidFill>
                <a:latin typeface="Malgun Gothic"/>
                <a:ea typeface="Malgun Gothic"/>
                <a:cs typeface="Malgun Gothic"/>
              </a:rPr>
              <a:t>시설 철거</a:t>
            </a:r>
          </a:p>
        </p:txBody>
      </p:sp>
      <p:sp>
        <p:nvSpPr>
          <p:cNvPr id="8" name="body">
            <a:extLst xmlns:a="http://schemas.openxmlformats.org/drawingml/2006/main">
              <a:ext uri="{FF2B5EF4-FFF2-40B4-BE49-F238E27FC236}">
                <a16:creationId xmlns:a16="http://schemas.microsoft.com/office/drawing/2014/main" id="{C4606718-23D3-4C76-B0FE-073B533BBAF4}"/>
              </a:ext>
            </a:extLst>
          </p:cNvPr>
          <p:cNvSpPr>
            <a:spLocks xmlns:a="http://schemas.openxmlformats.org/drawingml/2006/main" noGrp="1"/>
          </p:cNvSpPr>
          <p:nvPr/>
        </p:nvSpPr>
        <p:spPr>
          <a:xfrm xmlns:a="http://schemas.openxmlformats.org/drawingml/2006/main">
            <a:off x="609600" y="5076825"/>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BC9CD"/>
                </a:solidFill>
                <a:latin typeface="Malgun Gothic"/>
                <a:ea typeface="Malgun Gothic"/>
                <a:cs typeface="Malgun Gothic"/>
              </a:defRPr>
            </a:defPPr>
          </a:lstStyle>
          <a:p xmlns:a="http://schemas.openxmlformats.org/drawingml/2006/main">
            <a:pPr>
              <a:buNone/>
              <a:defRPr sz="1875" b="0">
                <a:solidFill>
                  <a:srgbClr val="BBC9CD"/>
                </a:solidFill>
                <a:latin typeface="Malgun Gothic"/>
                <a:ea typeface="Malgun Gothic"/>
                <a:cs typeface="Malgun Gothic"/>
              </a:defRPr>
            </a:pPr>
            <a:r>
              <a:rPr sz="1875" b="0">
                <a:solidFill>
                  <a:srgbClr val="BBC9CD"/>
                </a:solidFill>
                <a:latin typeface="Malgun Gothic"/>
                <a:ea typeface="Malgun Gothic"/>
                <a:cs typeface="Malgun Gothic"/>
              </a:rPr>
              <a:t>재고를 다른 저장시설에 이관합니다. 저장 공간이 부족하거나 운송 중인 항구라면 철거를 막습니다.</a:t>
            </a:r>
          </a:p>
        </p:txBody>
      </p:sp>
      <p:sp>
        <p:nvSpPr>
          <p:cNvPr id="9" name="body">
            <a:extLst xmlns:a="http://schemas.openxmlformats.org/drawingml/2006/main">
              <a:ext uri="{FF2B5EF4-FFF2-40B4-BE49-F238E27FC236}">
                <a16:creationId xmlns:a16="http://schemas.microsoft.com/office/drawing/2014/main" id="{F4687864-4067-4C0B-93B9-20CAF8604E3C}"/>
              </a:ext>
            </a:extLst>
          </p:cNvPr>
          <p:cNvSpPr>
            <a:spLocks xmlns:a="http://schemas.openxmlformats.org/drawingml/2006/main" noGrp="1"/>
          </p:cNvSpPr>
          <p:nvPr/>
        </p:nvSpPr>
        <p:spPr>
          <a:xfrm xmlns:a="http://schemas.openxmlformats.org/drawingml/2006/main">
            <a:off x="11087100" y="6353175"/>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BBC9CD"/>
                </a:solidFill>
                <a:latin typeface="Malgun Gothic"/>
                <a:ea typeface="Malgun Gothic"/>
                <a:cs typeface="Malgun Gothic"/>
              </a:defRPr>
            </a:defPPr>
          </a:lstStyle>
          <a:p xmlns:a="http://schemas.openxmlformats.org/drawingml/2006/main">
            <a:pPr>
              <a:buNone/>
              <a:defRPr sz="1500" b="0">
                <a:solidFill>
                  <a:srgbClr val="BBC9CD"/>
                </a:solidFill>
                <a:latin typeface="Malgun Gothic"/>
                <a:ea typeface="Malgun Gothic"/>
                <a:cs typeface="Malgun Gothic"/>
              </a:defRPr>
            </a:pPr>
            <a:r>
              <a:rPr sz="1500" b="0">
                <a:solidFill>
                  <a:srgbClr val="BBC9CD"/>
                </a:solidFill>
                <a:latin typeface="Malgun Gothic"/>
                <a:ea typeface="Malgun Gothic"/>
                <a:cs typeface="Malgun Gothic"/>
              </a:rPr>
              <a:t>17</a:t>
            </a:r>
          </a:p>
        </p:txBody>
      </p:sp>
    </p:spTree>
    <p:extLst>
      <p:ext uri="{BB962C8B-B14F-4D97-AF65-F5344CB8AC3E}">
        <p14:creationId xmlns:p14="http://schemas.microsoft.com/office/powerpoint/2010/main" val="642618167"/>
      </p:ext>
    </p:extLst>
  </p:cSld>
</p:sld>
</file>

<file path=ppt/slides/slide18.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E7A9C3F2-301D-4BB8-A578-FA6F4BB320A6}"/>
              </a:ext>
            </a:extLst>
          </p:cNvPr>
          <p:cNvSpPr>
            <a:spLocks xmlns:a="http://schemas.openxmlformats.org/drawingml/2006/main" noGrp="1"/>
          </p:cNvSpPr>
          <p:nvPr/>
        </p:nvSpPr>
        <p:spPr>
          <a:xfrm xmlns:a="http://schemas.openxmlformats.org/drawingml/2006/main">
            <a:off x="609600" y="5715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633"/>
                </a:solidFill>
                <a:latin typeface="Malgun Gothic"/>
                <a:ea typeface="Malgun Gothic"/>
                <a:cs typeface="Malgun Gothic"/>
              </a:defRPr>
            </a:defPPr>
          </a:lstStyle>
          <a:p xmlns:a="http://schemas.openxmlformats.org/drawingml/2006/main">
            <a:pPr>
              <a:buNone/>
              <a:defRPr sz="3300" b="1">
                <a:solidFill>
                  <a:srgbClr val="142633"/>
                </a:solidFill>
                <a:latin typeface="Malgun Gothic"/>
                <a:ea typeface="Malgun Gothic"/>
                <a:cs typeface="Malgun Gothic"/>
              </a:defRPr>
            </a:pPr>
            <a:r>
              <a:rPr sz="3300" b="1">
                <a:solidFill>
                  <a:srgbClr val="142633"/>
                </a:solidFill>
                <a:latin typeface="Malgun Gothic"/>
                <a:ea typeface="Malgun Gothic"/>
                <a:cs typeface="Malgun Gothic"/>
              </a:rPr>
              <a:t>첫 플레이 안내</a:t>
            </a:r>
          </a:p>
        </p:txBody>
      </p:sp>
      <p:sp>
        <p:nvSpPr>
          <p:cNvPr id="2" name="lead">
            <a:extLst xmlns:a="http://schemas.openxmlformats.org/drawingml/2006/main">
              <a:ext uri="{FF2B5EF4-FFF2-40B4-BE49-F238E27FC236}">
                <a16:creationId xmlns:a16="http://schemas.microsoft.com/office/drawing/2014/main" id="{6ADEF325-C6DD-4798-952F-F173A9BA11DF}"/>
              </a:ext>
            </a:extLst>
          </p:cNvPr>
          <p:cNvSpPr>
            <a:spLocks xmlns:a="http://schemas.openxmlformats.org/drawingml/2006/main" noGrp="1"/>
          </p:cNvSpPr>
          <p:nvPr/>
        </p:nvSpPr>
        <p:spPr>
          <a:xfrm xmlns:a="http://schemas.openxmlformats.org/drawingml/2006/main">
            <a:off x="609600" y="14573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B95B12"/>
                </a:solidFill>
                <a:latin typeface="Malgun Gothic"/>
                <a:ea typeface="Malgun Gothic"/>
                <a:cs typeface="Malgun Gothic"/>
              </a:defRPr>
            </a:defPPr>
          </a:lstStyle>
          <a:p xmlns:a="http://schemas.openxmlformats.org/drawingml/2006/main">
            <a:pPr>
              <a:buNone/>
              <a:defRPr sz="2100" b="0">
                <a:solidFill>
                  <a:srgbClr val="B95B12"/>
                </a:solidFill>
                <a:latin typeface="Malgun Gothic"/>
                <a:ea typeface="Malgun Gothic"/>
                <a:cs typeface="Malgun Gothic"/>
              </a:defRPr>
            </a:pPr>
            <a:r>
              <a:rPr sz="2100" b="0">
                <a:solidFill>
                  <a:srgbClr val="B95B12"/>
                </a:solidFill>
                <a:latin typeface="Malgun Gothic"/>
                <a:ea typeface="Malgun Gothic"/>
                <a:cs typeface="Malgun Gothic"/>
              </a:rPr>
              <a:t>작은 생산 성공을 거래와 납품 경험으로 연결</a:t>
            </a:r>
          </a:p>
        </p:txBody>
      </p:sp>
      <p:sp>
        <p:nvSpPr>
          <p:cNvPr id="3" name="item-heading">
            <a:extLst xmlns:a="http://schemas.openxmlformats.org/drawingml/2006/main">
              <a:ext uri="{FF2B5EF4-FFF2-40B4-BE49-F238E27FC236}">
                <a16:creationId xmlns:a16="http://schemas.microsoft.com/office/drawing/2014/main" id="{2DD791FE-2A0C-4051-864F-4F4EF6345147}"/>
              </a:ext>
            </a:extLst>
          </p:cNvPr>
          <p:cNvSpPr>
            <a:spLocks xmlns:a="http://schemas.openxmlformats.org/drawingml/2006/main" noGrp="1"/>
          </p:cNvSpPr>
          <p:nvPr/>
        </p:nvSpPr>
        <p:spPr>
          <a:xfrm xmlns:a="http://schemas.openxmlformats.org/drawingml/2006/main">
            <a:off x="609600" y="2381250"/>
            <a:ext cx="676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42633"/>
                </a:solidFill>
                <a:latin typeface="Malgun Gothic"/>
                <a:ea typeface="Malgun Gothic"/>
                <a:cs typeface="Malgun Gothic"/>
              </a:defRPr>
            </a:defPPr>
          </a:lstStyle>
          <a:p xmlns:a="http://schemas.openxmlformats.org/drawingml/2006/main">
            <a:pPr>
              <a:buNone/>
              <a:defRPr sz="2025" b="1">
                <a:solidFill>
                  <a:srgbClr val="142633"/>
                </a:solidFill>
                <a:latin typeface="Malgun Gothic"/>
                <a:ea typeface="Malgun Gothic"/>
                <a:cs typeface="Malgun Gothic"/>
              </a:defRPr>
            </a:pPr>
            <a:r>
              <a:rPr sz="2025" b="1">
                <a:solidFill>
                  <a:srgbClr val="142633"/>
                </a:solidFill>
                <a:latin typeface="Malgun Gothic"/>
                <a:ea typeface="Malgun Gothic"/>
                <a:cs typeface="Malgun Gothic"/>
              </a:rPr>
              <a:t>기초 흐름</a:t>
            </a:r>
          </a:p>
        </p:txBody>
      </p:sp>
      <p:sp>
        <p:nvSpPr>
          <p:cNvPr id="4" name="body">
            <a:extLst xmlns:a="http://schemas.openxmlformats.org/drawingml/2006/main">
              <a:ext uri="{FF2B5EF4-FFF2-40B4-BE49-F238E27FC236}">
                <a16:creationId xmlns:a16="http://schemas.microsoft.com/office/drawing/2014/main" id="{FFD9CE2E-ED4A-4E52-A05E-A34DBDE1C280}"/>
              </a:ext>
            </a:extLst>
          </p:cNvPr>
          <p:cNvSpPr>
            <a:spLocks xmlns:a="http://schemas.openxmlformats.org/drawingml/2006/main" noGrp="1"/>
          </p:cNvSpPr>
          <p:nvPr/>
        </p:nvSpPr>
        <p:spPr>
          <a:xfrm xmlns:a="http://schemas.openxmlformats.org/drawingml/2006/main">
            <a:off x="609600" y="2790825"/>
            <a:ext cx="6762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425966"/>
                </a:solidFill>
                <a:latin typeface="Malgun Gothic"/>
                <a:ea typeface="Malgun Gothic"/>
                <a:cs typeface="Malgun Gothic"/>
              </a:defRPr>
            </a:defPPr>
          </a:lstStyle>
          <a:p xmlns:a="http://schemas.openxmlformats.org/drawingml/2006/main">
            <a:pPr>
              <a:buNone/>
              <a:defRPr sz="1875" b="0">
                <a:solidFill>
                  <a:srgbClr val="425966"/>
                </a:solidFill>
                <a:latin typeface="Malgun Gothic"/>
                <a:ea typeface="Malgun Gothic"/>
                <a:cs typeface="Malgun Gothic"/>
              </a:defRPr>
            </a:pPr>
            <a:r>
              <a:rPr sz="1875" b="0">
                <a:solidFill>
                  <a:srgbClr val="425966"/>
                </a:solidFill>
                <a:latin typeface="Malgun Gothic"/>
                <a:ea typeface="Malgun Gothic"/>
                <a:cs typeface="Malgun Gothic"/>
              </a:rPr>
              <a:t>정제소 건설, 철괴 생산, 금속 가공소 건설, 철판 생산, 거래소 판매와 구매를 안내합니다.</a:t>
            </a:r>
          </a:p>
        </p:txBody>
      </p:sp>
      <p:sp>
        <p:nvSpPr>
          <p:cNvPr id="5" name="item-heading">
            <a:extLst xmlns:a="http://schemas.openxmlformats.org/drawingml/2006/main">
              <a:ext uri="{FF2B5EF4-FFF2-40B4-BE49-F238E27FC236}">
                <a16:creationId xmlns:a16="http://schemas.microsoft.com/office/drawing/2014/main" id="{83792EC3-4C8E-463A-B467-5F803399329F}"/>
              </a:ext>
            </a:extLst>
          </p:cNvPr>
          <p:cNvSpPr>
            <a:spLocks xmlns:a="http://schemas.openxmlformats.org/drawingml/2006/main" noGrp="1"/>
          </p:cNvSpPr>
          <p:nvPr/>
        </p:nvSpPr>
        <p:spPr>
          <a:xfrm xmlns:a="http://schemas.openxmlformats.org/drawingml/2006/main">
            <a:off x="609600" y="3524250"/>
            <a:ext cx="676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42633"/>
                </a:solidFill>
                <a:latin typeface="Malgun Gothic"/>
                <a:ea typeface="Malgun Gothic"/>
                <a:cs typeface="Malgun Gothic"/>
              </a:defRPr>
            </a:defPPr>
          </a:lstStyle>
          <a:p xmlns:a="http://schemas.openxmlformats.org/drawingml/2006/main">
            <a:pPr>
              <a:buNone/>
              <a:defRPr sz="2025" b="1">
                <a:solidFill>
                  <a:srgbClr val="142633"/>
                </a:solidFill>
                <a:latin typeface="Malgun Gothic"/>
                <a:ea typeface="Malgun Gothic"/>
                <a:cs typeface="Malgun Gothic"/>
              </a:defRPr>
            </a:pPr>
            <a:r>
              <a:rPr sz="2025" b="1">
                <a:solidFill>
                  <a:srgbClr val="142633"/>
                </a:solidFill>
                <a:latin typeface="Malgun Gothic"/>
                <a:ea typeface="Malgun Gothic"/>
                <a:cs typeface="Malgun Gothic"/>
              </a:rPr>
              <a:t>납품 실습</a:t>
            </a:r>
          </a:p>
        </p:txBody>
      </p:sp>
      <p:sp>
        <p:nvSpPr>
          <p:cNvPr id="6" name="body">
            <a:extLst xmlns:a="http://schemas.openxmlformats.org/drawingml/2006/main">
              <a:ext uri="{FF2B5EF4-FFF2-40B4-BE49-F238E27FC236}">
                <a16:creationId xmlns:a16="http://schemas.microsoft.com/office/drawing/2014/main" id="{35E5A8FA-0AE4-4C33-9811-B5088FF3D5D5}"/>
              </a:ext>
            </a:extLst>
          </p:cNvPr>
          <p:cNvSpPr>
            <a:spLocks xmlns:a="http://schemas.openxmlformats.org/drawingml/2006/main" noGrp="1"/>
          </p:cNvSpPr>
          <p:nvPr/>
        </p:nvSpPr>
        <p:spPr>
          <a:xfrm xmlns:a="http://schemas.openxmlformats.org/drawingml/2006/main">
            <a:off x="609600" y="3933825"/>
            <a:ext cx="6762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425966"/>
                </a:solidFill>
                <a:latin typeface="Malgun Gothic"/>
                <a:ea typeface="Malgun Gothic"/>
                <a:cs typeface="Malgun Gothic"/>
              </a:defRPr>
            </a:defPPr>
          </a:lstStyle>
          <a:p xmlns:a="http://schemas.openxmlformats.org/drawingml/2006/main">
            <a:pPr>
              <a:buNone/>
              <a:defRPr sz="1875" b="0">
                <a:solidFill>
                  <a:srgbClr val="425966"/>
                </a:solidFill>
                <a:latin typeface="Malgun Gothic"/>
                <a:ea typeface="Malgun Gothic"/>
                <a:cs typeface="Malgun Gothic"/>
              </a:defRPr>
            </a:pPr>
            <a:r>
              <a:rPr sz="1875" b="0">
                <a:solidFill>
                  <a:srgbClr val="425966"/>
                </a:solidFill>
                <a:latin typeface="Malgun Gothic"/>
                <a:ea typeface="Malgun Gothic"/>
                <a:cs typeface="Malgun Gothic"/>
              </a:rPr>
              <a:t>첫 계약은 철판 4스택을 납품하고 1,500솔라를 받는 과제입니다.</a:t>
            </a:r>
          </a:p>
        </p:txBody>
      </p:sp>
      <p:sp>
        <p:nvSpPr>
          <p:cNvPr id="7" name="item-heading">
            <a:extLst xmlns:a="http://schemas.openxmlformats.org/drawingml/2006/main">
              <a:ext uri="{FF2B5EF4-FFF2-40B4-BE49-F238E27FC236}">
                <a16:creationId xmlns:a16="http://schemas.microsoft.com/office/drawing/2014/main" id="{0ADE5F48-F51E-432A-BBE8-4707E3657C1C}"/>
              </a:ext>
            </a:extLst>
          </p:cNvPr>
          <p:cNvSpPr>
            <a:spLocks xmlns:a="http://schemas.openxmlformats.org/drawingml/2006/main" noGrp="1"/>
          </p:cNvSpPr>
          <p:nvPr/>
        </p:nvSpPr>
        <p:spPr>
          <a:xfrm xmlns:a="http://schemas.openxmlformats.org/drawingml/2006/main">
            <a:off x="609600" y="4667250"/>
            <a:ext cx="676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42633"/>
                </a:solidFill>
                <a:latin typeface="Malgun Gothic"/>
                <a:ea typeface="Malgun Gothic"/>
                <a:cs typeface="Malgun Gothic"/>
              </a:defRPr>
            </a:defPPr>
          </a:lstStyle>
          <a:p xmlns:a="http://schemas.openxmlformats.org/drawingml/2006/main">
            <a:pPr>
              <a:buNone/>
              <a:defRPr sz="2025" b="1">
                <a:solidFill>
                  <a:srgbClr val="142633"/>
                </a:solidFill>
                <a:latin typeface="Malgun Gothic"/>
                <a:ea typeface="Malgun Gothic"/>
                <a:cs typeface="Malgun Gothic"/>
              </a:defRPr>
            </a:pPr>
            <a:r>
              <a:rPr sz="2025" b="1">
                <a:solidFill>
                  <a:srgbClr val="142633"/>
                </a:solidFill>
                <a:latin typeface="Malgun Gothic"/>
                <a:ea typeface="Malgun Gothic"/>
                <a:cs typeface="Malgun Gothic"/>
              </a:rPr>
              <a:t>반복 학습</a:t>
            </a:r>
          </a:p>
        </p:txBody>
      </p:sp>
      <p:sp>
        <p:nvSpPr>
          <p:cNvPr id="8" name="body">
            <a:extLst xmlns:a="http://schemas.openxmlformats.org/drawingml/2006/main">
              <a:ext uri="{FF2B5EF4-FFF2-40B4-BE49-F238E27FC236}">
                <a16:creationId xmlns:a16="http://schemas.microsoft.com/office/drawing/2014/main" id="{9230D020-3D45-4B9E-9932-4912049F812C}"/>
              </a:ext>
            </a:extLst>
          </p:cNvPr>
          <p:cNvSpPr>
            <a:spLocks xmlns:a="http://schemas.openxmlformats.org/drawingml/2006/main" noGrp="1"/>
          </p:cNvSpPr>
          <p:nvPr/>
        </p:nvSpPr>
        <p:spPr>
          <a:xfrm xmlns:a="http://schemas.openxmlformats.org/drawingml/2006/main">
            <a:off x="609600" y="5076825"/>
            <a:ext cx="6762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425966"/>
                </a:solidFill>
                <a:latin typeface="Malgun Gothic"/>
                <a:ea typeface="Malgun Gothic"/>
                <a:cs typeface="Malgun Gothic"/>
              </a:defRPr>
            </a:defPPr>
          </a:lstStyle>
          <a:p xmlns:a="http://schemas.openxmlformats.org/drawingml/2006/main">
            <a:pPr>
              <a:buNone/>
              <a:defRPr sz="1875" b="0">
                <a:solidFill>
                  <a:srgbClr val="425966"/>
                </a:solidFill>
                <a:latin typeface="Malgun Gothic"/>
                <a:ea typeface="Malgun Gothic"/>
                <a:cs typeface="Malgun Gothic"/>
              </a:defRPr>
            </a:pPr>
            <a:r>
              <a:rPr sz="1875" b="0">
                <a:solidFill>
                  <a:srgbClr val="425966"/>
                </a:solidFill>
                <a:latin typeface="Malgun Gothic"/>
                <a:ea typeface="Malgun Gothic"/>
                <a:cs typeface="Malgun Gothic"/>
              </a:rPr>
              <a:t>안내 다시 보기와 건너뛰기를 지원하고, 납품 미션의 수주·생산·완료를 경험하게 합니다.</a:t>
            </a:r>
          </a:p>
        </p:txBody>
      </p:sp>
      <p:pic>
        <p:nvPicPr>
          <p:cNvPr id="9" name="">
            <a:extLst xmlns:a="http://schemas.openxmlformats.org/drawingml/2006/main">
              <a:ext uri="{FF2B5EF4-FFF2-40B4-BE49-F238E27FC236}">
                <a16:creationId xmlns:a16="http://schemas.microsoft.com/office/drawing/2014/main" id="{E719CB56-E740-40BB-8F49-C0EB2750ADC6}"/>
              </a:ext>
            </a:extLst>
          </p:cNvPr>
          <p:cNvPicPr>
            <a:picLocks xmlns:a="http://schemas.openxmlformats.org/drawingml/2006/main" noChangeAspect="1"/>
          </p:cNvPicPr>
          <p:nvPr/>
        </p:nvPicPr>
        <p:blipFill>
          <a:blip xmlns:r="http://schemas.openxmlformats.org/officeDocument/2006/relationships" xmlns:a="http://schemas.openxmlformats.org/drawingml/2006/main" r:embed="Rff1fac6371f14d6f"/>
          <a:stretch xmlns:a="http://schemas.openxmlformats.org/drawingml/2006/main"/>
        </p:blipFill>
        <p:spPr>
          <a:xfrm xmlns:a="http://schemas.openxmlformats.org/drawingml/2006/main">
            <a:off x="8181975" y="2209800"/>
            <a:ext cx="3143250" cy="3143250"/>
          </a:xfrm>
          <a:prstGeom xmlns:a="http://schemas.openxmlformats.org/drawingml/2006/main" prst="rect">
            <a:avLst/>
          </a:prstGeom>
        </p:spPr>
      </p:pic>
      <p:sp>
        <p:nvSpPr>
          <p:cNvPr id="10" name="body">
            <a:extLst xmlns:a="http://schemas.openxmlformats.org/drawingml/2006/main">
              <a:ext uri="{FF2B5EF4-FFF2-40B4-BE49-F238E27FC236}">
                <a16:creationId xmlns:a16="http://schemas.microsoft.com/office/drawing/2014/main" id="{E2F06395-6409-47B2-8DCE-34CD7FE0103C}"/>
              </a:ext>
            </a:extLst>
          </p:cNvPr>
          <p:cNvSpPr>
            <a:spLocks xmlns:a="http://schemas.openxmlformats.org/drawingml/2006/main" noGrp="1"/>
          </p:cNvSpPr>
          <p:nvPr/>
        </p:nvSpPr>
        <p:spPr>
          <a:xfrm xmlns:a="http://schemas.openxmlformats.org/drawingml/2006/main">
            <a:off x="7943850" y="5581650"/>
            <a:ext cx="361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425966"/>
                </a:solidFill>
                <a:latin typeface="Malgun Gothic"/>
                <a:ea typeface="Malgun Gothic"/>
                <a:cs typeface="Malgun Gothic"/>
              </a:defRPr>
            </a:defPPr>
          </a:lstStyle>
          <a:p xmlns:a="http://schemas.openxmlformats.org/drawingml/2006/main">
            <a:pPr>
              <a:buNone/>
              <a:defRPr sz="1725" b="0">
                <a:solidFill>
                  <a:srgbClr val="425966"/>
                </a:solidFill>
                <a:latin typeface="Malgun Gothic"/>
                <a:ea typeface="Malgun Gothic"/>
                <a:cs typeface="Malgun Gothic"/>
              </a:defRPr>
            </a:pPr>
            <a:r>
              <a:rPr sz="1725" b="0">
                <a:solidFill>
                  <a:srgbClr val="425966"/>
                </a:solidFill>
                <a:latin typeface="Malgun Gothic"/>
                <a:ea typeface="Malgun Gothic"/>
                <a:cs typeface="Malgun Gothic"/>
              </a:rPr>
              <a:t>프로젝트 내 시설 아트</a:t>
            </a:r>
          </a:p>
        </p:txBody>
      </p:sp>
      <p:sp>
        <p:nvSpPr>
          <p:cNvPr id="11" name="body">
            <a:extLst xmlns:a="http://schemas.openxmlformats.org/drawingml/2006/main">
              <a:ext uri="{FF2B5EF4-FFF2-40B4-BE49-F238E27FC236}">
                <a16:creationId xmlns:a16="http://schemas.microsoft.com/office/drawing/2014/main" id="{F7AB1335-61C8-4B22-89BE-4837E2693E1F}"/>
              </a:ext>
            </a:extLst>
          </p:cNvPr>
          <p:cNvSpPr>
            <a:spLocks xmlns:a="http://schemas.openxmlformats.org/drawingml/2006/main" noGrp="1"/>
          </p:cNvSpPr>
          <p:nvPr/>
        </p:nvSpPr>
        <p:spPr>
          <a:xfrm xmlns:a="http://schemas.openxmlformats.org/drawingml/2006/main">
            <a:off x="11087100" y="6353175"/>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425966"/>
                </a:solidFill>
                <a:latin typeface="Malgun Gothic"/>
                <a:ea typeface="Malgun Gothic"/>
                <a:cs typeface="Malgun Gothic"/>
              </a:defRPr>
            </a:defPPr>
          </a:lstStyle>
          <a:p xmlns:a="http://schemas.openxmlformats.org/drawingml/2006/main">
            <a:pPr>
              <a:buNone/>
              <a:defRPr sz="1500" b="0">
                <a:solidFill>
                  <a:srgbClr val="425966"/>
                </a:solidFill>
                <a:latin typeface="Malgun Gothic"/>
                <a:ea typeface="Malgun Gothic"/>
                <a:cs typeface="Malgun Gothic"/>
              </a:defRPr>
            </a:pPr>
            <a:r>
              <a:rPr sz="1500" b="0">
                <a:solidFill>
                  <a:srgbClr val="425966"/>
                </a:solidFill>
                <a:latin typeface="Malgun Gothic"/>
                <a:ea typeface="Malgun Gothic"/>
                <a:cs typeface="Malgun Gothic"/>
              </a:rPr>
              <a:t>18</a:t>
            </a:r>
          </a:p>
        </p:txBody>
      </p:sp>
    </p:spTree>
    <p:extLst>
      <p:ext uri="{BB962C8B-B14F-4D97-AF65-F5344CB8AC3E}">
        <p14:creationId xmlns:p14="http://schemas.microsoft.com/office/powerpoint/2010/main" val="703535123"/>
      </p:ext>
    </p:extLst>
  </p:cSld>
</p:sld>
</file>

<file path=ppt/slides/slide19.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28C4D6D4-0254-47CA-8CB8-A2E751455845}"/>
              </a:ext>
            </a:extLst>
          </p:cNvPr>
          <p:cNvSpPr>
            <a:spLocks xmlns:a="http://schemas.openxmlformats.org/drawingml/2006/main" noGrp="1"/>
          </p:cNvSpPr>
          <p:nvPr/>
        </p:nvSpPr>
        <p:spPr>
          <a:xfrm xmlns:a="http://schemas.openxmlformats.org/drawingml/2006/main">
            <a:off x="609600" y="5715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42633"/>
                </a:solidFill>
                <a:latin typeface="Malgun Gothic"/>
                <a:ea typeface="Malgun Gothic"/>
                <a:cs typeface="Malgun Gothic"/>
              </a:defRPr>
            </a:defPPr>
          </a:lstStyle>
          <a:p xmlns:a="http://schemas.openxmlformats.org/drawingml/2006/main">
            <a:pPr>
              <a:buNone/>
              <a:defRPr sz="3300" b="1">
                <a:solidFill>
                  <a:srgbClr val="142633"/>
                </a:solidFill>
                <a:latin typeface="Malgun Gothic"/>
                <a:ea typeface="Malgun Gothic"/>
                <a:cs typeface="Malgun Gothic"/>
              </a:defRPr>
            </a:pPr>
            <a:r>
              <a:rPr sz="3300" b="1">
                <a:solidFill>
                  <a:srgbClr val="142633"/>
                </a:solidFill>
                <a:latin typeface="Malgun Gothic"/>
                <a:ea typeface="Malgun Gothic"/>
                <a:cs typeface="Malgun Gothic"/>
              </a:rPr>
              <a:t>납품 미션 UI</a:t>
            </a:r>
          </a:p>
        </p:txBody>
      </p:sp>
      <p:sp>
        <p:nvSpPr>
          <p:cNvPr id="2" name="lead">
            <a:extLst xmlns:a="http://schemas.openxmlformats.org/drawingml/2006/main">
              <a:ext uri="{FF2B5EF4-FFF2-40B4-BE49-F238E27FC236}">
                <a16:creationId xmlns:a16="http://schemas.microsoft.com/office/drawing/2014/main" id="{F5F39F2C-F0B8-4A0B-8D12-F2A0A7747EDD}"/>
              </a:ext>
            </a:extLst>
          </p:cNvPr>
          <p:cNvSpPr>
            <a:spLocks xmlns:a="http://schemas.openxmlformats.org/drawingml/2006/main" noGrp="1"/>
          </p:cNvSpPr>
          <p:nvPr/>
        </p:nvSpPr>
        <p:spPr>
          <a:xfrm xmlns:a="http://schemas.openxmlformats.org/drawingml/2006/main">
            <a:off x="609600" y="145732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B95B12"/>
                </a:solidFill>
                <a:latin typeface="Malgun Gothic"/>
                <a:ea typeface="Malgun Gothic"/>
                <a:cs typeface="Malgun Gothic"/>
              </a:defRPr>
            </a:defPPr>
          </a:lstStyle>
          <a:p xmlns:a="http://schemas.openxmlformats.org/drawingml/2006/main">
            <a:pPr>
              <a:buNone/>
              <a:defRPr sz="2100" b="0">
                <a:solidFill>
                  <a:srgbClr val="B95B12"/>
                </a:solidFill>
                <a:latin typeface="Malgun Gothic"/>
                <a:ea typeface="Malgun Gothic"/>
                <a:cs typeface="Malgun Gothic"/>
              </a:defRPr>
            </a:pPr>
            <a:r>
              <a:rPr sz="2100" b="0">
                <a:solidFill>
                  <a:srgbClr val="B95B12"/>
                </a:solidFill>
                <a:latin typeface="Malgun Gothic"/>
                <a:ea typeface="Malgun Gothic"/>
                <a:cs typeface="Malgun Gothic"/>
              </a:rPr>
              <a:t>실제 인게임 화면 · 생산 목표와 보상 비교</a:t>
            </a:r>
          </a:p>
        </p:txBody>
      </p:sp>
      <p:pic>
        <p:nvPicPr>
          <p:cNvPr id="3" name="">
            <a:extLst xmlns:a="http://schemas.openxmlformats.org/drawingml/2006/main">
              <a:ext uri="{FF2B5EF4-FFF2-40B4-BE49-F238E27FC236}">
                <a16:creationId xmlns:a16="http://schemas.microsoft.com/office/drawing/2014/main" id="{C246DAAF-3C4C-49AA-92C1-DEB2CEA078A0}"/>
              </a:ext>
            </a:extLst>
          </p:cNvPr>
          <p:cNvPicPr>
            <a:picLocks xmlns:a="http://schemas.openxmlformats.org/drawingml/2006/main" noChangeAspect="1"/>
          </p:cNvPicPr>
          <p:nvPr/>
        </p:nvPicPr>
        <p:blipFill>
          <a:blip xmlns:r="http://schemas.openxmlformats.org/officeDocument/2006/relationships" xmlns:a="http://schemas.openxmlformats.org/drawingml/2006/main" r:embed="R30f73656d109476b"/>
          <a:stretch xmlns:a="http://schemas.openxmlformats.org/drawingml/2006/main"/>
        </p:blipFill>
        <p:spPr>
          <a:xfrm xmlns:a="http://schemas.openxmlformats.org/drawingml/2006/main">
            <a:off x="1036262" y="2028825"/>
            <a:ext cx="7195302" cy="4038600"/>
          </a:xfrm>
          <a:prstGeom xmlns:a="http://schemas.openxmlformats.org/drawingml/2006/main" prst="rect">
            <a:avLst/>
          </a:prstGeom>
        </p:spPr>
      </p:pic>
      <p:sp>
        <p:nvSpPr>
          <p:cNvPr id="4" name="body">
            <a:extLst xmlns:a="http://schemas.openxmlformats.org/drawingml/2006/main">
              <a:ext uri="{FF2B5EF4-FFF2-40B4-BE49-F238E27FC236}">
                <a16:creationId xmlns:a16="http://schemas.microsoft.com/office/drawing/2014/main" id="{88646E1D-5786-42B4-BC50-94F1CFF551B4}"/>
              </a:ext>
            </a:extLst>
          </p:cNvPr>
          <p:cNvSpPr>
            <a:spLocks xmlns:a="http://schemas.openxmlformats.org/drawingml/2006/main" noGrp="1"/>
          </p:cNvSpPr>
          <p:nvPr/>
        </p:nvSpPr>
        <p:spPr>
          <a:xfrm xmlns:a="http://schemas.openxmlformats.org/drawingml/2006/main">
            <a:off x="9048750" y="2190750"/>
            <a:ext cx="2533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142633"/>
                </a:solidFill>
                <a:latin typeface="Malgun Gothic"/>
                <a:ea typeface="Malgun Gothic"/>
                <a:cs typeface="Malgun Gothic"/>
              </a:defRPr>
            </a:defPPr>
          </a:lstStyle>
          <a:p xmlns:a="http://schemas.openxmlformats.org/drawingml/2006/main">
            <a:pPr>
              <a:buNone/>
              <a:defRPr sz="1950" b="1">
                <a:solidFill>
                  <a:srgbClr val="142633"/>
                </a:solidFill>
                <a:latin typeface="Malgun Gothic"/>
                <a:ea typeface="Malgun Gothic"/>
                <a:cs typeface="Malgun Gothic"/>
              </a:defRPr>
            </a:pPr>
            <a:r>
              <a:rPr sz="1950" b="1">
                <a:solidFill>
                  <a:srgbClr val="142633"/>
                </a:solidFill>
                <a:latin typeface="Malgun Gothic"/>
                <a:ea typeface="Malgun Gothic"/>
                <a:cs typeface="Malgun Gothic"/>
              </a:rPr>
              <a:t>미션 목록</a:t>
            </a:r>
          </a:p>
        </p:txBody>
      </p:sp>
      <p:sp>
        <p:nvSpPr>
          <p:cNvPr id="5" name="body">
            <a:extLst xmlns:a="http://schemas.openxmlformats.org/drawingml/2006/main">
              <a:ext uri="{FF2B5EF4-FFF2-40B4-BE49-F238E27FC236}">
                <a16:creationId xmlns:a16="http://schemas.microsoft.com/office/drawing/2014/main" id="{F3D2C3CC-17F1-4997-8F3A-6679E8413AD5}"/>
              </a:ext>
            </a:extLst>
          </p:cNvPr>
          <p:cNvSpPr>
            <a:spLocks xmlns:a="http://schemas.openxmlformats.org/drawingml/2006/main" noGrp="1"/>
          </p:cNvSpPr>
          <p:nvPr/>
        </p:nvSpPr>
        <p:spPr>
          <a:xfrm xmlns:a="http://schemas.openxmlformats.org/drawingml/2006/main">
            <a:off x="9048750" y="2600325"/>
            <a:ext cx="25336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425966"/>
                </a:solidFill>
                <a:latin typeface="Malgun Gothic"/>
                <a:ea typeface="Malgun Gothic"/>
                <a:cs typeface="Malgun Gothic"/>
              </a:defRPr>
            </a:defPPr>
          </a:lstStyle>
          <a:p xmlns:a="http://schemas.openxmlformats.org/drawingml/2006/main">
            <a:pPr>
              <a:buNone/>
              <a:defRPr sz="1725" b="0">
                <a:solidFill>
                  <a:srgbClr val="425966"/>
                </a:solidFill>
                <a:latin typeface="Malgun Gothic"/>
                <a:ea typeface="Malgun Gothic"/>
                <a:cs typeface="Malgun Gothic"/>
              </a:defRPr>
            </a:pPr>
            <a:r>
              <a:rPr sz="1725" b="0">
                <a:solidFill>
                  <a:srgbClr val="425966"/>
                </a:solidFill>
                <a:latin typeface="Malgun Gothic"/>
                <a:ea typeface="Malgun Gothic"/>
                <a:cs typeface="Malgun Gothic"/>
              </a:rPr>
              <a:t>납품 소재·필요 스택·보상을 비교합니다.</a:t>
            </a:r>
          </a:p>
        </p:txBody>
      </p:sp>
      <p:sp>
        <p:nvSpPr>
          <p:cNvPr id="6" name="body">
            <a:extLst xmlns:a="http://schemas.openxmlformats.org/drawingml/2006/main">
              <a:ext uri="{FF2B5EF4-FFF2-40B4-BE49-F238E27FC236}">
                <a16:creationId xmlns:a16="http://schemas.microsoft.com/office/drawing/2014/main" id="{6162CFEE-908A-45CA-B2CC-F41E9BC95795}"/>
              </a:ext>
            </a:extLst>
          </p:cNvPr>
          <p:cNvSpPr>
            <a:spLocks xmlns:a="http://schemas.openxmlformats.org/drawingml/2006/main" noGrp="1"/>
          </p:cNvSpPr>
          <p:nvPr/>
        </p:nvSpPr>
        <p:spPr>
          <a:xfrm xmlns:a="http://schemas.openxmlformats.org/drawingml/2006/main">
            <a:off x="9048750" y="3486150"/>
            <a:ext cx="2533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142633"/>
                </a:solidFill>
                <a:latin typeface="Malgun Gothic"/>
                <a:ea typeface="Malgun Gothic"/>
                <a:cs typeface="Malgun Gothic"/>
              </a:defRPr>
            </a:defPPr>
          </a:lstStyle>
          <a:p xmlns:a="http://schemas.openxmlformats.org/drawingml/2006/main">
            <a:pPr>
              <a:buNone/>
              <a:defRPr sz="1950" b="1">
                <a:solidFill>
                  <a:srgbClr val="142633"/>
                </a:solidFill>
                <a:latin typeface="Malgun Gothic"/>
                <a:ea typeface="Malgun Gothic"/>
                <a:cs typeface="Malgun Gothic"/>
              </a:defRPr>
            </a:pPr>
            <a:r>
              <a:rPr sz="1950" b="1">
                <a:solidFill>
                  <a:srgbClr val="142633"/>
                </a:solidFill>
                <a:latin typeface="Malgun Gothic"/>
                <a:ea typeface="Malgun Gothic"/>
                <a:cs typeface="Malgun Gothic"/>
              </a:rPr>
              <a:t>수주</a:t>
            </a:r>
          </a:p>
        </p:txBody>
      </p:sp>
      <p:sp>
        <p:nvSpPr>
          <p:cNvPr id="7" name="body">
            <a:extLst xmlns:a="http://schemas.openxmlformats.org/drawingml/2006/main">
              <a:ext uri="{FF2B5EF4-FFF2-40B4-BE49-F238E27FC236}">
                <a16:creationId xmlns:a16="http://schemas.microsoft.com/office/drawing/2014/main" id="{576D4728-91DE-48C3-92C7-A522A2448AE3}"/>
              </a:ext>
            </a:extLst>
          </p:cNvPr>
          <p:cNvSpPr>
            <a:spLocks xmlns:a="http://schemas.openxmlformats.org/drawingml/2006/main" noGrp="1"/>
          </p:cNvSpPr>
          <p:nvPr/>
        </p:nvSpPr>
        <p:spPr>
          <a:xfrm xmlns:a="http://schemas.openxmlformats.org/drawingml/2006/main">
            <a:off x="9048750" y="3895725"/>
            <a:ext cx="25336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425966"/>
                </a:solidFill>
                <a:latin typeface="Malgun Gothic"/>
                <a:ea typeface="Malgun Gothic"/>
                <a:cs typeface="Malgun Gothic"/>
              </a:defRPr>
            </a:defPPr>
          </a:lstStyle>
          <a:p xmlns:a="http://schemas.openxmlformats.org/drawingml/2006/main">
            <a:pPr>
              <a:buNone/>
              <a:defRPr sz="1725" b="0">
                <a:solidFill>
                  <a:srgbClr val="425966"/>
                </a:solidFill>
                <a:latin typeface="Malgun Gothic"/>
                <a:ea typeface="Malgun Gothic"/>
                <a:cs typeface="Malgun Gothic"/>
              </a:defRPr>
            </a:pPr>
            <a:r>
              <a:rPr sz="1725" b="0">
                <a:solidFill>
                  <a:srgbClr val="425966"/>
                </a:solidFill>
                <a:latin typeface="Malgun Gothic"/>
                <a:ea typeface="Malgun Gothic"/>
                <a:cs typeface="Malgun Gothic"/>
              </a:rPr>
              <a:t>한 번에 하나만 수주합니다.</a:t>
            </a:r>
          </a:p>
        </p:txBody>
      </p:sp>
      <p:sp>
        <p:nvSpPr>
          <p:cNvPr id="8" name="body">
            <a:extLst xmlns:a="http://schemas.openxmlformats.org/drawingml/2006/main">
              <a:ext uri="{FF2B5EF4-FFF2-40B4-BE49-F238E27FC236}">
                <a16:creationId xmlns:a16="http://schemas.microsoft.com/office/drawing/2014/main" id="{C21922CF-49D0-4200-8DAF-F7A388230D23}"/>
              </a:ext>
            </a:extLst>
          </p:cNvPr>
          <p:cNvSpPr>
            <a:spLocks xmlns:a="http://schemas.openxmlformats.org/drawingml/2006/main" noGrp="1"/>
          </p:cNvSpPr>
          <p:nvPr/>
        </p:nvSpPr>
        <p:spPr>
          <a:xfrm xmlns:a="http://schemas.openxmlformats.org/drawingml/2006/main">
            <a:off x="9048750" y="4781550"/>
            <a:ext cx="2533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142633"/>
                </a:solidFill>
                <a:latin typeface="Malgun Gothic"/>
                <a:ea typeface="Malgun Gothic"/>
                <a:cs typeface="Malgun Gothic"/>
              </a:defRPr>
            </a:defPPr>
          </a:lstStyle>
          <a:p xmlns:a="http://schemas.openxmlformats.org/drawingml/2006/main">
            <a:pPr>
              <a:buNone/>
              <a:defRPr sz="1950" b="1">
                <a:solidFill>
                  <a:srgbClr val="142633"/>
                </a:solidFill>
                <a:latin typeface="Malgun Gothic"/>
                <a:ea typeface="Malgun Gothic"/>
                <a:cs typeface="Malgun Gothic"/>
              </a:defRPr>
            </a:pPr>
            <a:r>
              <a:rPr sz="1950" b="1">
                <a:solidFill>
                  <a:srgbClr val="142633"/>
                </a:solidFill>
                <a:latin typeface="Malgun Gothic"/>
                <a:ea typeface="Malgun Gothic"/>
                <a:cs typeface="Malgun Gothic"/>
              </a:rPr>
              <a:t>닫기 / 미션 납품</a:t>
            </a:r>
          </a:p>
        </p:txBody>
      </p:sp>
      <p:sp>
        <p:nvSpPr>
          <p:cNvPr id="9" name="body">
            <a:extLst xmlns:a="http://schemas.openxmlformats.org/drawingml/2006/main">
              <a:ext uri="{FF2B5EF4-FFF2-40B4-BE49-F238E27FC236}">
                <a16:creationId xmlns:a16="http://schemas.microsoft.com/office/drawing/2014/main" id="{66108BA3-0342-4305-AB76-EAD325318C0A}"/>
              </a:ext>
            </a:extLst>
          </p:cNvPr>
          <p:cNvSpPr>
            <a:spLocks xmlns:a="http://schemas.openxmlformats.org/drawingml/2006/main" noGrp="1"/>
          </p:cNvSpPr>
          <p:nvPr/>
        </p:nvSpPr>
        <p:spPr>
          <a:xfrm xmlns:a="http://schemas.openxmlformats.org/drawingml/2006/main">
            <a:off x="9048750" y="5191125"/>
            <a:ext cx="25336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425966"/>
                </a:solidFill>
                <a:latin typeface="Malgun Gothic"/>
                <a:ea typeface="Malgun Gothic"/>
                <a:cs typeface="Malgun Gothic"/>
              </a:defRPr>
            </a:defPPr>
          </a:lstStyle>
          <a:p xmlns:a="http://schemas.openxmlformats.org/drawingml/2006/main">
            <a:pPr>
              <a:buNone/>
              <a:defRPr sz="1725" b="0">
                <a:solidFill>
                  <a:srgbClr val="425966"/>
                </a:solidFill>
                <a:latin typeface="Malgun Gothic"/>
                <a:ea typeface="Malgun Gothic"/>
                <a:cs typeface="Malgun Gothic"/>
              </a:defRPr>
            </a:pPr>
            <a:r>
              <a:rPr sz="1725" b="0">
                <a:solidFill>
                  <a:srgbClr val="425966"/>
                </a:solidFill>
                <a:latin typeface="Malgun Gothic"/>
                <a:ea typeface="Malgun Gothic"/>
                <a:cs typeface="Malgun Gothic"/>
              </a:rPr>
              <a:t>목록을 닫고 재고를 모은 뒤 보드의 미션 납품으로 완료합니다.</a:t>
            </a:r>
          </a:p>
        </p:txBody>
      </p:sp>
      <p:sp>
        <p:nvSpPr>
          <p:cNvPr id="10" name="design-intent">
            <a:extLst xmlns:a="http://schemas.openxmlformats.org/drawingml/2006/main">
              <a:ext uri="{FF2B5EF4-FFF2-40B4-BE49-F238E27FC236}">
                <a16:creationId xmlns:a16="http://schemas.microsoft.com/office/drawing/2014/main" id="{69B411B3-294D-4C07-8D80-25ED7B97ED74}"/>
              </a:ext>
            </a:extLst>
          </p:cNvPr>
          <p:cNvSpPr>
            <a:spLocks xmlns:a="http://schemas.openxmlformats.org/drawingml/2006/main" noGrp="1"/>
          </p:cNvSpPr>
          <p:nvPr/>
        </p:nvSpPr>
        <p:spPr>
          <a:xfrm xmlns:a="http://schemas.openxmlformats.org/drawingml/2006/main">
            <a:off x="609600" y="6219825"/>
            <a:ext cx="10096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425966"/>
                </a:solidFill>
                <a:latin typeface="Malgun Gothic"/>
                <a:ea typeface="Malgun Gothic"/>
                <a:cs typeface="Malgun Gothic"/>
              </a:defRPr>
            </a:defPPr>
          </a:lstStyle>
          <a:p xmlns:a="http://schemas.openxmlformats.org/drawingml/2006/main">
            <a:pPr>
              <a:buNone/>
              <a:defRPr sz="1725" b="0">
                <a:solidFill>
                  <a:srgbClr val="425966"/>
                </a:solidFill>
                <a:latin typeface="Malgun Gothic"/>
                <a:ea typeface="Malgun Gothic"/>
                <a:cs typeface="Malgun Gothic"/>
              </a:defRPr>
            </a:pPr>
            <a:r>
              <a:rPr sz="1725" b="0">
                <a:solidFill>
                  <a:srgbClr val="425966"/>
                </a:solidFill>
                <a:latin typeface="Malgun Gothic"/>
                <a:ea typeface="Malgun Gothic"/>
                <a:cs typeface="Malgun Gothic"/>
              </a:rPr>
              <a:t>개발 의도: 생산할 품목과 목표 수량을 계약으로 제시하고 납품 성공을 보상합니다.</a:t>
            </a:r>
          </a:p>
        </p:txBody>
      </p:sp>
      <p:sp>
        <p:nvSpPr>
          <p:cNvPr id="11" name="page">
            <a:extLst xmlns:a="http://schemas.openxmlformats.org/drawingml/2006/main">
              <a:ext uri="{FF2B5EF4-FFF2-40B4-BE49-F238E27FC236}">
                <a16:creationId xmlns:a16="http://schemas.microsoft.com/office/drawing/2014/main" id="{96DEA08E-9F32-40CF-BC28-3E3706EBADB3}"/>
              </a:ext>
            </a:extLst>
          </p:cNvPr>
          <p:cNvSpPr>
            <a:spLocks xmlns:a="http://schemas.openxmlformats.org/drawingml/2006/main" noGrp="1"/>
          </p:cNvSpPr>
          <p:nvPr/>
        </p:nvSpPr>
        <p:spPr>
          <a:xfrm xmlns:a="http://schemas.openxmlformats.org/drawingml/2006/main">
            <a:off x="11087100" y="6353175"/>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425966"/>
                </a:solidFill>
                <a:latin typeface="Malgun Gothic"/>
                <a:ea typeface="Malgun Gothic"/>
                <a:cs typeface="Malgun Gothic"/>
              </a:defRPr>
            </a:defPPr>
          </a:lstStyle>
          <a:p xmlns:a="http://schemas.openxmlformats.org/drawingml/2006/main">
            <a:pPr>
              <a:buNone/>
              <a:defRPr sz="1500" b="0">
                <a:solidFill>
                  <a:srgbClr val="425966"/>
                </a:solidFill>
                <a:latin typeface="Malgun Gothic"/>
                <a:ea typeface="Malgun Gothic"/>
                <a:cs typeface="Malgun Gothic"/>
              </a:defRPr>
            </a:pPr>
            <a:r>
              <a:rPr sz="1500" b="0">
                <a:solidFill>
                  <a:srgbClr val="425966"/>
                </a:solidFill>
                <a:latin typeface="Malgun Gothic"/>
                <a:ea typeface="Malgun Gothic"/>
                <a:cs typeface="Malgun Gothic"/>
              </a:rPr>
              <a:t>19</a:t>
            </a:r>
          </a:p>
        </p:txBody>
      </p:sp>
    </p:spTree>
    <p:extLst>
      <p:ext uri="{BB962C8B-B14F-4D97-AF65-F5344CB8AC3E}">
        <p14:creationId xmlns:p14="http://schemas.microsoft.com/office/powerpoint/2010/main" val="1875631127"/>
      </p:ext>
    </p:extLst>
  </p:cSld>
</p:sld>
</file>

<file path=ppt/slides/slide20.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F0575220-9619-4371-9183-6BE3A14741B5}"/>
              </a:ext>
            </a:extLst>
          </p:cNvPr>
          <p:cNvSpPr>
            <a:spLocks xmlns:a="http://schemas.openxmlformats.org/drawingml/2006/main" noGrp="1"/>
          </p:cNvSpPr>
          <p:nvPr/>
        </p:nvSpPr>
        <p:spPr>
          <a:xfrm xmlns:a="http://schemas.openxmlformats.org/drawingml/2006/main">
            <a:off x="609600" y="5715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42633"/>
                </a:solidFill>
                <a:latin typeface="Malgun Gothic"/>
                <a:ea typeface="Malgun Gothic"/>
                <a:cs typeface="Malgun Gothic"/>
              </a:defRPr>
            </a:defPPr>
          </a:lstStyle>
          <a:p xmlns:a="http://schemas.openxmlformats.org/drawingml/2006/main">
            <a:pPr>
              <a:buNone/>
              <a:defRPr sz="3300" b="1">
                <a:solidFill>
                  <a:srgbClr val="142633"/>
                </a:solidFill>
                <a:latin typeface="Malgun Gothic"/>
                <a:ea typeface="Malgun Gothic"/>
                <a:cs typeface="Malgun Gothic"/>
              </a:defRPr>
            </a:pPr>
            <a:r>
              <a:rPr sz="3300" b="1">
                <a:solidFill>
                  <a:srgbClr val="142633"/>
                </a:solidFill>
                <a:latin typeface="Malgun Gothic"/>
                <a:ea typeface="Malgun Gothic"/>
                <a:cs typeface="Malgun Gothic"/>
              </a:rPr>
              <a:t>튜토리얼 · 주제별 안내</a:t>
            </a:r>
          </a:p>
        </p:txBody>
      </p:sp>
      <p:sp>
        <p:nvSpPr>
          <p:cNvPr id="2" name="lead">
            <a:extLst xmlns:a="http://schemas.openxmlformats.org/drawingml/2006/main">
              <a:ext uri="{FF2B5EF4-FFF2-40B4-BE49-F238E27FC236}">
                <a16:creationId xmlns:a16="http://schemas.microsoft.com/office/drawing/2014/main" id="{FC4C6064-B366-4C27-800B-37614AA6978C}"/>
              </a:ext>
            </a:extLst>
          </p:cNvPr>
          <p:cNvSpPr>
            <a:spLocks xmlns:a="http://schemas.openxmlformats.org/drawingml/2006/main" noGrp="1"/>
          </p:cNvSpPr>
          <p:nvPr/>
        </p:nvSpPr>
        <p:spPr>
          <a:xfrm xmlns:a="http://schemas.openxmlformats.org/drawingml/2006/main">
            <a:off x="609600" y="145732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B95B12"/>
                </a:solidFill>
                <a:latin typeface="Malgun Gothic"/>
                <a:ea typeface="Malgun Gothic"/>
                <a:cs typeface="Malgun Gothic"/>
              </a:defRPr>
            </a:defPPr>
          </a:lstStyle>
          <a:p xmlns:a="http://schemas.openxmlformats.org/drawingml/2006/main">
            <a:pPr>
              <a:buNone/>
              <a:defRPr sz="2100" b="0">
                <a:solidFill>
                  <a:srgbClr val="B95B12"/>
                </a:solidFill>
                <a:latin typeface="Malgun Gothic"/>
                <a:ea typeface="Malgun Gothic"/>
                <a:cs typeface="Malgun Gothic"/>
              </a:defRPr>
            </a:pPr>
            <a:r>
              <a:rPr sz="2100" b="0">
                <a:solidFill>
                  <a:srgbClr val="B95B12"/>
                </a:solidFill>
                <a:latin typeface="Malgun Gothic"/>
                <a:ea typeface="Malgun Gothic"/>
                <a:cs typeface="Malgun Gothic"/>
              </a:rPr>
              <a:t>실제 인게임 화면 · 19개 주제와 수행 실습</a:t>
            </a:r>
          </a:p>
        </p:txBody>
      </p:sp>
      <p:pic>
        <p:nvPicPr>
          <p:cNvPr id="3" name="">
            <a:extLst xmlns:a="http://schemas.openxmlformats.org/drawingml/2006/main">
              <a:ext uri="{FF2B5EF4-FFF2-40B4-BE49-F238E27FC236}">
                <a16:creationId xmlns:a16="http://schemas.microsoft.com/office/drawing/2014/main" id="{725310E5-7CD2-4EA4-8E1C-E0CB040C99DA}"/>
              </a:ext>
            </a:extLst>
          </p:cNvPr>
          <p:cNvPicPr>
            <a:picLocks xmlns:a="http://schemas.openxmlformats.org/drawingml/2006/main" noChangeAspect="1"/>
          </p:cNvPicPr>
          <p:nvPr/>
        </p:nvPicPr>
        <p:blipFill>
          <a:blip xmlns:r="http://schemas.openxmlformats.org/officeDocument/2006/relationships" xmlns:a="http://schemas.openxmlformats.org/drawingml/2006/main" r:embed="R0bf2a8e8f4794b0b"/>
          <a:stretch xmlns:a="http://schemas.openxmlformats.org/drawingml/2006/main"/>
        </p:blipFill>
        <p:spPr>
          <a:xfrm xmlns:a="http://schemas.openxmlformats.org/drawingml/2006/main">
            <a:off x="1025655" y="2028825"/>
            <a:ext cx="7216515" cy="4038600"/>
          </a:xfrm>
          <a:prstGeom xmlns:a="http://schemas.openxmlformats.org/drawingml/2006/main" prst="rect">
            <a:avLst/>
          </a:prstGeom>
        </p:spPr>
      </p:pic>
      <p:sp>
        <p:nvSpPr>
          <p:cNvPr id="4" name="body">
            <a:extLst xmlns:a="http://schemas.openxmlformats.org/drawingml/2006/main">
              <a:ext uri="{FF2B5EF4-FFF2-40B4-BE49-F238E27FC236}">
                <a16:creationId xmlns:a16="http://schemas.microsoft.com/office/drawing/2014/main" id="{B8D67037-D773-4D6D-8ED5-A626FA64F1E1}"/>
              </a:ext>
            </a:extLst>
          </p:cNvPr>
          <p:cNvSpPr>
            <a:spLocks xmlns:a="http://schemas.openxmlformats.org/drawingml/2006/main" noGrp="1"/>
          </p:cNvSpPr>
          <p:nvPr/>
        </p:nvSpPr>
        <p:spPr>
          <a:xfrm xmlns:a="http://schemas.openxmlformats.org/drawingml/2006/main">
            <a:off x="9048750" y="2190750"/>
            <a:ext cx="2533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142633"/>
                </a:solidFill>
                <a:latin typeface="Malgun Gothic"/>
                <a:ea typeface="Malgun Gothic"/>
                <a:cs typeface="Malgun Gothic"/>
              </a:defRPr>
            </a:defPPr>
          </a:lstStyle>
          <a:p xmlns:a="http://schemas.openxmlformats.org/drawingml/2006/main">
            <a:pPr>
              <a:buNone/>
              <a:defRPr sz="1950" b="1">
                <a:solidFill>
                  <a:srgbClr val="142633"/>
                </a:solidFill>
                <a:latin typeface="Malgun Gothic"/>
                <a:ea typeface="Malgun Gothic"/>
                <a:cs typeface="Malgun Gothic"/>
              </a:defRPr>
            </a:pPr>
            <a:r>
              <a:rPr sz="1950" b="1">
                <a:solidFill>
                  <a:srgbClr val="142633"/>
                </a:solidFill>
                <a:latin typeface="Malgun Gothic"/>
                <a:ea typeface="Malgun Gothic"/>
                <a:cs typeface="Malgun Gothic"/>
              </a:rPr>
              <a:t>주제 목록</a:t>
            </a:r>
          </a:p>
        </p:txBody>
      </p:sp>
      <p:sp>
        <p:nvSpPr>
          <p:cNvPr id="5" name="body">
            <a:extLst xmlns:a="http://schemas.openxmlformats.org/drawingml/2006/main">
              <a:ext uri="{FF2B5EF4-FFF2-40B4-BE49-F238E27FC236}">
                <a16:creationId xmlns:a16="http://schemas.microsoft.com/office/drawing/2014/main" id="{AE8C25B5-CC94-41BD-BF74-CF06B60455DB}"/>
              </a:ext>
            </a:extLst>
          </p:cNvPr>
          <p:cNvSpPr>
            <a:spLocks xmlns:a="http://schemas.openxmlformats.org/drawingml/2006/main" noGrp="1"/>
          </p:cNvSpPr>
          <p:nvPr/>
        </p:nvSpPr>
        <p:spPr>
          <a:xfrm xmlns:a="http://schemas.openxmlformats.org/drawingml/2006/main">
            <a:off x="9048750" y="2600325"/>
            <a:ext cx="25336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425966"/>
                </a:solidFill>
                <a:latin typeface="Malgun Gothic"/>
                <a:ea typeface="Malgun Gothic"/>
                <a:cs typeface="Malgun Gothic"/>
              </a:defRPr>
            </a:defPPr>
          </a:lstStyle>
          <a:p xmlns:a="http://schemas.openxmlformats.org/drawingml/2006/main">
            <a:pPr>
              <a:buNone/>
              <a:defRPr sz="1725" b="0">
                <a:solidFill>
                  <a:srgbClr val="425966"/>
                </a:solidFill>
                <a:latin typeface="Malgun Gothic"/>
                <a:ea typeface="Malgun Gothic"/>
                <a:cs typeface="Malgun Gothic"/>
              </a:defRPr>
            </a:pPr>
            <a:r>
              <a:rPr sz="1725" b="0">
                <a:solidFill>
                  <a:srgbClr val="425966"/>
                </a:solidFill>
                <a:latin typeface="Malgun Gothic"/>
                <a:ea typeface="Malgun Gothic"/>
                <a:cs typeface="Malgun Gothic"/>
              </a:rPr>
              <a:t>건설·생산·시장·수송 등 원하는 항목을 직접 선택합니다.</a:t>
            </a:r>
          </a:p>
        </p:txBody>
      </p:sp>
      <p:sp>
        <p:nvSpPr>
          <p:cNvPr id="6" name="body">
            <a:extLst xmlns:a="http://schemas.openxmlformats.org/drawingml/2006/main">
              <a:ext uri="{FF2B5EF4-FFF2-40B4-BE49-F238E27FC236}">
                <a16:creationId xmlns:a16="http://schemas.microsoft.com/office/drawing/2014/main" id="{28FD218D-2E1B-4344-9CCC-BFDBFB6DB56C}"/>
              </a:ext>
            </a:extLst>
          </p:cNvPr>
          <p:cNvSpPr>
            <a:spLocks xmlns:a="http://schemas.openxmlformats.org/drawingml/2006/main" noGrp="1"/>
          </p:cNvSpPr>
          <p:nvPr/>
        </p:nvSpPr>
        <p:spPr>
          <a:xfrm xmlns:a="http://schemas.openxmlformats.org/drawingml/2006/main">
            <a:off x="9048750" y="3486150"/>
            <a:ext cx="2533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142633"/>
                </a:solidFill>
                <a:latin typeface="Malgun Gothic"/>
                <a:ea typeface="Malgun Gothic"/>
                <a:cs typeface="Malgun Gothic"/>
              </a:defRPr>
            </a:defPPr>
          </a:lstStyle>
          <a:p xmlns:a="http://schemas.openxmlformats.org/drawingml/2006/main">
            <a:pPr>
              <a:buNone/>
              <a:defRPr sz="1950" b="1">
                <a:solidFill>
                  <a:srgbClr val="142633"/>
                </a:solidFill>
                <a:latin typeface="Malgun Gothic"/>
                <a:ea typeface="Malgun Gothic"/>
                <a:cs typeface="Malgun Gothic"/>
              </a:defRPr>
            </a:pPr>
            <a:r>
              <a:rPr sz="1950" b="1">
                <a:solidFill>
                  <a:srgbClr val="142633"/>
                </a:solidFill>
                <a:latin typeface="Malgun Gothic"/>
                <a:ea typeface="Malgun Gothic"/>
                <a:cs typeface="Malgun Gothic"/>
              </a:rPr>
              <a:t>이전 / 다음</a:t>
            </a:r>
          </a:p>
        </p:txBody>
      </p:sp>
      <p:sp>
        <p:nvSpPr>
          <p:cNvPr id="7" name="body">
            <a:extLst xmlns:a="http://schemas.openxmlformats.org/drawingml/2006/main">
              <a:ext uri="{FF2B5EF4-FFF2-40B4-BE49-F238E27FC236}">
                <a16:creationId xmlns:a16="http://schemas.microsoft.com/office/drawing/2014/main" id="{8210CA41-6421-41B4-B075-9889A1B87779}"/>
              </a:ext>
            </a:extLst>
          </p:cNvPr>
          <p:cNvSpPr>
            <a:spLocks xmlns:a="http://schemas.openxmlformats.org/drawingml/2006/main" noGrp="1"/>
          </p:cNvSpPr>
          <p:nvPr/>
        </p:nvSpPr>
        <p:spPr>
          <a:xfrm xmlns:a="http://schemas.openxmlformats.org/drawingml/2006/main">
            <a:off x="9048750" y="3895725"/>
            <a:ext cx="25336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425966"/>
                </a:solidFill>
                <a:latin typeface="Malgun Gothic"/>
                <a:ea typeface="Malgun Gothic"/>
                <a:cs typeface="Malgun Gothic"/>
              </a:defRPr>
            </a:defPPr>
          </a:lstStyle>
          <a:p xmlns:a="http://schemas.openxmlformats.org/drawingml/2006/main">
            <a:pPr>
              <a:buNone/>
              <a:defRPr sz="1725" b="0">
                <a:solidFill>
                  <a:srgbClr val="425966"/>
                </a:solidFill>
                <a:latin typeface="Malgun Gothic"/>
                <a:ea typeface="Malgun Gothic"/>
                <a:cs typeface="Malgun Gothic"/>
              </a:defRPr>
            </a:pPr>
            <a:r>
              <a:rPr sz="1725" b="0">
                <a:solidFill>
                  <a:srgbClr val="425966"/>
                </a:solidFill>
                <a:latin typeface="Malgun Gothic"/>
                <a:ea typeface="Malgun Gothic"/>
                <a:cs typeface="Malgun Gothic"/>
              </a:rPr>
              <a:t>안내 순서를 따라 페이지를 이동합니다.</a:t>
            </a:r>
          </a:p>
        </p:txBody>
      </p:sp>
      <p:sp>
        <p:nvSpPr>
          <p:cNvPr id="8" name="body">
            <a:extLst xmlns:a="http://schemas.openxmlformats.org/drawingml/2006/main">
              <a:ext uri="{FF2B5EF4-FFF2-40B4-BE49-F238E27FC236}">
                <a16:creationId xmlns:a16="http://schemas.microsoft.com/office/drawing/2014/main" id="{47DD7A7D-5C94-461F-BF70-ACA66EEB7D94}"/>
              </a:ext>
            </a:extLst>
          </p:cNvPr>
          <p:cNvSpPr>
            <a:spLocks xmlns:a="http://schemas.openxmlformats.org/drawingml/2006/main" noGrp="1"/>
          </p:cNvSpPr>
          <p:nvPr/>
        </p:nvSpPr>
        <p:spPr>
          <a:xfrm xmlns:a="http://schemas.openxmlformats.org/drawingml/2006/main">
            <a:off x="9048750" y="4781550"/>
            <a:ext cx="2533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142633"/>
                </a:solidFill>
                <a:latin typeface="Malgun Gothic"/>
                <a:ea typeface="Malgun Gothic"/>
                <a:cs typeface="Malgun Gothic"/>
              </a:defRPr>
            </a:defPPr>
          </a:lstStyle>
          <a:p xmlns:a="http://schemas.openxmlformats.org/drawingml/2006/main">
            <a:pPr>
              <a:buNone/>
              <a:defRPr sz="1950" b="1">
                <a:solidFill>
                  <a:srgbClr val="142633"/>
                </a:solidFill>
                <a:latin typeface="Malgun Gothic"/>
                <a:ea typeface="Malgun Gothic"/>
                <a:cs typeface="Malgun Gothic"/>
              </a:defRPr>
            </a:pPr>
            <a:r>
              <a:rPr sz="1950" b="1">
                <a:solidFill>
                  <a:srgbClr val="142633"/>
                </a:solidFill>
                <a:latin typeface="Malgun Gothic"/>
                <a:ea typeface="Malgun Gothic"/>
                <a:cs typeface="Malgun Gothic"/>
              </a:rPr>
              <a:t>안내 닫기</a:t>
            </a:r>
          </a:p>
        </p:txBody>
      </p:sp>
      <p:sp>
        <p:nvSpPr>
          <p:cNvPr id="9" name="body">
            <a:extLst xmlns:a="http://schemas.openxmlformats.org/drawingml/2006/main">
              <a:ext uri="{FF2B5EF4-FFF2-40B4-BE49-F238E27FC236}">
                <a16:creationId xmlns:a16="http://schemas.microsoft.com/office/drawing/2014/main" id="{A64E88E7-F5CE-4666-94F0-A8383B230308}"/>
              </a:ext>
            </a:extLst>
          </p:cNvPr>
          <p:cNvSpPr>
            <a:spLocks xmlns:a="http://schemas.openxmlformats.org/drawingml/2006/main" noGrp="1"/>
          </p:cNvSpPr>
          <p:nvPr/>
        </p:nvSpPr>
        <p:spPr>
          <a:xfrm xmlns:a="http://schemas.openxmlformats.org/drawingml/2006/main">
            <a:off x="9048750" y="5191125"/>
            <a:ext cx="25336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425966"/>
                </a:solidFill>
                <a:latin typeface="Malgun Gothic"/>
                <a:ea typeface="Malgun Gothic"/>
                <a:cs typeface="Malgun Gothic"/>
              </a:defRPr>
            </a:defPPr>
          </a:lstStyle>
          <a:p xmlns:a="http://schemas.openxmlformats.org/drawingml/2006/main">
            <a:pPr>
              <a:buNone/>
              <a:defRPr sz="1725" b="0">
                <a:solidFill>
                  <a:srgbClr val="425966"/>
                </a:solidFill>
                <a:latin typeface="Malgun Gothic"/>
                <a:ea typeface="Malgun Gothic"/>
                <a:cs typeface="Malgun Gothic"/>
              </a:defRPr>
            </a:pPr>
            <a:r>
              <a:rPr sz="1725" b="0">
                <a:solidFill>
                  <a:srgbClr val="425966"/>
                </a:solidFill>
                <a:latin typeface="Malgun Gothic"/>
                <a:ea typeface="Malgun Gothic"/>
                <a:cs typeface="Malgun Gothic"/>
              </a:rPr>
              <a:t>안내를 닫고 실제 플레이로 돌아갑니다.</a:t>
            </a:r>
          </a:p>
        </p:txBody>
      </p:sp>
      <p:sp>
        <p:nvSpPr>
          <p:cNvPr id="10" name="design-intent">
            <a:extLst xmlns:a="http://schemas.openxmlformats.org/drawingml/2006/main">
              <a:ext uri="{FF2B5EF4-FFF2-40B4-BE49-F238E27FC236}">
                <a16:creationId xmlns:a16="http://schemas.microsoft.com/office/drawing/2014/main" id="{67C658EA-A048-4F29-9F0F-B5FFF621B3D3}"/>
              </a:ext>
            </a:extLst>
          </p:cNvPr>
          <p:cNvSpPr>
            <a:spLocks xmlns:a="http://schemas.openxmlformats.org/drawingml/2006/main" noGrp="1"/>
          </p:cNvSpPr>
          <p:nvPr/>
        </p:nvSpPr>
        <p:spPr>
          <a:xfrm xmlns:a="http://schemas.openxmlformats.org/drawingml/2006/main">
            <a:off x="609600" y="6219825"/>
            <a:ext cx="10096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425966"/>
                </a:solidFill>
                <a:latin typeface="Malgun Gothic"/>
                <a:ea typeface="Malgun Gothic"/>
                <a:cs typeface="Malgun Gothic"/>
              </a:defRPr>
            </a:defPPr>
          </a:lstStyle>
          <a:p xmlns:a="http://schemas.openxmlformats.org/drawingml/2006/main">
            <a:pPr>
              <a:buNone/>
              <a:defRPr sz="1725" b="0">
                <a:solidFill>
                  <a:srgbClr val="425966"/>
                </a:solidFill>
                <a:latin typeface="Malgun Gothic"/>
                <a:ea typeface="Malgun Gothic"/>
                <a:cs typeface="Malgun Gothic"/>
              </a:defRPr>
            </a:pPr>
            <a:r>
              <a:rPr sz="1725" b="0">
                <a:solidFill>
                  <a:srgbClr val="425966"/>
                </a:solidFill>
                <a:latin typeface="Malgun Gothic"/>
                <a:ea typeface="Malgun Gothic"/>
                <a:cs typeface="Malgun Gothic"/>
              </a:rPr>
              <a:t>개발 의도: 필요한 규칙을 다시 찾아 읽고, 마지막 주제에서 철판 납품 실습으로 연결합니다.</a:t>
            </a:r>
          </a:p>
        </p:txBody>
      </p:sp>
      <p:sp>
        <p:nvSpPr>
          <p:cNvPr id="11" name="page">
            <a:extLst xmlns:a="http://schemas.openxmlformats.org/drawingml/2006/main">
              <a:ext uri="{FF2B5EF4-FFF2-40B4-BE49-F238E27FC236}">
                <a16:creationId xmlns:a16="http://schemas.microsoft.com/office/drawing/2014/main" id="{630DEA69-D641-4BB6-B6F9-8F03FE2CF8B0}"/>
              </a:ext>
            </a:extLst>
          </p:cNvPr>
          <p:cNvSpPr>
            <a:spLocks xmlns:a="http://schemas.openxmlformats.org/drawingml/2006/main" noGrp="1"/>
          </p:cNvSpPr>
          <p:nvPr/>
        </p:nvSpPr>
        <p:spPr>
          <a:xfrm xmlns:a="http://schemas.openxmlformats.org/drawingml/2006/main">
            <a:off x="11087100" y="6353175"/>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425966"/>
                </a:solidFill>
                <a:latin typeface="Malgun Gothic"/>
                <a:ea typeface="Malgun Gothic"/>
                <a:cs typeface="Malgun Gothic"/>
              </a:defRPr>
            </a:defPPr>
          </a:lstStyle>
          <a:p xmlns:a="http://schemas.openxmlformats.org/drawingml/2006/main">
            <a:pPr>
              <a:buNone/>
              <a:defRPr sz="1500" b="0">
                <a:solidFill>
                  <a:srgbClr val="425966"/>
                </a:solidFill>
                <a:latin typeface="Malgun Gothic"/>
                <a:ea typeface="Malgun Gothic"/>
                <a:cs typeface="Malgun Gothic"/>
              </a:defRPr>
            </a:pPr>
            <a:r>
              <a:rPr sz="1500" b="0">
                <a:solidFill>
                  <a:srgbClr val="425966"/>
                </a:solidFill>
                <a:latin typeface="Malgun Gothic"/>
                <a:ea typeface="Malgun Gothic"/>
                <a:cs typeface="Malgun Gothic"/>
              </a:rPr>
              <a:t>20</a:t>
            </a:r>
          </a:p>
        </p:txBody>
      </p:sp>
    </p:spTree>
    <p:extLst>
      <p:ext uri="{BB962C8B-B14F-4D97-AF65-F5344CB8AC3E}">
        <p14:creationId xmlns:p14="http://schemas.microsoft.com/office/powerpoint/2010/main" val="1835112792"/>
      </p:ext>
    </p:extLst>
  </p:cSld>
</p:sld>
</file>

<file path=ppt/slides/slide21.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748921BA-3639-4DE8-9F54-68F8AF36966E}"/>
              </a:ext>
            </a:extLst>
          </p:cNvPr>
          <p:cNvSpPr>
            <a:spLocks xmlns:a="http://schemas.openxmlformats.org/drawingml/2006/main" noGrp="1"/>
          </p:cNvSpPr>
          <p:nvPr/>
        </p:nvSpPr>
        <p:spPr>
          <a:xfrm xmlns:a="http://schemas.openxmlformats.org/drawingml/2006/main">
            <a:off x="609600" y="5715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633"/>
                </a:solidFill>
                <a:latin typeface="Malgun Gothic"/>
                <a:ea typeface="Malgun Gothic"/>
                <a:cs typeface="Malgun Gothic"/>
              </a:defRPr>
            </a:defPPr>
          </a:lstStyle>
          <a:p xmlns:a="http://schemas.openxmlformats.org/drawingml/2006/main">
            <a:pPr>
              <a:buNone/>
              <a:defRPr sz="3300" b="1">
                <a:solidFill>
                  <a:srgbClr val="142633"/>
                </a:solidFill>
                <a:latin typeface="Malgun Gothic"/>
                <a:ea typeface="Malgun Gothic"/>
                <a:cs typeface="Malgun Gothic"/>
              </a:defRPr>
            </a:pPr>
            <a:r>
              <a:rPr sz="3300" b="1">
                <a:solidFill>
                  <a:srgbClr val="142633"/>
                </a:solidFill>
                <a:latin typeface="Malgun Gothic"/>
                <a:ea typeface="Malgun Gothic"/>
                <a:cs typeface="Malgun Gothic"/>
              </a:rPr>
              <a:t>코드와 검증 자료</a:t>
            </a:r>
          </a:p>
        </p:txBody>
      </p:sp>
      <p:sp>
        <p:nvSpPr>
          <p:cNvPr id="2" name="lead">
            <a:extLst xmlns:a="http://schemas.openxmlformats.org/drawingml/2006/main">
              <a:ext uri="{FF2B5EF4-FFF2-40B4-BE49-F238E27FC236}">
                <a16:creationId xmlns:a16="http://schemas.microsoft.com/office/drawing/2014/main" id="{DF2289D0-10A8-44D9-95FD-866614658810}"/>
              </a:ext>
            </a:extLst>
          </p:cNvPr>
          <p:cNvSpPr>
            <a:spLocks xmlns:a="http://schemas.openxmlformats.org/drawingml/2006/main" noGrp="1"/>
          </p:cNvSpPr>
          <p:nvPr/>
        </p:nvSpPr>
        <p:spPr>
          <a:xfrm xmlns:a="http://schemas.openxmlformats.org/drawingml/2006/main">
            <a:off x="609600" y="14573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B95B12"/>
                </a:solidFill>
                <a:latin typeface="Malgun Gothic"/>
                <a:ea typeface="Malgun Gothic"/>
                <a:cs typeface="Malgun Gothic"/>
              </a:defRPr>
            </a:defPPr>
          </a:lstStyle>
          <a:p xmlns:a="http://schemas.openxmlformats.org/drawingml/2006/main">
            <a:pPr>
              <a:buNone/>
              <a:defRPr sz="2100" b="0">
                <a:solidFill>
                  <a:srgbClr val="B95B12"/>
                </a:solidFill>
                <a:latin typeface="Malgun Gothic"/>
                <a:ea typeface="Malgun Gothic"/>
                <a:cs typeface="Malgun Gothic"/>
              </a:defRPr>
            </a:pPr>
            <a:r>
              <a:rPr sz="2100" b="0">
                <a:solidFill>
                  <a:srgbClr val="B95B12"/>
                </a:solidFill>
                <a:latin typeface="Malgun Gothic"/>
                <a:ea typeface="Malgun Gothic"/>
                <a:cs typeface="Malgun Gothic"/>
              </a:rPr>
              <a:t>핵심 규칙을 시스템 단위로 분리한 프로젝트</a:t>
            </a:r>
          </a:p>
        </p:txBody>
      </p:sp>
      <p:sp>
        <p:nvSpPr>
          <p:cNvPr id="3" name="item-heading">
            <a:extLst xmlns:a="http://schemas.openxmlformats.org/drawingml/2006/main">
              <a:ext uri="{FF2B5EF4-FFF2-40B4-BE49-F238E27FC236}">
                <a16:creationId xmlns:a16="http://schemas.microsoft.com/office/drawing/2014/main" id="{8BFF632B-9C39-4D9D-954E-D63D06349855}"/>
              </a:ext>
            </a:extLst>
          </p:cNvPr>
          <p:cNvSpPr>
            <a:spLocks xmlns:a="http://schemas.openxmlformats.org/drawingml/2006/main" noGrp="1"/>
          </p:cNvSpPr>
          <p:nvPr/>
        </p:nvSpPr>
        <p:spPr>
          <a:xfrm xmlns:a="http://schemas.openxmlformats.org/drawingml/2006/main">
            <a:off x="609600" y="23812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42633"/>
                </a:solidFill>
                <a:latin typeface="Malgun Gothic"/>
                <a:ea typeface="Malgun Gothic"/>
                <a:cs typeface="Malgun Gothic"/>
              </a:defRPr>
            </a:defPPr>
          </a:lstStyle>
          <a:p xmlns:a="http://schemas.openxmlformats.org/drawingml/2006/main">
            <a:pPr>
              <a:buNone/>
              <a:defRPr sz="2025" b="1">
                <a:solidFill>
                  <a:srgbClr val="142633"/>
                </a:solidFill>
                <a:latin typeface="Malgun Gothic"/>
                <a:ea typeface="Malgun Gothic"/>
                <a:cs typeface="Malgun Gothic"/>
              </a:defRPr>
            </a:pPr>
            <a:r>
              <a:rPr sz="2025" b="1">
                <a:solidFill>
                  <a:srgbClr val="142633"/>
                </a:solidFill>
                <a:latin typeface="Malgun Gothic"/>
                <a:ea typeface="Malgun Gothic"/>
                <a:cs typeface="Malgun Gothic"/>
              </a:rPr>
              <a:t>구조</a:t>
            </a:r>
          </a:p>
        </p:txBody>
      </p:sp>
      <p:sp>
        <p:nvSpPr>
          <p:cNvPr id="4" name="body">
            <a:extLst xmlns:a="http://schemas.openxmlformats.org/drawingml/2006/main">
              <a:ext uri="{FF2B5EF4-FFF2-40B4-BE49-F238E27FC236}">
                <a16:creationId xmlns:a16="http://schemas.microsoft.com/office/drawing/2014/main" id="{783738BD-A21C-4596-AD7C-113A8ED1C1DB}"/>
              </a:ext>
            </a:extLst>
          </p:cNvPr>
          <p:cNvSpPr>
            <a:spLocks xmlns:a="http://schemas.openxmlformats.org/drawingml/2006/main" noGrp="1"/>
          </p:cNvSpPr>
          <p:nvPr/>
        </p:nvSpPr>
        <p:spPr>
          <a:xfrm xmlns:a="http://schemas.openxmlformats.org/drawingml/2006/main">
            <a:off x="609600" y="2790825"/>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425966"/>
                </a:solidFill>
                <a:latin typeface="Malgun Gothic"/>
                <a:ea typeface="Malgun Gothic"/>
                <a:cs typeface="Malgun Gothic"/>
              </a:defRPr>
            </a:defPPr>
          </a:lstStyle>
          <a:p xmlns:a="http://schemas.openxmlformats.org/drawingml/2006/main">
            <a:pPr>
              <a:buNone/>
              <a:defRPr sz="1875" b="0">
                <a:solidFill>
                  <a:srgbClr val="425966"/>
                </a:solidFill>
                <a:latin typeface="Malgun Gothic"/>
                <a:ea typeface="Malgun Gothic"/>
                <a:cs typeface="Malgun Gothic"/>
              </a:defRPr>
            </a:pPr>
            <a:r>
              <a:rPr sz="1875" b="0">
                <a:solidFill>
                  <a:srgbClr val="425966"/>
                </a:solidFill>
                <a:latin typeface="Malgun Gothic"/>
                <a:ea typeface="Malgun Gothic"/>
                <a:cs typeface="Malgun Gothic"/>
              </a:rPr>
              <a:t>Core는 재고와 시간, Data는 정적 정의, Simulation은 배치·전력·물류·시장·저장을 담당합니다.</a:t>
            </a:r>
          </a:p>
        </p:txBody>
      </p:sp>
      <p:sp>
        <p:nvSpPr>
          <p:cNvPr id="5" name="item-heading">
            <a:extLst xmlns:a="http://schemas.openxmlformats.org/drawingml/2006/main">
              <a:ext uri="{FF2B5EF4-FFF2-40B4-BE49-F238E27FC236}">
                <a16:creationId xmlns:a16="http://schemas.microsoft.com/office/drawing/2014/main" id="{AFB514EF-771F-419D-9E14-CDC5A9D02C70}"/>
              </a:ext>
            </a:extLst>
          </p:cNvPr>
          <p:cNvSpPr>
            <a:spLocks xmlns:a="http://schemas.openxmlformats.org/drawingml/2006/main" noGrp="1"/>
          </p:cNvSpPr>
          <p:nvPr/>
        </p:nvSpPr>
        <p:spPr>
          <a:xfrm xmlns:a="http://schemas.openxmlformats.org/drawingml/2006/main">
            <a:off x="609600" y="35242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42633"/>
                </a:solidFill>
                <a:latin typeface="Malgun Gothic"/>
                <a:ea typeface="Malgun Gothic"/>
                <a:cs typeface="Malgun Gothic"/>
              </a:defRPr>
            </a:defPPr>
          </a:lstStyle>
          <a:p xmlns:a="http://schemas.openxmlformats.org/drawingml/2006/main">
            <a:pPr>
              <a:buNone/>
              <a:defRPr sz="2025" b="1">
                <a:solidFill>
                  <a:srgbClr val="142633"/>
                </a:solidFill>
                <a:latin typeface="Malgun Gothic"/>
                <a:ea typeface="Malgun Gothic"/>
                <a:cs typeface="Malgun Gothic"/>
              </a:defRPr>
            </a:pPr>
            <a:r>
              <a:rPr sz="2025" b="1">
                <a:solidFill>
                  <a:srgbClr val="142633"/>
                </a:solidFill>
                <a:latin typeface="Malgun Gothic"/>
                <a:ea typeface="Malgun Gothic"/>
                <a:cs typeface="Malgun Gothic"/>
              </a:rPr>
              <a:t>검증 사례</a:t>
            </a:r>
          </a:p>
        </p:txBody>
      </p:sp>
      <p:sp>
        <p:nvSpPr>
          <p:cNvPr id="6" name="body">
            <a:extLst xmlns:a="http://schemas.openxmlformats.org/drawingml/2006/main">
              <a:ext uri="{FF2B5EF4-FFF2-40B4-BE49-F238E27FC236}">
                <a16:creationId xmlns:a16="http://schemas.microsoft.com/office/drawing/2014/main" id="{CC3E620A-29BC-4F90-BC9F-996EBB4C70E1}"/>
              </a:ext>
            </a:extLst>
          </p:cNvPr>
          <p:cNvSpPr>
            <a:spLocks xmlns:a="http://schemas.openxmlformats.org/drawingml/2006/main" noGrp="1"/>
          </p:cNvSpPr>
          <p:nvPr/>
        </p:nvSpPr>
        <p:spPr>
          <a:xfrm xmlns:a="http://schemas.openxmlformats.org/drawingml/2006/main">
            <a:off x="609600" y="3933825"/>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425966"/>
                </a:solidFill>
                <a:latin typeface="Malgun Gothic"/>
                <a:ea typeface="Malgun Gothic"/>
                <a:cs typeface="Malgun Gothic"/>
              </a:defRPr>
            </a:defPPr>
          </a:lstStyle>
          <a:p xmlns:a="http://schemas.openxmlformats.org/drawingml/2006/main">
            <a:pPr>
              <a:buNone/>
              <a:defRPr sz="1875" b="0">
                <a:solidFill>
                  <a:srgbClr val="425966"/>
                </a:solidFill>
                <a:latin typeface="Malgun Gothic"/>
                <a:ea typeface="Malgun Gothic"/>
                <a:cs typeface="Malgun Gothic"/>
              </a:defRPr>
            </a:pPr>
            <a:r>
              <a:rPr sz="1875" b="0">
                <a:solidFill>
                  <a:srgbClr val="425966"/>
                </a:solidFill>
                <a:latin typeface="Malgun Gothic"/>
                <a:ea typeface="Malgun Gothic"/>
                <a:cs typeface="Malgun Gothic"/>
              </a:rPr>
              <a:t>생산 재료 보존, 비선택 혜성 생산, 수송 중 저장·복원과 항구 대기 처리를 테스트 코드로 확인합니다.</a:t>
            </a:r>
          </a:p>
        </p:txBody>
      </p:sp>
      <p:sp>
        <p:nvSpPr>
          <p:cNvPr id="7" name="item-heading">
            <a:extLst xmlns:a="http://schemas.openxmlformats.org/drawingml/2006/main">
              <a:ext uri="{FF2B5EF4-FFF2-40B4-BE49-F238E27FC236}">
                <a16:creationId xmlns:a16="http://schemas.microsoft.com/office/drawing/2014/main" id="{B7D1A7F4-9CBF-4FC4-84FD-AFEA0C8AD322}"/>
              </a:ext>
            </a:extLst>
          </p:cNvPr>
          <p:cNvSpPr>
            <a:spLocks xmlns:a="http://schemas.openxmlformats.org/drawingml/2006/main" noGrp="1"/>
          </p:cNvSpPr>
          <p:nvPr/>
        </p:nvSpPr>
        <p:spPr>
          <a:xfrm xmlns:a="http://schemas.openxmlformats.org/drawingml/2006/main">
            <a:off x="609600" y="46672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42633"/>
                </a:solidFill>
                <a:latin typeface="Malgun Gothic"/>
                <a:ea typeface="Malgun Gothic"/>
                <a:cs typeface="Malgun Gothic"/>
              </a:defRPr>
            </a:defPPr>
          </a:lstStyle>
          <a:p xmlns:a="http://schemas.openxmlformats.org/drawingml/2006/main">
            <a:pPr>
              <a:buNone/>
              <a:defRPr sz="2025" b="1">
                <a:solidFill>
                  <a:srgbClr val="142633"/>
                </a:solidFill>
                <a:latin typeface="Malgun Gothic"/>
                <a:ea typeface="Malgun Gothic"/>
                <a:cs typeface="Malgun Gothic"/>
              </a:defRPr>
            </a:pPr>
            <a:r>
              <a:rPr sz="2025" b="1">
                <a:solidFill>
                  <a:srgbClr val="142633"/>
                </a:solidFill>
                <a:latin typeface="Malgun Gothic"/>
                <a:ea typeface="Malgun Gothic"/>
                <a:cs typeface="Malgun Gothic"/>
              </a:rPr>
              <a:t>확인 범위</a:t>
            </a:r>
          </a:p>
        </p:txBody>
      </p:sp>
      <p:sp>
        <p:nvSpPr>
          <p:cNvPr id="8" name="body">
            <a:extLst xmlns:a="http://schemas.openxmlformats.org/drawingml/2006/main">
              <a:ext uri="{FF2B5EF4-FFF2-40B4-BE49-F238E27FC236}">
                <a16:creationId xmlns:a16="http://schemas.microsoft.com/office/drawing/2014/main" id="{2FC6F644-F0D5-4882-8B6C-43768AFB2549}"/>
              </a:ext>
            </a:extLst>
          </p:cNvPr>
          <p:cNvSpPr>
            <a:spLocks xmlns:a="http://schemas.openxmlformats.org/drawingml/2006/main" noGrp="1"/>
          </p:cNvSpPr>
          <p:nvPr/>
        </p:nvSpPr>
        <p:spPr>
          <a:xfrm xmlns:a="http://schemas.openxmlformats.org/drawingml/2006/main">
            <a:off x="609600" y="5076825"/>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425966"/>
                </a:solidFill>
                <a:latin typeface="Malgun Gothic"/>
                <a:ea typeface="Malgun Gothic"/>
                <a:cs typeface="Malgun Gothic"/>
              </a:defRPr>
            </a:defPPr>
          </a:lstStyle>
          <a:p xmlns:a="http://schemas.openxmlformats.org/drawingml/2006/main">
            <a:pPr>
              <a:buNone/>
              <a:defRPr sz="1875" b="0">
                <a:solidFill>
                  <a:srgbClr val="425966"/>
                </a:solidFill>
                <a:latin typeface="Malgun Gothic"/>
                <a:ea typeface="Malgun Gothic"/>
                <a:cs typeface="Malgun Gothic"/>
              </a:defRPr>
            </a:pPr>
            <a:r>
              <a:rPr sz="1875" b="0">
                <a:solidFill>
                  <a:srgbClr val="425966"/>
                </a:solidFill>
                <a:latin typeface="Malgun Gothic"/>
                <a:ea typeface="Malgun Gothic"/>
                <a:cs typeface="Malgun Gothic"/>
              </a:rPr>
              <a:t>저장소에 EditMode 테스트와 Windows 빌드 기록이 있습니다. 이번 자료는 소스 검토 기준이며 테스트를 재실행하지 않았습니다.</a:t>
            </a:r>
          </a:p>
        </p:txBody>
      </p:sp>
      <p:sp>
        <p:nvSpPr>
          <p:cNvPr id="9" name="body">
            <a:extLst xmlns:a="http://schemas.openxmlformats.org/drawingml/2006/main">
              <a:ext uri="{FF2B5EF4-FFF2-40B4-BE49-F238E27FC236}">
                <a16:creationId xmlns:a16="http://schemas.microsoft.com/office/drawing/2014/main" id="{6400DA1D-C4DD-4B1B-AEEC-BD246DA0515B}"/>
              </a:ext>
            </a:extLst>
          </p:cNvPr>
          <p:cNvSpPr>
            <a:spLocks xmlns:a="http://schemas.openxmlformats.org/drawingml/2006/main" noGrp="1"/>
          </p:cNvSpPr>
          <p:nvPr/>
        </p:nvSpPr>
        <p:spPr>
          <a:xfrm xmlns:a="http://schemas.openxmlformats.org/drawingml/2006/main">
            <a:off x="11087100" y="6353175"/>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425966"/>
                </a:solidFill>
                <a:latin typeface="Malgun Gothic"/>
                <a:ea typeface="Malgun Gothic"/>
                <a:cs typeface="Malgun Gothic"/>
              </a:defRPr>
            </a:defPPr>
          </a:lstStyle>
          <a:p xmlns:a="http://schemas.openxmlformats.org/drawingml/2006/main">
            <a:pPr>
              <a:buNone/>
              <a:defRPr sz="1500" b="0">
                <a:solidFill>
                  <a:srgbClr val="425966"/>
                </a:solidFill>
                <a:latin typeface="Malgun Gothic"/>
                <a:ea typeface="Malgun Gothic"/>
                <a:cs typeface="Malgun Gothic"/>
              </a:defRPr>
            </a:pPr>
            <a:r>
              <a:rPr sz="1500" b="0">
                <a:solidFill>
                  <a:srgbClr val="425966"/>
                </a:solidFill>
                <a:latin typeface="Malgun Gothic"/>
                <a:ea typeface="Malgun Gothic"/>
                <a:cs typeface="Malgun Gothic"/>
              </a:rPr>
              <a:t>21</a:t>
            </a:r>
          </a:p>
        </p:txBody>
      </p:sp>
    </p:spTree>
    <p:extLst>
      <p:ext uri="{BB962C8B-B14F-4D97-AF65-F5344CB8AC3E}">
        <p14:creationId xmlns:p14="http://schemas.microsoft.com/office/powerpoint/2010/main" val="479877670"/>
      </p:ext>
    </p:extLst>
  </p:cSld>
</p:sld>
</file>

<file path=ppt/slides/slide22.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9CECAD8-F929-49CC-95B9-BD3509205496}"/>
              </a:ext>
            </a:extLst>
          </p:cNvPr>
          <p:cNvSpPr>
            <a:spLocks xmlns:a="http://schemas.openxmlformats.org/drawingml/2006/main" noGrp="1"/>
          </p:cNvSpPr>
          <p:nvPr/>
        </p:nvSpPr>
        <p:spPr>
          <a:xfrm xmlns:a="http://schemas.openxmlformats.org/drawingml/2006/main">
            <a:off x="609600" y="5715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633"/>
                </a:solidFill>
                <a:latin typeface="Malgun Gothic"/>
                <a:ea typeface="Malgun Gothic"/>
                <a:cs typeface="Malgun Gothic"/>
              </a:defRPr>
            </a:defPPr>
          </a:lstStyle>
          <a:p xmlns:a="http://schemas.openxmlformats.org/drawingml/2006/main">
            <a:pPr>
              <a:buNone/>
              <a:defRPr sz="3300" b="1">
                <a:solidFill>
                  <a:srgbClr val="142633"/>
                </a:solidFill>
                <a:latin typeface="Malgun Gothic"/>
                <a:ea typeface="Malgun Gothic"/>
                <a:cs typeface="Malgun Gothic"/>
              </a:defRPr>
            </a:pPr>
            <a:r>
              <a:rPr sz="3300" b="1">
                <a:solidFill>
                  <a:srgbClr val="142633"/>
                </a:solidFill>
                <a:latin typeface="Malgun Gothic"/>
                <a:ea typeface="Malgun Gothic"/>
                <a:cs typeface="Malgun Gothic"/>
              </a:rPr>
              <a:t>다음 개발 과제</a:t>
            </a:r>
          </a:p>
        </p:txBody>
      </p:sp>
      <p:sp>
        <p:nvSpPr>
          <p:cNvPr id="2" name="lead">
            <a:extLst xmlns:a="http://schemas.openxmlformats.org/drawingml/2006/main">
              <a:ext uri="{FF2B5EF4-FFF2-40B4-BE49-F238E27FC236}">
                <a16:creationId xmlns:a16="http://schemas.microsoft.com/office/drawing/2014/main" id="{707F28FB-A3A1-4012-B29A-758F3D8E35CC}"/>
              </a:ext>
            </a:extLst>
          </p:cNvPr>
          <p:cNvSpPr>
            <a:spLocks xmlns:a="http://schemas.openxmlformats.org/drawingml/2006/main" noGrp="1"/>
          </p:cNvSpPr>
          <p:nvPr/>
        </p:nvSpPr>
        <p:spPr>
          <a:xfrm xmlns:a="http://schemas.openxmlformats.org/drawingml/2006/main">
            <a:off x="609600" y="14573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B95B12"/>
                </a:solidFill>
                <a:latin typeface="Malgun Gothic"/>
                <a:ea typeface="Malgun Gothic"/>
                <a:cs typeface="Malgun Gothic"/>
              </a:defRPr>
            </a:defPPr>
          </a:lstStyle>
          <a:p xmlns:a="http://schemas.openxmlformats.org/drawingml/2006/main">
            <a:pPr>
              <a:buNone/>
              <a:defRPr sz="2100" b="0">
                <a:solidFill>
                  <a:srgbClr val="B95B12"/>
                </a:solidFill>
                <a:latin typeface="Malgun Gothic"/>
                <a:ea typeface="Malgun Gothic"/>
                <a:cs typeface="Malgun Gothic"/>
              </a:defRPr>
            </a:pPr>
            <a:r>
              <a:rPr sz="2100" b="0">
                <a:solidFill>
                  <a:srgbClr val="B95B12"/>
                </a:solidFill>
                <a:latin typeface="Malgun Gothic"/>
                <a:ea typeface="Malgun Gothic"/>
                <a:cs typeface="Malgun Gothic"/>
              </a:rPr>
              <a:t>회사 규모의 운영을 더 명확한 선택으로 확장</a:t>
            </a:r>
          </a:p>
        </p:txBody>
      </p:sp>
      <p:graphicFrame>
        <p:nvGraphicFramePr>
          <p:cNvPr id="3" name="">
            <a:extLst xmlns:a="http://schemas.openxmlformats.org/drawingml/2006/main">
              <a:ext uri="{FF2B5EF4-FFF2-40B4-BE49-F238E27FC236}">
                <a16:creationId xmlns:a16="http://schemas.microsoft.com/office/drawing/2014/main" id="{5EFF7446-0BB0-4AE1-9AAA-DC332991F553}"/>
              </a:ext>
            </a:extLst>
          </p:cNvPr>
          <p:cNvGraphicFramePr/>
          <p:nvPr/>
        </p:nvGraphicFramePr>
        <p:xfrm>
          <a:off xmlns:a="http://schemas.openxmlformats.org/drawingml/2006/main" x="609600" y="2333625"/>
          <a:ext xmlns:a="http://schemas.openxmlformats.org/drawingml/2006/main" cx="10972800" cy="2762250"/>
        </p:xfrm>
        <a:graphic xmlns:a="http://schemas.openxmlformats.org/drawingml/2006/main">
          <a:graphicData uri="http://schemas.openxmlformats.org/drawingml/2006/table">
            <a:tbl>
              <a:tblPr/>
              <a:tblGrid>
                <a:gridCol w="2289976"/>
                <a:gridCol w="5820355"/>
                <a:gridCol w="2862470"/>
              </a:tblGrid>
              <a:tr h="552450">
                <a:tc>
                  <a:txBody>
                    <a:bodyPr lIns="114300" tIns="114300" rIns="114300" bIns="114300"/>
                    <a:lstStyle/>
                    <a:p>
                      <a:r>
                        <a:rPr sz="1725" b="1">
                          <a:solidFill>
                            <a:srgbClr val="B95B12"/>
                          </a:solidFill>
                          <a:latin typeface="Malgun Gothic"/>
                          <a:ea typeface="Malgun Gothic"/>
                          <a:cs typeface="Malgun Gothic"/>
                        </a:rPr>
                        <a:t>과제</a:t>
                      </a:r>
                    </a:p>
                  </a:txBody>
                  <a:tcPr marL="91440" marR="91440" marT="45720" marB="45720">
                    <a:lnL w="9525">
                      <a:solidFill>
                        <a:srgbClr val="CFD5D5"/>
                      </a:solidFill>
                      <a:prstDash val="solid"/>
                    </a:lnL>
                    <a:lnR w="9525">
                      <a:solidFill>
                        <a:srgbClr val="CFD5D5"/>
                      </a:solidFill>
                      <a:prstDash val="solid"/>
                    </a:lnR>
                    <a:lnT w="9525">
                      <a:solidFill>
                        <a:srgbClr val="CFD5D5"/>
                      </a:solidFill>
                      <a:prstDash val="solid"/>
                    </a:lnT>
                    <a:lnB w="9525">
                      <a:solidFill>
                        <a:srgbClr val="CFD5D5"/>
                      </a:solidFill>
                      <a:prstDash val="solid"/>
                    </a:lnB>
                    <a:solidFill>
                      <a:srgbClr val="E2E6E3"/>
                    </a:solidFill>
                  </a:tcPr>
                </a:tc>
                <a:tc>
                  <a:txBody>
                    <a:bodyPr lIns="114300" tIns="114300" rIns="114300" bIns="114300"/>
                    <a:lstStyle/>
                    <a:p>
                      <a:r>
                        <a:rPr sz="1725" b="1">
                          <a:solidFill>
                            <a:srgbClr val="B95B12"/>
                          </a:solidFill>
                          <a:latin typeface="Malgun Gothic"/>
                          <a:ea typeface="Malgun Gothic"/>
                          <a:cs typeface="Malgun Gothic"/>
                        </a:rPr>
                        <a:t>목표</a:t>
                      </a:r>
                    </a:p>
                  </a:txBody>
                  <a:tcPr marL="91440" marR="91440" marT="45720" marB="45720">
                    <a:lnR w="9525">
                      <a:solidFill>
                        <a:srgbClr val="CFD5D5"/>
                      </a:solidFill>
                      <a:prstDash val="solid"/>
                    </a:lnR>
                    <a:lnT w="9525">
                      <a:solidFill>
                        <a:srgbClr val="CFD5D5"/>
                      </a:solidFill>
                      <a:prstDash val="solid"/>
                    </a:lnT>
                    <a:lnB w="9525">
                      <a:solidFill>
                        <a:srgbClr val="CFD5D5"/>
                      </a:solidFill>
                      <a:prstDash val="solid"/>
                    </a:lnB>
                    <a:solidFill>
                      <a:srgbClr val="E2E6E3"/>
                    </a:solidFill>
                  </a:tcPr>
                </a:tc>
                <a:tc>
                  <a:txBody>
                    <a:bodyPr lIns="114300" tIns="114300" rIns="114300" bIns="114300"/>
                    <a:lstStyle/>
                    <a:p>
                      <a:r>
                        <a:rPr sz="1725" b="1">
                          <a:solidFill>
                            <a:srgbClr val="B95B12"/>
                          </a:solidFill>
                          <a:latin typeface="Malgun Gothic"/>
                          <a:ea typeface="Malgun Gothic"/>
                          <a:cs typeface="Malgun Gothic"/>
                        </a:rPr>
                        <a:t>구분</a:t>
                      </a:r>
                    </a:p>
                  </a:txBody>
                  <a:tcPr marL="91440" marR="91440" marT="45720" marB="45720">
                    <a:lnR w="9525">
                      <a:solidFill>
                        <a:srgbClr val="CFD5D5"/>
                      </a:solidFill>
                      <a:prstDash val="solid"/>
                    </a:lnR>
                    <a:lnT w="9525">
                      <a:solidFill>
                        <a:srgbClr val="CFD5D5"/>
                      </a:solidFill>
                      <a:prstDash val="solid"/>
                    </a:lnT>
                    <a:lnB w="9525">
                      <a:solidFill>
                        <a:srgbClr val="CFD5D5"/>
                      </a:solidFill>
                      <a:prstDash val="solid"/>
                    </a:lnB>
                    <a:solidFill>
                      <a:srgbClr val="E2E6E3"/>
                    </a:solidFill>
                  </a:tcPr>
                </a:tc>
              </a:tr>
              <a:tr h="552450">
                <a:tc>
                  <a:txBody>
                    <a:bodyPr lIns="114300" tIns="114300" rIns="114300" bIns="114300"/>
                    <a:lstStyle/>
                    <a:p>
                      <a:r>
                        <a:rPr sz="1725" b="0">
                          <a:solidFill>
                            <a:srgbClr val="142633"/>
                          </a:solidFill>
                          <a:latin typeface="Malgun Gothic"/>
                          <a:ea typeface="Malgun Gothic"/>
                          <a:cs typeface="Malgun Gothic"/>
                        </a:rPr>
                        <a:t>반복 항로</a:t>
                      </a:r>
                    </a:p>
                  </a:txBody>
                  <a:tcPr marL="91440" marR="91440" marT="45720" marB="45720">
                    <a:lnL w="9525">
                      <a:solidFill>
                        <a:srgbClr val="CFD5D5"/>
                      </a:solidFill>
                      <a:prstDash val="solid"/>
                    </a:lnL>
                    <a:lnR w="9525">
                      <a:solidFill>
                        <a:srgbClr val="CFD5D5"/>
                      </a:solidFill>
                      <a:prstDash val="solid"/>
                    </a:lnR>
                    <a:lnB w="9525">
                      <a:solidFill>
                        <a:srgbClr val="CFD5D5"/>
                      </a:solidFill>
                      <a:prstDash val="solid"/>
                    </a:lnB>
                    <a:solidFill>
                      <a:srgbClr val="F5F4EF"/>
                    </a:solidFill>
                  </a:tcPr>
                </a:tc>
                <a:tc>
                  <a:txBody>
                    <a:bodyPr lIns="114300" tIns="114300" rIns="114300" bIns="114300"/>
                    <a:lstStyle/>
                    <a:p>
                      <a:r>
                        <a:rPr sz="1725" b="0">
                          <a:solidFill>
                            <a:srgbClr val="142633"/>
                          </a:solidFill>
                          <a:latin typeface="Malgun Gothic"/>
                          <a:ea typeface="Malgun Gothic"/>
                          <a:cs typeface="Malgun Gothic"/>
                        </a:rPr>
                        <a:t>수송 조건과 우선순위로 반복 운송 자동화</a:t>
                      </a:r>
                    </a:p>
                  </a:txBody>
                  <a:tcPr marL="91440" marR="91440" marT="45720" marB="45720">
                    <a:lnR w="9525">
                      <a:solidFill>
                        <a:srgbClr val="CFD5D5"/>
                      </a:solidFill>
                      <a:prstDash val="solid"/>
                    </a:lnR>
                    <a:lnB w="9525">
                      <a:solidFill>
                        <a:srgbClr val="CFD5D5"/>
                      </a:solidFill>
                      <a:prstDash val="solid"/>
                    </a:lnB>
                    <a:solidFill>
                      <a:srgbClr val="F5F4EF"/>
                    </a:solidFill>
                  </a:tcPr>
                </a:tc>
                <a:tc>
                  <a:txBody>
                    <a:bodyPr lIns="114300" tIns="114300" rIns="114300" bIns="114300"/>
                    <a:lstStyle/>
                    <a:p>
                      <a:r>
                        <a:rPr sz="1725" b="0">
                          <a:solidFill>
                            <a:srgbClr val="142633"/>
                          </a:solidFill>
                          <a:latin typeface="Malgun Gothic"/>
                          <a:ea typeface="Malgun Gothic"/>
                          <a:cs typeface="Malgun Gothic"/>
                        </a:rPr>
                        <a:t>향후 기획</a:t>
                      </a:r>
                    </a:p>
                  </a:txBody>
                  <a:tcPr marL="91440" marR="91440" marT="45720" marB="45720">
                    <a:lnR w="9525">
                      <a:solidFill>
                        <a:srgbClr val="CFD5D5"/>
                      </a:solidFill>
                      <a:prstDash val="solid"/>
                    </a:lnR>
                    <a:lnB w="9525">
                      <a:solidFill>
                        <a:srgbClr val="CFD5D5"/>
                      </a:solidFill>
                      <a:prstDash val="solid"/>
                    </a:lnB>
                    <a:solidFill>
                      <a:srgbClr val="F5F4EF"/>
                    </a:solidFill>
                  </a:tcPr>
                </a:tc>
              </a:tr>
              <a:tr h="552450">
                <a:tc>
                  <a:txBody>
                    <a:bodyPr lIns="114300" tIns="114300" rIns="114300" bIns="114300"/>
                    <a:lstStyle/>
                    <a:p>
                      <a:r>
                        <a:rPr sz="1725" b="0">
                          <a:solidFill>
                            <a:srgbClr val="142633"/>
                          </a:solidFill>
                          <a:latin typeface="Malgun Gothic"/>
                          <a:ea typeface="Malgun Gothic"/>
                          <a:cs typeface="Malgun Gothic"/>
                        </a:rPr>
                        <a:t>시장 이벤트</a:t>
                      </a:r>
                    </a:p>
                  </a:txBody>
                  <a:tcPr marL="91440" marR="91440" marT="45720" marB="45720">
                    <a:lnL w="9525">
                      <a:solidFill>
                        <a:srgbClr val="CFD5D5"/>
                      </a:solidFill>
                      <a:prstDash val="solid"/>
                    </a:lnL>
                    <a:lnR w="9525">
                      <a:solidFill>
                        <a:srgbClr val="CFD5D5"/>
                      </a:solidFill>
                      <a:prstDash val="solid"/>
                    </a:lnR>
                    <a:lnB w="9525">
                      <a:solidFill>
                        <a:srgbClr val="CFD5D5"/>
                      </a:solidFill>
                      <a:prstDash val="solid"/>
                    </a:lnB>
                    <a:solidFill>
                      <a:srgbClr val="F5F4EF"/>
                    </a:solidFill>
                  </a:tcPr>
                </a:tc>
                <a:tc>
                  <a:txBody>
                    <a:bodyPr lIns="114300" tIns="114300" rIns="114300" bIns="114300"/>
                    <a:lstStyle/>
                    <a:p>
                      <a:r>
                        <a:rPr sz="1725" b="0">
                          <a:solidFill>
                            <a:srgbClr val="142633"/>
                          </a:solidFill>
                          <a:latin typeface="Malgun Gothic"/>
                          <a:ea typeface="Malgun Gothic"/>
                          <a:cs typeface="Malgun Gothic"/>
                        </a:rPr>
                        <a:t>뉴스와 수요 변화가 생산 선택에 영향</a:t>
                      </a:r>
                    </a:p>
                  </a:txBody>
                  <a:tcPr marL="91440" marR="91440" marT="45720" marB="45720">
                    <a:lnR w="9525">
                      <a:solidFill>
                        <a:srgbClr val="CFD5D5"/>
                      </a:solidFill>
                      <a:prstDash val="solid"/>
                    </a:lnR>
                    <a:lnB w="9525">
                      <a:solidFill>
                        <a:srgbClr val="CFD5D5"/>
                      </a:solidFill>
                      <a:prstDash val="solid"/>
                    </a:lnB>
                    <a:solidFill>
                      <a:srgbClr val="F5F4EF"/>
                    </a:solidFill>
                  </a:tcPr>
                </a:tc>
                <a:tc>
                  <a:txBody>
                    <a:bodyPr lIns="114300" tIns="114300" rIns="114300" bIns="114300"/>
                    <a:lstStyle/>
                    <a:p>
                      <a:r>
                        <a:rPr sz="1725" b="0">
                          <a:solidFill>
                            <a:srgbClr val="142633"/>
                          </a:solidFill>
                          <a:latin typeface="Malgun Gothic"/>
                          <a:ea typeface="Malgun Gothic"/>
                          <a:cs typeface="Malgun Gothic"/>
                        </a:rPr>
                        <a:t>향후 기획</a:t>
                      </a:r>
                    </a:p>
                  </a:txBody>
                  <a:tcPr marL="91440" marR="91440" marT="45720" marB="45720">
                    <a:lnR w="9525">
                      <a:solidFill>
                        <a:srgbClr val="CFD5D5"/>
                      </a:solidFill>
                      <a:prstDash val="solid"/>
                    </a:lnR>
                    <a:lnB w="9525">
                      <a:solidFill>
                        <a:srgbClr val="CFD5D5"/>
                      </a:solidFill>
                      <a:prstDash val="solid"/>
                    </a:lnB>
                    <a:solidFill>
                      <a:srgbClr val="F5F4EF"/>
                    </a:solidFill>
                  </a:tcPr>
                </a:tc>
              </a:tr>
              <a:tr h="552450">
                <a:tc>
                  <a:txBody>
                    <a:bodyPr lIns="114300" tIns="114300" rIns="114300" bIns="114300"/>
                    <a:lstStyle/>
                    <a:p>
                      <a:r>
                        <a:rPr sz="1725" b="0">
                          <a:solidFill>
                            <a:srgbClr val="142633"/>
                          </a:solidFill>
                          <a:latin typeface="Malgun Gothic"/>
                          <a:ea typeface="Malgun Gothic"/>
                          <a:cs typeface="Malgun Gothic"/>
                        </a:rPr>
                        <a:t>장기 성장</a:t>
                      </a:r>
                    </a:p>
                  </a:txBody>
                  <a:tcPr marL="91440" marR="91440" marT="45720" marB="45720">
                    <a:lnL w="9525">
                      <a:solidFill>
                        <a:srgbClr val="CFD5D5"/>
                      </a:solidFill>
                      <a:prstDash val="solid"/>
                    </a:lnL>
                    <a:lnR w="9525">
                      <a:solidFill>
                        <a:srgbClr val="CFD5D5"/>
                      </a:solidFill>
                      <a:prstDash val="solid"/>
                    </a:lnR>
                    <a:lnB w="9525">
                      <a:solidFill>
                        <a:srgbClr val="CFD5D5"/>
                      </a:solidFill>
                      <a:prstDash val="solid"/>
                    </a:lnB>
                    <a:solidFill>
                      <a:srgbClr val="F5F4EF"/>
                    </a:solidFill>
                  </a:tcPr>
                </a:tc>
                <a:tc>
                  <a:txBody>
                    <a:bodyPr lIns="114300" tIns="114300" rIns="114300" bIns="114300"/>
                    <a:lstStyle/>
                    <a:p>
                      <a:r>
                        <a:rPr sz="1725" b="0">
                          <a:solidFill>
                            <a:srgbClr val="142633"/>
                          </a:solidFill>
                          <a:latin typeface="Malgun Gothic"/>
                          <a:ea typeface="Malgun Gothic"/>
                          <a:cs typeface="Malgun Gothic"/>
                        </a:rPr>
                        <a:t>연구와 신뢰도 보상을 플레이 흐름에 통합</a:t>
                      </a:r>
                    </a:p>
                  </a:txBody>
                  <a:tcPr marL="91440" marR="91440" marT="45720" marB="45720">
                    <a:lnR w="9525">
                      <a:solidFill>
                        <a:srgbClr val="CFD5D5"/>
                      </a:solidFill>
                      <a:prstDash val="solid"/>
                    </a:lnR>
                    <a:lnB w="9525">
                      <a:solidFill>
                        <a:srgbClr val="CFD5D5"/>
                      </a:solidFill>
                      <a:prstDash val="solid"/>
                    </a:lnB>
                    <a:solidFill>
                      <a:srgbClr val="F5F4EF"/>
                    </a:solidFill>
                  </a:tcPr>
                </a:tc>
                <a:tc>
                  <a:txBody>
                    <a:bodyPr lIns="114300" tIns="114300" rIns="114300" bIns="114300"/>
                    <a:lstStyle/>
                    <a:p>
                      <a:r>
                        <a:rPr sz="1725" b="0">
                          <a:solidFill>
                            <a:srgbClr val="142633"/>
                          </a:solidFill>
                          <a:latin typeface="Malgun Gothic"/>
                          <a:ea typeface="Malgun Gothic"/>
                          <a:cs typeface="Malgun Gothic"/>
                        </a:rPr>
                        <a:t>향후 기획</a:t>
                      </a:r>
                    </a:p>
                  </a:txBody>
                  <a:tcPr marL="91440" marR="91440" marT="45720" marB="45720">
                    <a:lnR w="9525">
                      <a:solidFill>
                        <a:srgbClr val="CFD5D5"/>
                      </a:solidFill>
                      <a:prstDash val="solid"/>
                    </a:lnR>
                    <a:lnB w="9525">
                      <a:solidFill>
                        <a:srgbClr val="CFD5D5"/>
                      </a:solidFill>
                      <a:prstDash val="solid"/>
                    </a:lnB>
                    <a:solidFill>
                      <a:srgbClr val="F5F4EF"/>
                    </a:solidFill>
                  </a:tcPr>
                </a:tc>
              </a:tr>
              <a:tr h="552450">
                <a:tc>
                  <a:txBody>
                    <a:bodyPr lIns="114300" tIns="114300" rIns="114300" bIns="114300"/>
                    <a:lstStyle/>
                    <a:p>
                      <a:r>
                        <a:rPr sz="1725" b="0">
                          <a:solidFill>
                            <a:srgbClr val="142633"/>
                          </a:solidFill>
                          <a:latin typeface="Malgun Gothic"/>
                          <a:ea typeface="Malgun Gothic"/>
                          <a:cs typeface="Malgun Gothic"/>
                        </a:rPr>
                        <a:t>플레이 검증</a:t>
                      </a:r>
                    </a:p>
                  </a:txBody>
                  <a:tcPr marL="91440" marR="91440" marT="45720" marB="45720">
                    <a:lnL w="9525">
                      <a:solidFill>
                        <a:srgbClr val="CFD5D5"/>
                      </a:solidFill>
                      <a:prstDash val="solid"/>
                    </a:lnL>
                    <a:lnR w="9525">
                      <a:solidFill>
                        <a:srgbClr val="CFD5D5"/>
                      </a:solidFill>
                      <a:prstDash val="solid"/>
                    </a:lnR>
                    <a:lnB w="9525">
                      <a:solidFill>
                        <a:srgbClr val="CFD5D5"/>
                      </a:solidFill>
                      <a:prstDash val="solid"/>
                    </a:lnB>
                    <a:solidFill>
                      <a:srgbClr val="F5F4EF"/>
                    </a:solidFill>
                  </a:tcPr>
                </a:tc>
                <a:tc>
                  <a:txBody>
                    <a:bodyPr lIns="114300" tIns="114300" rIns="114300" bIns="114300"/>
                    <a:lstStyle/>
                    <a:p>
                      <a:r>
                        <a:rPr sz="1725" b="0">
                          <a:solidFill>
                            <a:srgbClr val="142633"/>
                          </a:solidFill>
                          <a:latin typeface="Malgun Gothic"/>
                          <a:ea typeface="Malgun Gothic"/>
                          <a:cs typeface="Malgun Gothic"/>
                        </a:rPr>
                        <a:t>초반 안내와 병목 정보의 이해도 확인</a:t>
                      </a:r>
                    </a:p>
                  </a:txBody>
                  <a:tcPr marL="91440" marR="91440" marT="45720" marB="45720">
                    <a:lnR w="9525">
                      <a:solidFill>
                        <a:srgbClr val="CFD5D5"/>
                      </a:solidFill>
                      <a:prstDash val="solid"/>
                    </a:lnR>
                    <a:lnB w="9525">
                      <a:solidFill>
                        <a:srgbClr val="CFD5D5"/>
                      </a:solidFill>
                      <a:prstDash val="solid"/>
                    </a:lnB>
                    <a:solidFill>
                      <a:srgbClr val="F5F4EF"/>
                    </a:solidFill>
                  </a:tcPr>
                </a:tc>
                <a:tc>
                  <a:txBody>
                    <a:bodyPr lIns="114300" tIns="114300" rIns="114300" bIns="114300"/>
                    <a:lstStyle/>
                    <a:p>
                      <a:r>
                        <a:rPr sz="1725" b="0">
                          <a:solidFill>
                            <a:srgbClr val="142633"/>
                          </a:solidFill>
                          <a:latin typeface="Malgun Gothic"/>
                          <a:ea typeface="Malgun Gothic"/>
                          <a:cs typeface="Malgun Gothic"/>
                        </a:rPr>
                        <a:t>검증 제안</a:t>
                      </a:r>
                    </a:p>
                  </a:txBody>
                  <a:tcPr marL="91440" marR="91440" marT="45720" marB="45720">
                    <a:lnR w="9525">
                      <a:solidFill>
                        <a:srgbClr val="CFD5D5"/>
                      </a:solidFill>
                      <a:prstDash val="solid"/>
                    </a:lnR>
                    <a:lnB w="9525">
                      <a:solidFill>
                        <a:srgbClr val="CFD5D5"/>
                      </a:solidFill>
                      <a:prstDash val="solid"/>
                    </a:lnB>
                    <a:solidFill>
                      <a:srgbClr val="F5F4EF"/>
                    </a:solidFill>
                  </a:tcPr>
                </a:tc>
              </a:tr>
            </a:tbl>
          </a:graphicData>
        </a:graphic>
      </p:graphicFrame>
      <p:sp>
        <p:nvSpPr>
          <p:cNvPr id="4" name="body">
            <a:extLst xmlns:a="http://schemas.openxmlformats.org/drawingml/2006/main">
              <a:ext uri="{FF2B5EF4-FFF2-40B4-BE49-F238E27FC236}">
                <a16:creationId xmlns:a16="http://schemas.microsoft.com/office/drawing/2014/main" id="{A1D02AFD-CC27-44F7-AF5B-6159574EE197}"/>
              </a:ext>
            </a:extLst>
          </p:cNvPr>
          <p:cNvSpPr>
            <a:spLocks xmlns:a="http://schemas.openxmlformats.org/drawingml/2006/main" noGrp="1"/>
          </p:cNvSpPr>
          <p:nvPr/>
        </p:nvSpPr>
        <p:spPr>
          <a:xfrm xmlns:a="http://schemas.openxmlformats.org/drawingml/2006/main">
            <a:off x="11087100" y="6353175"/>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425966"/>
                </a:solidFill>
                <a:latin typeface="Malgun Gothic"/>
                <a:ea typeface="Malgun Gothic"/>
                <a:cs typeface="Malgun Gothic"/>
              </a:defRPr>
            </a:defPPr>
          </a:lstStyle>
          <a:p xmlns:a="http://schemas.openxmlformats.org/drawingml/2006/main">
            <a:pPr>
              <a:buNone/>
              <a:defRPr sz="1500" b="0">
                <a:solidFill>
                  <a:srgbClr val="425966"/>
                </a:solidFill>
                <a:latin typeface="Malgun Gothic"/>
                <a:ea typeface="Malgun Gothic"/>
                <a:cs typeface="Malgun Gothic"/>
              </a:defRPr>
            </a:pPr>
            <a:r>
              <a:rPr sz="1500" b="0">
                <a:solidFill>
                  <a:srgbClr val="425966"/>
                </a:solidFill>
                <a:latin typeface="Malgun Gothic"/>
                <a:ea typeface="Malgun Gothic"/>
                <a:cs typeface="Malgun Gothic"/>
              </a:rPr>
              <a:t>22</a:t>
            </a:r>
          </a:p>
        </p:txBody>
      </p:sp>
    </p:spTree>
    <p:extLst>
      <p:ext uri="{BB962C8B-B14F-4D97-AF65-F5344CB8AC3E}">
        <p14:creationId xmlns:p14="http://schemas.microsoft.com/office/powerpoint/2010/main" val="637670438"/>
      </p:ext>
    </p:extLst>
  </p:cSld>
</p:sld>
</file>

<file path=ppt/slides/slide23.xml><?xml version="1.0" encoding="utf-8"?>
<p:sld xmlns:p="http://schemas.openxmlformats.org/presentationml/2006/main">
  <p:cSld>
    <p:bg>
      <p:bgPr>
        <a:solidFill xmlns:a="http://schemas.openxmlformats.org/drawingml/2006/main">
          <a:srgbClr val="0B1C27"/>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32C029AA-16D9-4D01-89F4-54D62F43812E}"/>
              </a:ext>
            </a:extLst>
          </p:cNvPr>
          <p:cNvSpPr>
            <a:spLocks xmlns:a="http://schemas.openxmlformats.org/drawingml/2006/main" noGrp="1"/>
          </p:cNvSpPr>
          <p:nvPr/>
        </p:nvSpPr>
        <p:spPr>
          <a:xfrm xmlns:a="http://schemas.openxmlformats.org/drawingml/2006/main">
            <a:off x="609600" y="5715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F4F4F0"/>
                </a:solidFill>
                <a:latin typeface="Malgun Gothic"/>
                <a:ea typeface="Malgun Gothic"/>
                <a:cs typeface="Malgun Gothic"/>
              </a:defRPr>
            </a:defPPr>
          </a:lstStyle>
          <a:p xmlns:a="http://schemas.openxmlformats.org/drawingml/2006/main">
            <a:pPr>
              <a:buNone/>
              <a:defRPr sz="3300" b="1">
                <a:solidFill>
                  <a:srgbClr val="F4F4F0"/>
                </a:solidFill>
                <a:latin typeface="Malgun Gothic"/>
                <a:ea typeface="Malgun Gothic"/>
                <a:cs typeface="Malgun Gothic"/>
              </a:defRPr>
            </a:pPr>
            <a:r>
              <a:rPr sz="3300" b="1">
                <a:solidFill>
                  <a:srgbClr val="F4F4F0"/>
                </a:solidFill>
                <a:latin typeface="Malgun Gothic"/>
                <a:ea typeface="Malgun Gothic"/>
                <a:cs typeface="Malgun Gothic"/>
              </a:rPr>
              <a:t>Comet Foundry</a:t>
            </a:r>
          </a:p>
        </p:txBody>
      </p:sp>
      <p:sp>
        <p:nvSpPr>
          <p:cNvPr id="2" name="lead">
            <a:extLst xmlns:a="http://schemas.openxmlformats.org/drawingml/2006/main">
              <a:ext uri="{FF2B5EF4-FFF2-40B4-BE49-F238E27FC236}">
                <a16:creationId xmlns:a16="http://schemas.microsoft.com/office/drawing/2014/main" id="{BC025155-4AC6-44BD-B0B8-03F57190231A}"/>
              </a:ext>
            </a:extLst>
          </p:cNvPr>
          <p:cNvSpPr>
            <a:spLocks xmlns:a="http://schemas.openxmlformats.org/drawingml/2006/main" noGrp="1"/>
          </p:cNvSpPr>
          <p:nvPr/>
        </p:nvSpPr>
        <p:spPr>
          <a:xfrm xmlns:a="http://schemas.openxmlformats.org/drawingml/2006/main">
            <a:off x="609600" y="14573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FAF5C"/>
                </a:solidFill>
                <a:latin typeface="Malgun Gothic"/>
                <a:ea typeface="Malgun Gothic"/>
                <a:cs typeface="Malgun Gothic"/>
              </a:defRPr>
            </a:defPPr>
          </a:lstStyle>
          <a:p xmlns:a="http://schemas.openxmlformats.org/drawingml/2006/main">
            <a:pPr>
              <a:buNone/>
              <a:defRPr sz="2100" b="0">
                <a:solidFill>
                  <a:srgbClr val="FFAF5C"/>
                </a:solidFill>
                <a:latin typeface="Malgun Gothic"/>
                <a:ea typeface="Malgun Gothic"/>
                <a:cs typeface="Malgun Gothic"/>
              </a:defRPr>
            </a:pPr>
            <a:r>
              <a:rPr sz="2100" b="0">
                <a:solidFill>
                  <a:srgbClr val="FFAF5C"/>
                </a:solidFill>
                <a:latin typeface="Malgun Gothic"/>
                <a:ea typeface="Malgun Gothic"/>
                <a:cs typeface="Malgun Gothic"/>
              </a:rPr>
              <a:t>음승재의 프로젝트 포트폴리오</a:t>
            </a:r>
          </a:p>
        </p:txBody>
      </p:sp>
      <p:sp>
        <p:nvSpPr>
          <p:cNvPr id="3" name="item-heading">
            <a:extLst xmlns:a="http://schemas.openxmlformats.org/drawingml/2006/main">
              <a:ext uri="{FF2B5EF4-FFF2-40B4-BE49-F238E27FC236}">
                <a16:creationId xmlns:a16="http://schemas.microsoft.com/office/drawing/2014/main" id="{CEFEE689-B0AB-46CB-A189-CAC2ED0C1AAB}"/>
              </a:ext>
            </a:extLst>
          </p:cNvPr>
          <p:cNvSpPr>
            <a:spLocks xmlns:a="http://schemas.openxmlformats.org/drawingml/2006/main" noGrp="1"/>
          </p:cNvSpPr>
          <p:nvPr/>
        </p:nvSpPr>
        <p:spPr>
          <a:xfrm xmlns:a="http://schemas.openxmlformats.org/drawingml/2006/main">
            <a:off x="609600" y="2381250"/>
            <a:ext cx="676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F4F4F0"/>
                </a:solidFill>
                <a:latin typeface="Malgun Gothic"/>
                <a:ea typeface="Malgun Gothic"/>
                <a:cs typeface="Malgun Gothic"/>
              </a:defRPr>
            </a:defPPr>
          </a:lstStyle>
          <a:p xmlns:a="http://schemas.openxmlformats.org/drawingml/2006/main">
            <a:pPr>
              <a:buNone/>
              <a:defRPr sz="2025" b="1">
                <a:solidFill>
                  <a:srgbClr val="F4F4F0"/>
                </a:solidFill>
                <a:latin typeface="Malgun Gothic"/>
                <a:ea typeface="Malgun Gothic"/>
                <a:cs typeface="Malgun Gothic"/>
              </a:defRPr>
            </a:pPr>
            <a:r>
              <a:rPr sz="2025" b="1">
                <a:solidFill>
                  <a:srgbClr val="F4F4F0"/>
                </a:solidFill>
                <a:latin typeface="Malgun Gothic"/>
                <a:ea typeface="Malgun Gothic"/>
                <a:cs typeface="Malgun Gothic"/>
              </a:rPr>
              <a:t>프로젝트의 중심</a:t>
            </a:r>
          </a:p>
        </p:txBody>
      </p:sp>
      <p:sp>
        <p:nvSpPr>
          <p:cNvPr id="4" name="body">
            <a:extLst xmlns:a="http://schemas.openxmlformats.org/drawingml/2006/main">
              <a:ext uri="{FF2B5EF4-FFF2-40B4-BE49-F238E27FC236}">
                <a16:creationId xmlns:a16="http://schemas.microsoft.com/office/drawing/2014/main" id="{982A20A3-FCC0-449F-9AEC-DA610B0A5D9C}"/>
              </a:ext>
            </a:extLst>
          </p:cNvPr>
          <p:cNvSpPr>
            <a:spLocks xmlns:a="http://schemas.openxmlformats.org/drawingml/2006/main" noGrp="1"/>
          </p:cNvSpPr>
          <p:nvPr/>
        </p:nvSpPr>
        <p:spPr>
          <a:xfrm xmlns:a="http://schemas.openxmlformats.org/drawingml/2006/main">
            <a:off x="609600" y="2790825"/>
            <a:ext cx="6762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BC9CD"/>
                </a:solidFill>
                <a:latin typeface="Malgun Gothic"/>
                <a:ea typeface="Malgun Gothic"/>
                <a:cs typeface="Malgun Gothic"/>
              </a:defRPr>
            </a:defPPr>
          </a:lstStyle>
          <a:p xmlns:a="http://schemas.openxmlformats.org/drawingml/2006/main">
            <a:pPr>
              <a:buNone/>
              <a:defRPr sz="1875" b="0">
                <a:solidFill>
                  <a:srgbClr val="BBC9CD"/>
                </a:solidFill>
                <a:latin typeface="Malgun Gothic"/>
                <a:ea typeface="Malgun Gothic"/>
                <a:cs typeface="Malgun Gothic"/>
              </a:defRPr>
            </a:pPr>
            <a:r>
              <a:rPr sz="1875" b="0">
                <a:solidFill>
                  <a:srgbClr val="BBC9CD"/>
                </a:solidFill>
                <a:latin typeface="Malgun Gothic"/>
                <a:ea typeface="Malgun Gothic"/>
                <a:cs typeface="Malgun Gothic"/>
              </a:rPr>
              <a:t>혜성의 유한 자원과 개발 공간을 활용해 생산·물류·거래를 연결합니다.</a:t>
            </a:r>
          </a:p>
        </p:txBody>
      </p:sp>
      <p:sp>
        <p:nvSpPr>
          <p:cNvPr id="5" name="item-heading">
            <a:extLst xmlns:a="http://schemas.openxmlformats.org/drawingml/2006/main">
              <a:ext uri="{FF2B5EF4-FFF2-40B4-BE49-F238E27FC236}">
                <a16:creationId xmlns:a16="http://schemas.microsoft.com/office/drawing/2014/main" id="{FAE350A5-3635-4FDC-B28C-85BBA8F0BC6C}"/>
              </a:ext>
            </a:extLst>
          </p:cNvPr>
          <p:cNvSpPr>
            <a:spLocks xmlns:a="http://schemas.openxmlformats.org/drawingml/2006/main" noGrp="1"/>
          </p:cNvSpPr>
          <p:nvPr/>
        </p:nvSpPr>
        <p:spPr>
          <a:xfrm xmlns:a="http://schemas.openxmlformats.org/drawingml/2006/main">
            <a:off x="609600" y="3524250"/>
            <a:ext cx="676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F4F4F0"/>
                </a:solidFill>
                <a:latin typeface="Malgun Gothic"/>
                <a:ea typeface="Malgun Gothic"/>
                <a:cs typeface="Malgun Gothic"/>
              </a:defRPr>
            </a:defPPr>
          </a:lstStyle>
          <a:p xmlns:a="http://schemas.openxmlformats.org/drawingml/2006/main">
            <a:pPr>
              <a:buNone/>
              <a:defRPr sz="2025" b="1">
                <a:solidFill>
                  <a:srgbClr val="F4F4F0"/>
                </a:solidFill>
                <a:latin typeface="Malgun Gothic"/>
                <a:ea typeface="Malgun Gothic"/>
                <a:cs typeface="Malgun Gothic"/>
              </a:defRPr>
            </a:pPr>
            <a:r>
              <a:rPr sz="2025" b="1">
                <a:solidFill>
                  <a:srgbClr val="F4F4F0"/>
                </a:solidFill>
                <a:latin typeface="Malgun Gothic"/>
                <a:ea typeface="Malgun Gothic"/>
                <a:cs typeface="Malgun Gothic"/>
              </a:rPr>
              <a:t>지향하는 발전</a:t>
            </a:r>
          </a:p>
        </p:txBody>
      </p:sp>
      <p:sp>
        <p:nvSpPr>
          <p:cNvPr id="6" name="body">
            <a:extLst xmlns:a="http://schemas.openxmlformats.org/drawingml/2006/main">
              <a:ext uri="{FF2B5EF4-FFF2-40B4-BE49-F238E27FC236}">
                <a16:creationId xmlns:a16="http://schemas.microsoft.com/office/drawing/2014/main" id="{AFECF6AE-10CE-48B1-B2D0-9D754CC4CB5C}"/>
              </a:ext>
            </a:extLst>
          </p:cNvPr>
          <p:cNvSpPr>
            <a:spLocks xmlns:a="http://schemas.openxmlformats.org/drawingml/2006/main" noGrp="1"/>
          </p:cNvSpPr>
          <p:nvPr/>
        </p:nvSpPr>
        <p:spPr>
          <a:xfrm xmlns:a="http://schemas.openxmlformats.org/drawingml/2006/main">
            <a:off x="609600" y="3933825"/>
            <a:ext cx="6762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BC9CD"/>
                </a:solidFill>
                <a:latin typeface="Malgun Gothic"/>
                <a:ea typeface="Malgun Gothic"/>
                <a:cs typeface="Malgun Gothic"/>
              </a:defRPr>
            </a:defPPr>
          </a:lstStyle>
          <a:p xmlns:a="http://schemas.openxmlformats.org/drawingml/2006/main">
            <a:pPr>
              <a:buNone/>
              <a:defRPr sz="1875" b="0">
                <a:solidFill>
                  <a:srgbClr val="BBC9CD"/>
                </a:solidFill>
                <a:latin typeface="Malgun Gothic"/>
                <a:ea typeface="Malgun Gothic"/>
                <a:cs typeface="Malgun Gothic"/>
              </a:defRPr>
            </a:pPr>
            <a:r>
              <a:rPr sz="1875" b="0">
                <a:solidFill>
                  <a:srgbClr val="BBC9CD"/>
                </a:solidFill>
                <a:latin typeface="Malgun Gothic"/>
                <a:ea typeface="Malgun Gothic"/>
                <a:cs typeface="Malgun Gothic"/>
              </a:rPr>
              <a:t>자원 고갈 뒤에도 혜성의 역할을 바꾸며 회사 전체의 산업망을 운영하는 경험을 완성합니다.</a:t>
            </a:r>
          </a:p>
        </p:txBody>
      </p:sp>
      <p:pic>
        <p:nvPicPr>
          <p:cNvPr id="7" name="">
            <a:extLst xmlns:a="http://schemas.openxmlformats.org/drawingml/2006/main">
              <a:ext uri="{FF2B5EF4-FFF2-40B4-BE49-F238E27FC236}">
                <a16:creationId xmlns:a16="http://schemas.microsoft.com/office/drawing/2014/main" id="{81D99979-0109-49A9-88CB-8C17D904FA25}"/>
              </a:ext>
            </a:extLst>
          </p:cNvPr>
          <p:cNvPicPr>
            <a:picLocks xmlns:a="http://schemas.openxmlformats.org/drawingml/2006/main" noChangeAspect="1"/>
          </p:cNvPicPr>
          <p:nvPr/>
        </p:nvPicPr>
        <p:blipFill>
          <a:blip xmlns:r="http://schemas.openxmlformats.org/officeDocument/2006/relationships" xmlns:a="http://schemas.openxmlformats.org/drawingml/2006/main" r:embed="R95a089a9a49d4d08"/>
          <a:stretch xmlns:a="http://schemas.openxmlformats.org/drawingml/2006/main"/>
        </p:blipFill>
        <p:spPr>
          <a:xfrm xmlns:a="http://schemas.openxmlformats.org/drawingml/2006/main">
            <a:off x="8181975" y="2209800"/>
            <a:ext cx="3143250" cy="3143250"/>
          </a:xfrm>
          <a:prstGeom xmlns:a="http://schemas.openxmlformats.org/drawingml/2006/main" prst="rect">
            <a:avLst/>
          </a:prstGeom>
        </p:spPr>
      </p:pic>
      <p:sp>
        <p:nvSpPr>
          <p:cNvPr id="8" name="body">
            <a:extLst xmlns:a="http://schemas.openxmlformats.org/drawingml/2006/main">
              <a:ext uri="{FF2B5EF4-FFF2-40B4-BE49-F238E27FC236}">
                <a16:creationId xmlns:a16="http://schemas.microsoft.com/office/drawing/2014/main" id="{C89CAA14-61EC-4EB0-A299-BB6B60EC7274}"/>
              </a:ext>
            </a:extLst>
          </p:cNvPr>
          <p:cNvSpPr>
            <a:spLocks xmlns:a="http://schemas.openxmlformats.org/drawingml/2006/main" noGrp="1"/>
          </p:cNvSpPr>
          <p:nvPr/>
        </p:nvSpPr>
        <p:spPr>
          <a:xfrm xmlns:a="http://schemas.openxmlformats.org/drawingml/2006/main">
            <a:off x="7943850" y="5581650"/>
            <a:ext cx="361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BBC9CD"/>
                </a:solidFill>
                <a:latin typeface="Malgun Gothic"/>
                <a:ea typeface="Malgun Gothic"/>
                <a:cs typeface="Malgun Gothic"/>
              </a:defRPr>
            </a:defPPr>
          </a:lstStyle>
          <a:p xmlns:a="http://schemas.openxmlformats.org/drawingml/2006/main">
            <a:pPr>
              <a:buNone/>
              <a:defRPr sz="1725" b="0">
                <a:solidFill>
                  <a:srgbClr val="BBC9CD"/>
                </a:solidFill>
                <a:latin typeface="Malgun Gothic"/>
                <a:ea typeface="Malgun Gothic"/>
                <a:cs typeface="Malgun Gothic"/>
              </a:defRPr>
            </a:pPr>
            <a:r>
              <a:rPr sz="1725" b="0">
                <a:solidFill>
                  <a:srgbClr val="BBC9CD"/>
                </a:solidFill>
                <a:latin typeface="Malgun Gothic"/>
                <a:ea typeface="Malgun Gothic"/>
                <a:cs typeface="Malgun Gothic"/>
              </a:rPr>
              <a:t>프로젝트 내 시설 아트</a:t>
            </a:r>
          </a:p>
        </p:txBody>
      </p:sp>
      <p:sp>
        <p:nvSpPr>
          <p:cNvPr id="9" name="body">
            <a:extLst xmlns:a="http://schemas.openxmlformats.org/drawingml/2006/main">
              <a:ext uri="{FF2B5EF4-FFF2-40B4-BE49-F238E27FC236}">
                <a16:creationId xmlns:a16="http://schemas.microsoft.com/office/drawing/2014/main" id="{CB1AFD5D-61CB-4CE8-8042-FC408FBE6307}"/>
              </a:ext>
            </a:extLst>
          </p:cNvPr>
          <p:cNvSpPr>
            <a:spLocks xmlns:a="http://schemas.openxmlformats.org/drawingml/2006/main" noGrp="1"/>
          </p:cNvSpPr>
          <p:nvPr/>
        </p:nvSpPr>
        <p:spPr>
          <a:xfrm xmlns:a="http://schemas.openxmlformats.org/drawingml/2006/main">
            <a:off x="11087100" y="6353175"/>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BBC9CD"/>
                </a:solidFill>
                <a:latin typeface="Malgun Gothic"/>
                <a:ea typeface="Malgun Gothic"/>
                <a:cs typeface="Malgun Gothic"/>
              </a:defRPr>
            </a:defPPr>
          </a:lstStyle>
          <a:p xmlns:a="http://schemas.openxmlformats.org/drawingml/2006/main">
            <a:pPr>
              <a:buNone/>
              <a:defRPr sz="1500" b="0">
                <a:solidFill>
                  <a:srgbClr val="BBC9CD"/>
                </a:solidFill>
                <a:latin typeface="Malgun Gothic"/>
                <a:ea typeface="Malgun Gothic"/>
                <a:cs typeface="Malgun Gothic"/>
              </a:defRPr>
            </a:pPr>
            <a:r>
              <a:rPr sz="1500" b="0">
                <a:solidFill>
                  <a:srgbClr val="BBC9CD"/>
                </a:solidFill>
                <a:latin typeface="Malgun Gothic"/>
                <a:ea typeface="Malgun Gothic"/>
                <a:cs typeface="Malgun Gothic"/>
              </a:rPr>
              <a:t>23</a:t>
            </a:r>
          </a:p>
        </p:txBody>
      </p:sp>
    </p:spTree>
    <p:extLst>
      <p:ext uri="{BB962C8B-B14F-4D97-AF65-F5344CB8AC3E}">
        <p14:creationId xmlns:p14="http://schemas.microsoft.com/office/powerpoint/2010/main" val="119624370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2026-10-12T05:07:21.7060000Z</dcterms:created>
  <dcterms:modified xsi:type="dcterms:W3CDTF">2026-10-12T05:07:21.7060000Z</dcterms:modified>
</coreProperties>
</file>