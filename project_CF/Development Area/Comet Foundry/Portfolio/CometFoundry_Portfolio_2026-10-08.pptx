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Master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 type="screen16x9"/>
  <p:notesSz cx="6858000" cy="9144000"/>
</p:presentation>
</file>

<file path=ppt/_rels/presentation.xml.rels><Relationships xmlns="http://schemas.openxmlformats.org/package/2006/relationships"><Relationship Id="rIdMaster" Type="http://schemas.openxmlformats.org/officeDocument/2006/relationships/slideMaster" Target="slideMasters/slideMaster1.xml"/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/Relationships>
</file>

<file path=ppt/notesSlides/_rels/notesSlide1.xml.rels><Relationships xmlns="http://schemas.openxmlformats.org/package/2006/relationships"><Relationship Id="rIdSlide" Type="http://schemas.openxmlformats.org/officeDocument/2006/relationships/slide" Target="../slides/slide1.xml"/></Relationships>
</file>

<file path=ppt/notesSlides/_rels/notesSlide2.xml.rels><Relationships xmlns="http://schemas.openxmlformats.org/package/2006/relationships"><Relationship Id="rIdSlide" Type="http://schemas.openxmlformats.org/officeDocument/2006/relationships/slide" Target="../slides/slide2.xml"/></Relationships>
</file>

<file path=ppt/notesSlides/_rels/notesSlide3.xml.rels><Relationships xmlns="http://schemas.openxmlformats.org/package/2006/relationships"><Relationship Id="rIdSlide" Type="http://schemas.openxmlformats.org/officeDocument/2006/relationships/slide" Target="../slides/slide3.xml"/></Relationships>
</file>

<file path=ppt/notesSlides/_rels/notesSlide4.xml.rels><Relationships xmlns="http://schemas.openxmlformats.org/package/2006/relationships"><Relationship Id="rIdSlide" Type="http://schemas.openxmlformats.org/officeDocument/2006/relationships/slide" Target="../slides/slide4.xml"/></Relationships>
</file>

<file path=ppt/notesSlides/_rels/notesSlide5.xml.rels><Relationships xmlns="http://schemas.openxmlformats.org/package/2006/relationships"><Relationship Id="rIdSlide" Type="http://schemas.openxmlformats.org/officeDocument/2006/relationships/slide" Target="../slides/slide5.xml"/></Relationships>
</file>

<file path=ppt/notesSlides/_rels/notesSlide6.xml.rels><Relationships xmlns="http://schemas.openxmlformats.org/package/2006/relationships"><Relationship Id="rIdSlide" Type="http://schemas.openxmlformats.org/officeDocument/2006/relationships/slide" Target="../slides/slide6.xml"/></Relationships>
</file>

<file path=ppt/notesSlides/_rels/notesSlide7.xml.rels><Relationships xmlns="http://schemas.openxmlformats.org/package/2006/relationships"><Relationship Id="rIdSlide" Type="http://schemas.openxmlformats.org/officeDocument/2006/relationships/slide" Target="../slides/slide7.xml"/></Relationships>
</file>

<file path=ppt/notesSlides/_rels/notesSlide8.xml.rels><Relationships xmlns="http://schemas.openxmlformats.org/package/2006/relationships"><Relationship Id="rIdSlide" Type="http://schemas.openxmlformats.org/officeDocument/2006/relationships/slide" Target="../slides/slide8.xml"/></Relationships>
</file>

<file path=ppt/notesSlides/_rels/notesSlide9.xml.rels><Relationships xmlns="http://schemas.openxmlformats.org/package/2006/relationships"><Relationship Id="rIdSlide" Type="http://schemas.openxmlformats.org/officeDocument/2006/relationships/slide" Target="../slides/slide9.xml"/></Relationships>
</file>

<file path=ppt/notesSlides/_rels/notesSlide10.xml.rels><Relationships xmlns="http://schemas.openxmlformats.org/package/2006/relationships"><Relationship Id="rIdSlide" Type="http://schemas.openxmlformats.org/officeDocument/2006/relationships/slide" Target="../slides/slide10.xml"/></Relationships>
</file>

<file path=ppt/notesSlides/_rels/notesSlide11.xml.rels><Relationships xmlns="http://schemas.openxmlformats.org/package/2006/relationships"><Relationship Id="rIdSlide" Type="http://schemas.openxmlformats.org/officeDocument/2006/relationships/slide" Target="../slides/slide11.xml"/></Relationships>
</file>

<file path=ppt/notesSlides/_rels/notesSlide12.xml.rels><Relationships xmlns="http://schemas.openxmlformats.org/package/2006/relationships"><Relationship Id="rIdSlide" Type="http://schemas.openxmlformats.org/officeDocument/2006/relationships/slide" Target="../slides/slide12.xml"/></Relationships>
</file>

<file path=ppt/notesSlides/_rels/notesSlide13.xml.rels><Relationships xmlns="http://schemas.openxmlformats.org/package/2006/relationships"><Relationship Id="rIdSlide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type="body" idx="1"/>
          </p:nvPr>
        </p:nvSpPr>
        <p:spPr>
          <a:xfrm>
            <a:off x="0" y="0"/>
            <a:ext cx="5715000" cy="381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1488"/>
              </a:lnSpc>
            </a:pPr>
            <a:r>
              <a:rPr lang="ko-KR" sz="12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Assets/CometFoundry/Scripts/Data/FoundryContent.cs; Assets/CometFoundry/Scripts/Simulation/FoundrySession.cs. Project scope as of 2026-10-08.</a:t>
            </a:r>
            <a:endParaRPr lang="ko-KR" sz="1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type="body" idx="1"/>
          </p:nvPr>
        </p:nvSpPr>
        <p:spPr>
          <a:xfrm>
            <a:off x="0" y="0"/>
            <a:ext cx="5715000" cy="381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1488"/>
              </a:lnSpc>
            </a:pPr>
            <a:r>
              <a:rPr lang="ko-KR" sz="12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Assets/CometFoundry/Scripts/Data/FoundryContent.cs; Assets/CometFoundry/Scripts/Simulation/FoundrySession.cs; ProjectSettings/ProjectVersion.txt. Implementation was developed with Codex collaboration; personal employment history and sole authorship are not asserted.</a:t>
            </a:r>
            <a:endParaRPr lang="ko-KR" sz="12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type="body" idx="1"/>
          </p:nvPr>
        </p:nvSpPr>
        <p:spPr>
          <a:xfrm>
            <a:off x="0" y="0"/>
            <a:ext cx="5715000" cy="381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1488"/>
              </a:lnSpc>
            </a:pPr>
            <a:r>
              <a:rPr lang="ko-KR" sz="12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Assets/CometFoundry/Scripts/Simulation/FoundrySession.cs; Assets/CometFoundry/Scripts/Simulation/FoundryExpansion.cs; Assets/CometFoundry/Scripts/Data/FoundryContent.cs.</a:t>
            </a:r>
            <a:endParaRPr lang="ko-KR" sz="12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type="body" idx="1"/>
          </p:nvPr>
        </p:nvSpPr>
        <p:spPr>
          <a:xfrm>
            <a:off x="0" y="0"/>
            <a:ext cx="5715000" cy="381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1488"/>
              </a:lnSpc>
            </a:pPr>
            <a:r>
              <a:rPr lang="ko-KR" sz="12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Assets/CometFoundry/Scripts/Data/FoundryContent.cs; Assets/CometFoundry/Scripts/Prototype/FoundryPlayableController.cs. Icons are actual code-generated project sprites.</a:t>
            </a:r>
            <a:endParaRPr lang="ko-KR" sz="12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type="body" idx="1"/>
          </p:nvPr>
        </p:nvSpPr>
        <p:spPr>
          <a:xfrm>
            <a:off x="0" y="0"/>
            <a:ext cx="5715000" cy="381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1488"/>
              </a:lnSpc>
            </a:pPr>
            <a:r>
              <a:rPr lang="ko-KR" sz="12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Assets/CometFoundry/Scripts/Simulation/FacilityInstance.cs; FoundryExpansion.cs; Tests/EditMode/FoundryProductionTests.cs.</a:t>
            </a:r>
            <a:endParaRPr lang="ko-KR" sz="12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type="body" idx="1"/>
          </p:nvPr>
        </p:nvSpPr>
        <p:spPr>
          <a:xfrm>
            <a:off x="0" y="0"/>
            <a:ext cx="5715000" cy="381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1488"/>
              </a:lnSpc>
            </a:pPr>
            <a:r>
              <a:rPr lang="ko-KR" sz="12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Assets/CometFoundry/Scripts/Simulation/FoundryExpansion.cs; CometGenerator.cs. All costs are current prototype balance, not final balance.</a:t>
            </a:r>
            <a:endParaRPr lang="ko-KR" sz="12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type="body" idx="1"/>
          </p:nvPr>
        </p:nvSpPr>
        <p:spPr>
          <a:xfrm>
            <a:off x="0" y="0"/>
            <a:ext cx="5715000" cy="381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1488"/>
              </a:lnSpc>
            </a:pPr>
            <a:r>
              <a:rPr lang="ko-KR" sz="12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Assets/CometFoundry/Scripts/Simulation/FoundryExpansion.cs; Tests/EditMode/FoundryManagementTests.cs. Conservation example follows the water shipping test.</a:t>
            </a:r>
            <a:endParaRPr lang="ko-KR" sz="12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type="body" idx="1"/>
          </p:nvPr>
        </p:nvSpPr>
        <p:spPr>
          <a:xfrm>
            <a:off x="0" y="0"/>
            <a:ext cx="5715000" cy="381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1488"/>
              </a:lnSpc>
            </a:pPr>
            <a:r>
              <a:rPr lang="ko-KR" sz="12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Assets/CometFoundry/Scripts/Data/FoundryContent.cs; Assets/CometFoundry/Scripts/Simulation/FoundryExpansion.cs; Prototype/FoundryManagementUI.cs. Limits apply to market reference price; buy/sell spreads apply separately.</a:t>
            </a:r>
            <a:endParaRPr lang="ko-KR" sz="12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type="body" idx="1"/>
          </p:nvPr>
        </p:nvSpPr>
        <p:spPr>
          <a:xfrm>
            <a:off x="0" y="0"/>
            <a:ext cx="5715000" cy="381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1488"/>
              </a:lnSpc>
            </a:pPr>
            <a:r>
              <a:rPr lang="ko-KR" sz="12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Before: user-supplied Development Area/Comet Foundry/거래소 현 이미지.png. After: actual renderer output Temp/FoundryValidationProject/ValidationArtifacts/exchange-chart.png, not a full gameplay screenshot. Source: Prototype/FoundryChartRaster.cs; Logs/2026-10-08-ChartReview.md.</a:t>
            </a:r>
            <a:endParaRPr lang="ko-KR" sz="12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type="body" idx="1"/>
          </p:nvPr>
        </p:nvSpPr>
        <p:spPr>
          <a:xfrm>
            <a:off x="0" y="0"/>
            <a:ext cx="5715000" cy="381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1488"/>
              </a:lnSpc>
            </a:pPr>
            <a:r>
              <a:rPr lang="ko-KR" sz="12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Assets/CometFoundry/Scripts/Data/FoundryContent.cs; Assets/CometFoundry/Scripts/Simulation/FoundrySession.cs; FoundryExpansion.cs; FoundryPersistence.cs; Prototype/FoundryPlayableController.cs; FoundryManagementUI.cs.</a:t>
            </a:r>
            <a:endParaRPr lang="ko-KR" sz="12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type="body" idx="1"/>
          </p:nvPr>
        </p:nvSpPr>
        <p:spPr>
          <a:xfrm>
            <a:off x="0" y="0"/>
            <a:ext cx="5715000" cy="381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1488"/>
              </a:lnSpc>
            </a:pPr>
            <a:r>
              <a:rPr lang="ko-KR" sz="12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Temp/FoundryValidation-production-tests.xml: total=22, passed=22, failed=0 on 2026-10-08. This filtered fixture is not the full repository test suite. Source: FoundryProductionTests.cs and FoundryManagementTests.cs. Windows build log: Temp/FoundryValidation-Build.log.</a:t>
            </a:r>
            <a:endParaRPr lang="ko-KR" sz="12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type="body" idx="1"/>
          </p:nvPr>
        </p:nvSpPr>
        <p:spPr>
          <a:xfrm>
            <a:off x="0" y="0"/>
            <a:ext cx="5715000" cy="381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1488"/>
              </a:lnSpc>
            </a:pPr>
            <a:r>
              <a:rPr lang="ko-KR" sz="12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Assets/CometFoundry/Scripts/Simulation/FoundryExpansion.cs; Prototype/FoundryManagementUI.cs. Tutorial has nine actual progression steps grouped here into four phases.</a:t>
            </a:r>
            <a:endParaRPr lang="ko-KR" sz="120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type="body" idx="1"/>
          </p:nvPr>
        </p:nvSpPr>
        <p:spPr>
          <a:xfrm>
            <a:off x="0" y="0"/>
            <a:ext cx="5715000" cy="381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1488"/>
              </a:lnSpc>
            </a:pPr>
            <a:r>
              <a:rPr lang="ko-KR" sz="12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Builds/CometFoundry/CometFoundry.exe; Assets/CometFoundry/Scenes/FoundryPlayableScene.unity. Items under next development are proposals, not implemented claims. Known full UI review limitation disclosed in project handoff.</a:t>
            </a:r>
            <a:endParaRPr lang="ko-KR" sz="1200"/>
          </a:p>
        </p:txBody>
      </p:sp>
    </p:spTree>
  </p:cSld>
  <p:clrMapOvr>
    <a:masterClrMapping/>
  </p:clrMapOvr>
</p:notes>
</file>

<file path=ppt/slideLayouts/_rels/slideLayout1.xml.rels><Relationships xmlns="http://schemas.openxmlformats.org/package/2006/relationships"><Relationship Id="rIdMaster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Relationships xmlns="http://schemas.openxmlformats.org/package/2006/relationships"><Relationship Id="rIdLayout" Type="http://schemas.openxmlformats.org/officeDocument/2006/relationships/slideLayout" Target="../slideLayouts/slideLayout1.xml"/><Relationship Id="rIdTheme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Layout"/>
  </p:sldLayoutIdLst>
  <p:txStyles>
    <p:titleStyle/>
    <p:bodyStyle/>
    <p:otherStyle/>
  </p:txStyles>
</p:sldMaster>
</file>

<file path=ppt/slides/_rels/slide1.xml.rels>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1.xml"/><Relationship Id="rIdImg1" Type="http://schemas.openxmlformats.org/officeDocument/2006/relationships/image" Target="../media/image1.png"/></Relationships>
</file>

<file path=ppt/slides/_rels/slide2.xml.rels>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2.xml"/></Relationships>
</file>

<file path=ppt/slides/_rels/slide3.xml.rels>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3.xml"/></Relationships>
</file>

<file path=ppt/slides/_rels/slide4.xml.rels>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4.xml"/><Relationship Id="rIdImg2" Type="http://schemas.openxmlformats.org/officeDocument/2006/relationships/image" Target="../media/image2.png"/><Relationship Id="rIdImg3" Type="http://schemas.openxmlformats.org/officeDocument/2006/relationships/image" Target="../media/image3.png"/></Relationships>
</file>

<file path=ppt/slides/_rels/slide5.xml.rels>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5.xml"/></Relationships>
</file>

<file path=ppt/slides/_rels/slide6.xml.rels>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6.xml"/><Relationship Id="rIdImg4" Type="http://schemas.openxmlformats.org/officeDocument/2006/relationships/image" Target="../media/image4.png"/></Relationships>
</file>

<file path=ppt/slides/_rels/slide7.xml.rels>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7.xml"/></Relationships>
</file>

<file path=ppt/slides/_rels/slide8.xml.rels>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8.xml"/></Relationships>
</file>

<file path=ppt/slides/_rels/slide9.xml.rels>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9.xml"/><Relationship Id="rIdImg5" Type="http://schemas.openxmlformats.org/officeDocument/2006/relationships/image" Target="../media/image5.png"/><Relationship Id="rIdImg6" Type="http://schemas.openxmlformats.org/officeDocument/2006/relationships/image" Target="../media/image6.png"/></Relationships>
</file>

<file path=ppt/slides/_rels/slide10.xml.rels>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10.xml"/></Relationships>
</file>

<file path=ppt/slides/_rels/slide11.xml.rels>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11.xml"/></Relationships>
</file>

<file path=ppt/slides/_rels/slide12.xml.rels>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12.xml"/></Relationships>
</file>

<file path=ppt/slides/_rels/slide13.xml.rels>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6438900"/>
            <a:ext cx="10001250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1395"/>
              </a:lnSpc>
            </a:pPr>
            <a:r>
              <a:rPr lang="ko-KR" sz="1125" b="0">
                <a:solidFill>
                  <a:srgbClr val="AFBEC7"/>
                </a:solidFill>
                <a:latin typeface="Malgun Gothic"/>
                <a:ea typeface="Malgun Gothic"/>
                <a:cs typeface="Malgun Gothic"/>
              </a:rPr>
              <a:t>COMET FOUNDRY  /  DEVELOPMENT PORTFOLIO</a:t>
            </a:r>
            <a:endParaRPr lang="ko-KR" sz="1125"/>
          </a:p>
        </p:txBody>
      </p:sp>
      <p:sp>
        <p:nvSpPr>
          <p:cNvPr id="3" name="Text 3"/>
          <p:cNvSpPr txBox="1"/>
          <p:nvPr/>
        </p:nvSpPr>
        <p:spPr>
          <a:xfrm>
            <a:off x="11239500" y="6438900"/>
            <a:ext cx="476250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1395"/>
              </a:lnSpc>
            </a:pPr>
            <a:r>
              <a:rPr lang="ko-KR" sz="1125" b="0">
                <a:solidFill>
                  <a:srgbClr val="AFBEC7"/>
                </a:solidFill>
                <a:latin typeface="Malgun Gothic"/>
                <a:ea typeface="Malgun Gothic"/>
                <a:cs typeface="Malgun Gothic"/>
              </a:rPr>
              <a:t>01</a:t>
            </a:r>
            <a:endParaRPr lang="ko-KR" sz="1125"/>
          </a:p>
        </p:txBody>
      </p:sp>
      <p:sp>
        <p:nvSpPr>
          <p:cNvPr id="4" name="Text 4"/>
          <p:cNvSpPr txBox="1"/>
          <p:nvPr/>
        </p:nvSpPr>
        <p:spPr>
          <a:xfrm>
            <a:off x="609600" y="923925"/>
            <a:ext cx="7715250" cy="361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325"/>
              </a:lnSpc>
            </a:pPr>
            <a:r>
              <a:rPr lang="ko-KR" sz="1875" b="0">
                <a:solidFill>
                  <a:srgbClr val="FF923E"/>
                </a:solidFill>
                <a:latin typeface="Malgun Gothic"/>
                <a:ea typeface="Malgun Gothic"/>
                <a:cs typeface="Malgun Gothic"/>
              </a:rPr>
              <a:t>게임 개발 포트폴리오</a:t>
            </a:r>
            <a:endParaRPr lang="ko-KR" sz="1875"/>
          </a:p>
        </p:txBody>
      </p:sp>
      <p:sp>
        <p:nvSpPr>
          <p:cNvPr id="5" name="Text 5"/>
          <p:cNvSpPr txBox="1"/>
          <p:nvPr/>
        </p:nvSpPr>
        <p:spPr>
          <a:xfrm>
            <a:off x="609600" y="1666875"/>
            <a:ext cx="8286750" cy="1905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7068"/>
              </a:lnSpc>
            </a:pPr>
            <a:r>
              <a:rPr lang="ko-KR" sz="5700" b="1">
                <a:solidFill>
                  <a:srgbClr val="F0F2EE"/>
                </a:solidFill>
                <a:latin typeface="Malgun Gothic"/>
                <a:ea typeface="Malgun Gothic"/>
                <a:cs typeface="Malgun Gothic"/>
              </a:rPr>
              <a:t>COMET</a:t>
            </a:r>
            <a:endParaRPr lang="ko-KR" sz="5700"/>
          </a:p>
          <a:p>
            <a:pPr>
              <a:lnSpc>
                <a:spcPts val="7068"/>
              </a:lnSpc>
            </a:pPr>
            <a:r>
              <a:rPr lang="ko-KR" sz="5700" b="1">
                <a:solidFill>
                  <a:srgbClr val="F0F2EE"/>
                </a:solidFill>
                <a:latin typeface="Malgun Gothic"/>
                <a:ea typeface="Malgun Gothic"/>
                <a:cs typeface="Malgun Gothic"/>
              </a:rPr>
              <a:t>FOUNDRY</a:t>
            </a:r>
            <a:endParaRPr lang="ko-KR" sz="5700"/>
          </a:p>
        </p:txBody>
      </p:sp>
      <p:sp>
        <p:nvSpPr>
          <p:cNvPr id="6" name="Text 6"/>
          <p:cNvSpPr txBox="1"/>
          <p:nvPr/>
        </p:nvSpPr>
        <p:spPr>
          <a:xfrm>
            <a:off x="647700" y="3705225"/>
            <a:ext cx="6858000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697"/>
              </a:lnSpc>
            </a:pPr>
            <a:r>
              <a:rPr lang="ko-KR" sz="2175" b="0">
                <a:solidFill>
                  <a:srgbClr val="F0F2EE"/>
                </a:solidFill>
                <a:latin typeface="Malgun Gothic"/>
                <a:ea typeface="Malgun Gothic"/>
                <a:cs typeface="Malgun Gothic"/>
              </a:rPr>
              <a:t>혜성 자원을 생산하고 거래하며</a:t>
            </a:r>
            <a:endParaRPr lang="ko-KR" sz="2175"/>
          </a:p>
          <a:p>
            <a:pPr>
              <a:lnSpc>
                <a:spcPts val="2697"/>
              </a:lnSpc>
            </a:pPr>
            <a:r>
              <a:rPr lang="ko-KR" sz="2175" b="0">
                <a:solidFill>
                  <a:srgbClr val="F0F2EE"/>
                </a:solidFill>
                <a:latin typeface="Malgun Gothic"/>
                <a:ea typeface="Malgun Gothic"/>
                <a:cs typeface="Malgun Gothic"/>
              </a:rPr>
              <a:t>여러 개척지를 운영하는 경영 시뮬레이션</a:t>
            </a:r>
            <a:endParaRPr lang="ko-KR" sz="2175"/>
          </a:p>
        </p:txBody>
      </p:sp>
      <p:sp>
        <p:nvSpPr>
          <p:cNvPr id="7" name="Text 7"/>
          <p:cNvSpPr txBox="1"/>
          <p:nvPr/>
        </p:nvSpPr>
        <p:spPr>
          <a:xfrm>
            <a:off x="647700" y="5314950"/>
            <a:ext cx="7334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1860"/>
              </a:lnSpc>
            </a:pPr>
            <a:r>
              <a:rPr lang="ko-KR" sz="1500" b="0">
                <a:solidFill>
                  <a:srgbClr val="AFBEC7"/>
                </a:solidFill>
                <a:latin typeface="Malgun Gothic"/>
                <a:ea typeface="Malgun Gothic"/>
                <a:cs typeface="Malgun Gothic"/>
              </a:rPr>
              <a:t>Unity 6 · C# · Windows 개발 빌드</a:t>
            </a:r>
            <a:endParaRPr lang="ko-KR" sz="1500"/>
          </a:p>
        </p:txBody>
      </p:sp>
      <p:sp>
        <p:nvSpPr>
          <p:cNvPr id="8" name="Text 8"/>
          <p:cNvSpPr txBox="1"/>
          <p:nvPr/>
        </p:nvSpPr>
        <p:spPr>
          <a:xfrm>
            <a:off x="647700" y="5781675"/>
            <a:ext cx="7334250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1674"/>
              </a:lnSpc>
            </a:pPr>
            <a:r>
              <a:rPr lang="ko-KR" sz="1350" b="0">
                <a:solidFill>
                  <a:srgbClr val="AFBEC7"/>
                </a:solidFill>
                <a:latin typeface="Malgun Gothic"/>
                <a:ea typeface="Malgun Gothic"/>
                <a:cs typeface="Malgun Gothic"/>
              </a:rPr>
              <a:t>현재 구현 기준 2026.10.08</a:t>
            </a:r>
            <a:endParaRPr lang="ko-KR" sz="1350"/>
          </a:p>
        </p:txBody>
      </p:sp>
      <p:pic>
        <p:nvPicPr>
          <p:cNvPr id="9" name="Image 9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8743950" y="1885950"/>
            <a:ext cx="2762250" cy="27622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447675"/>
            <a:ext cx="10906125" cy="790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4278"/>
              </a:lnSpc>
            </a:pPr>
            <a:r>
              <a:rPr lang="ko-KR" sz="3450" b="1">
                <a:solidFill>
                  <a:srgbClr val="F0F2EE"/>
                </a:solidFill>
                <a:latin typeface="Malgun Gothic"/>
                <a:ea typeface="Malgun Gothic"/>
                <a:cs typeface="Malgun Gothic"/>
              </a:rPr>
              <a:t>프로젝트 개요</a:t>
            </a:r>
            <a:endParaRPr lang="ko-KR" sz="3450"/>
          </a:p>
        </p:txBody>
      </p:sp>
      <p:sp>
        <p:nvSpPr>
          <p:cNvPr id="3" name="Text 3"/>
          <p:cNvSpPr txBox="1"/>
          <p:nvPr/>
        </p:nvSpPr>
        <p:spPr>
          <a:xfrm>
            <a:off x="609600" y="6438900"/>
            <a:ext cx="10001250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1395"/>
              </a:lnSpc>
            </a:pPr>
            <a:r>
              <a:rPr lang="ko-KR" sz="1125" b="0">
                <a:solidFill>
                  <a:srgbClr val="AFBEC7"/>
                </a:solidFill>
                <a:latin typeface="Malgun Gothic"/>
                <a:ea typeface="Malgun Gothic"/>
                <a:cs typeface="Malgun Gothic"/>
              </a:rPr>
              <a:t>COMET FOUNDRY  /  DEVELOPMENT PORTFOLIO</a:t>
            </a:r>
            <a:endParaRPr lang="ko-KR" sz="1125"/>
          </a:p>
        </p:txBody>
      </p:sp>
      <p:sp>
        <p:nvSpPr>
          <p:cNvPr id="4" name="Text 4"/>
          <p:cNvSpPr txBox="1"/>
          <p:nvPr/>
        </p:nvSpPr>
        <p:spPr>
          <a:xfrm>
            <a:off x="11239500" y="6438900"/>
            <a:ext cx="476250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1395"/>
              </a:lnSpc>
            </a:pPr>
            <a:r>
              <a:rPr lang="ko-KR" sz="1125" b="0">
                <a:solidFill>
                  <a:srgbClr val="AFBEC7"/>
                </a:solidFill>
                <a:latin typeface="Malgun Gothic"/>
                <a:ea typeface="Malgun Gothic"/>
                <a:cs typeface="Malgun Gothic"/>
              </a:rPr>
              <a:t>02</a:t>
            </a:r>
            <a:endParaRPr lang="ko-KR" sz="1125"/>
          </a:p>
        </p:txBody>
      </p:sp>
      <p:sp>
        <p:nvSpPr>
          <p:cNvPr id="5" name="Text 5"/>
          <p:cNvSpPr txBox="1"/>
          <p:nvPr/>
        </p:nvSpPr>
        <p:spPr>
          <a:xfrm>
            <a:off x="619125" y="1514475"/>
            <a:ext cx="10572750" cy="8572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697"/>
              </a:lnSpc>
            </a:pPr>
            <a:r>
              <a:rPr lang="ko-KR" sz="2175" b="0">
                <a:solidFill>
                  <a:srgbClr val="F0F2EE"/>
                </a:solidFill>
                <a:latin typeface="Malgun Gothic"/>
                <a:ea typeface="Malgun Gothic"/>
                <a:cs typeface="Malgun Gothic"/>
              </a:rPr>
              <a:t>채굴과 생산으로 소재의 가치를 높이고,</a:t>
            </a:r>
            <a:endParaRPr lang="ko-KR" sz="2175"/>
          </a:p>
          <a:p>
            <a:pPr>
              <a:lnSpc>
                <a:spcPts val="2697"/>
              </a:lnSpc>
            </a:pPr>
            <a:r>
              <a:rPr lang="ko-KR" sz="2175" b="0">
                <a:solidFill>
                  <a:srgbClr val="F0F2EE"/>
                </a:solidFill>
                <a:latin typeface="Malgun Gothic"/>
                <a:ea typeface="Malgun Gothic"/>
                <a:cs typeface="Malgun Gothic"/>
              </a:rPr>
              <a:t>거래 수익으로 새 혜성의 개발 비용을 확보합니다.</a:t>
            </a:r>
            <a:endParaRPr lang="ko-KR" sz="2175"/>
          </a:p>
        </p:txBody>
      </p:sp>
      <p:sp>
        <p:nvSpPr>
          <p:cNvPr id="6" name="Text 6"/>
          <p:cNvSpPr txBox="1"/>
          <p:nvPr/>
        </p:nvSpPr>
        <p:spPr>
          <a:xfrm>
            <a:off x="619125" y="2924175"/>
            <a:ext cx="3048000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6696"/>
              </a:lnSpc>
            </a:pPr>
            <a:r>
              <a:rPr lang="ko-KR" sz="5400" b="1">
                <a:solidFill>
                  <a:srgbClr val="FF923E"/>
                </a:solidFill>
                <a:latin typeface="Malgun Gothic"/>
                <a:ea typeface="Malgun Gothic"/>
                <a:cs typeface="Malgun Gothic"/>
              </a:rPr>
              <a:t>16</a:t>
            </a:r>
            <a:endParaRPr lang="ko-KR" sz="5400"/>
          </a:p>
        </p:txBody>
      </p:sp>
      <p:sp>
        <p:nvSpPr>
          <p:cNvPr id="7" name="Text 7"/>
          <p:cNvSpPr txBox="1"/>
          <p:nvPr/>
        </p:nvSpPr>
        <p:spPr>
          <a:xfrm>
            <a:off x="619125" y="3752850"/>
            <a:ext cx="3048000" cy="495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418"/>
              </a:lnSpc>
            </a:pPr>
            <a:r>
              <a:rPr lang="ko-KR" sz="1950" b="0">
                <a:solidFill>
                  <a:srgbClr val="F0F2EE"/>
                </a:solidFill>
                <a:latin typeface="Malgun Gothic"/>
                <a:ea typeface="Malgun Gothic"/>
                <a:cs typeface="Malgun Gothic"/>
              </a:rPr>
              <a:t>소재 종류</a:t>
            </a:r>
            <a:endParaRPr lang="ko-KR" sz="1950"/>
          </a:p>
        </p:txBody>
      </p:sp>
      <p:sp>
        <p:nvSpPr>
          <p:cNvPr id="8" name="Text 8"/>
          <p:cNvSpPr txBox="1"/>
          <p:nvPr/>
        </p:nvSpPr>
        <p:spPr>
          <a:xfrm>
            <a:off x="4143375" y="2924175"/>
            <a:ext cx="3048000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6696"/>
              </a:lnSpc>
            </a:pPr>
            <a:r>
              <a:rPr lang="ko-KR" sz="5400" b="1">
                <a:solidFill>
                  <a:srgbClr val="FF923E"/>
                </a:solidFill>
                <a:latin typeface="Malgun Gothic"/>
                <a:ea typeface="Malgun Gothic"/>
                <a:cs typeface="Malgun Gothic"/>
              </a:rPr>
              <a:t>16</a:t>
            </a:r>
            <a:endParaRPr lang="ko-KR" sz="5400"/>
          </a:p>
        </p:txBody>
      </p:sp>
      <p:sp>
        <p:nvSpPr>
          <p:cNvPr id="9" name="Text 9"/>
          <p:cNvSpPr txBox="1"/>
          <p:nvPr/>
        </p:nvSpPr>
        <p:spPr>
          <a:xfrm>
            <a:off x="4143375" y="3752850"/>
            <a:ext cx="3048000" cy="495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418"/>
              </a:lnSpc>
            </a:pPr>
            <a:r>
              <a:rPr lang="ko-KR" sz="1950" b="0">
                <a:solidFill>
                  <a:srgbClr val="F0F2EE"/>
                </a:solidFill>
                <a:latin typeface="Malgun Gothic"/>
                <a:ea typeface="Malgun Gothic"/>
                <a:cs typeface="Malgun Gothic"/>
              </a:rPr>
              <a:t>생산 레시피</a:t>
            </a:r>
            <a:endParaRPr lang="ko-KR" sz="1950"/>
          </a:p>
        </p:txBody>
      </p:sp>
      <p:sp>
        <p:nvSpPr>
          <p:cNvPr id="10" name="Text 10"/>
          <p:cNvSpPr txBox="1"/>
          <p:nvPr/>
        </p:nvSpPr>
        <p:spPr>
          <a:xfrm>
            <a:off x="7667625" y="2924175"/>
            <a:ext cx="3048000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6696"/>
              </a:lnSpc>
            </a:pPr>
            <a:r>
              <a:rPr lang="ko-KR" sz="5400" b="1">
                <a:solidFill>
                  <a:srgbClr val="FF923E"/>
                </a:solidFill>
                <a:latin typeface="Malgun Gothic"/>
                <a:ea typeface="Malgun Gothic"/>
                <a:cs typeface="Malgun Gothic"/>
              </a:rPr>
              <a:t>10</a:t>
            </a:r>
            <a:endParaRPr lang="ko-KR" sz="5400"/>
          </a:p>
        </p:txBody>
      </p:sp>
      <p:sp>
        <p:nvSpPr>
          <p:cNvPr id="11" name="Text 11"/>
          <p:cNvSpPr txBox="1"/>
          <p:nvPr/>
        </p:nvSpPr>
        <p:spPr>
          <a:xfrm>
            <a:off x="7667625" y="3752850"/>
            <a:ext cx="3333750" cy="495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418"/>
              </a:lnSpc>
            </a:pPr>
            <a:r>
              <a:rPr lang="ko-KR" sz="1950" b="0">
                <a:solidFill>
                  <a:srgbClr val="F0F2EE"/>
                </a:solidFill>
                <a:latin typeface="Malgun Gothic"/>
                <a:ea typeface="Malgun Gothic"/>
                <a:cs typeface="Malgun Gothic"/>
              </a:rPr>
              <a:t>건물 정의</a:t>
            </a:r>
            <a:endParaRPr lang="ko-KR" sz="1950"/>
          </a:p>
        </p:txBody>
      </p:sp>
      <p:sp>
        <p:nvSpPr>
          <p:cNvPr id="12" name="Text 12"/>
          <p:cNvSpPr txBox="1"/>
          <p:nvPr/>
        </p:nvSpPr>
        <p:spPr>
          <a:xfrm>
            <a:off x="619125" y="4752975"/>
            <a:ext cx="1076325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232"/>
              </a:lnSpc>
            </a:pPr>
            <a:r>
              <a:rPr lang="ko-KR" sz="1800" b="0">
                <a:solidFill>
                  <a:srgbClr val="F0F2EE"/>
                </a:solidFill>
                <a:latin typeface="Malgun Gothic"/>
                <a:ea typeface="Malgun Gothic"/>
                <a:cs typeface="Malgun Gothic"/>
              </a:rPr>
              <a:t>구현 범위: 생산, 자동 물류, 거래, 탐사·개척, 수송, 저장, 튜토리얼</a:t>
            </a:r>
            <a:endParaRPr lang="ko-KR" sz="1800"/>
          </a:p>
        </p:txBody>
      </p:sp>
      <p:sp>
        <p:nvSpPr>
          <p:cNvPr id="13" name="Text 13"/>
          <p:cNvSpPr txBox="1"/>
          <p:nvPr/>
        </p:nvSpPr>
        <p:spPr>
          <a:xfrm>
            <a:off x="619125" y="5486400"/>
            <a:ext cx="10572750" cy="495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1860"/>
              </a:lnSpc>
            </a:pPr>
            <a:r>
              <a:rPr lang="ko-KR" sz="1500" b="0">
                <a:solidFill>
                  <a:srgbClr val="AFBEC7"/>
                </a:solidFill>
                <a:latin typeface="Malgun Gothic"/>
                <a:ea typeface="Malgun Gothic"/>
                <a:cs typeface="Malgun Gothic"/>
              </a:rPr>
              <a:t>개발 방식: 사용자 기획·요구사항과 Codex 구현·검증 협업</a:t>
            </a:r>
            <a:endParaRPr lang="ko-KR" sz="15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447675"/>
            <a:ext cx="10906125" cy="790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4278"/>
              </a:lnSpc>
            </a:pPr>
            <a:r>
              <a:rPr lang="ko-KR" sz="3450" b="1">
                <a:solidFill>
                  <a:srgbClr val="F0F2EE"/>
                </a:solidFill>
                <a:latin typeface="Malgun Gothic"/>
                <a:ea typeface="Malgun Gothic"/>
                <a:cs typeface="Malgun Gothic"/>
              </a:rPr>
              <a:t>핵심 플레이 흐름</a:t>
            </a:r>
            <a:endParaRPr lang="ko-KR" sz="3450"/>
          </a:p>
        </p:txBody>
      </p:sp>
      <p:sp>
        <p:nvSpPr>
          <p:cNvPr id="3" name="Text 3"/>
          <p:cNvSpPr txBox="1"/>
          <p:nvPr/>
        </p:nvSpPr>
        <p:spPr>
          <a:xfrm>
            <a:off x="609600" y="6438900"/>
            <a:ext cx="10001250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1395"/>
              </a:lnSpc>
            </a:pPr>
            <a:r>
              <a:rPr lang="ko-KR" sz="1125" b="0">
                <a:solidFill>
                  <a:srgbClr val="AFBEC7"/>
                </a:solidFill>
                <a:latin typeface="Malgun Gothic"/>
                <a:ea typeface="Malgun Gothic"/>
                <a:cs typeface="Malgun Gothic"/>
              </a:rPr>
              <a:t>COMET FOUNDRY  /  DEVELOPMENT PORTFOLIO</a:t>
            </a:r>
            <a:endParaRPr lang="ko-KR" sz="1125"/>
          </a:p>
        </p:txBody>
      </p:sp>
      <p:sp>
        <p:nvSpPr>
          <p:cNvPr id="4" name="Text 4"/>
          <p:cNvSpPr txBox="1"/>
          <p:nvPr/>
        </p:nvSpPr>
        <p:spPr>
          <a:xfrm>
            <a:off x="11239500" y="6438900"/>
            <a:ext cx="476250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1395"/>
              </a:lnSpc>
            </a:pPr>
            <a:r>
              <a:rPr lang="ko-KR" sz="1125" b="0">
                <a:solidFill>
                  <a:srgbClr val="AFBEC7"/>
                </a:solidFill>
                <a:latin typeface="Malgun Gothic"/>
                <a:ea typeface="Malgun Gothic"/>
                <a:cs typeface="Malgun Gothic"/>
              </a:rPr>
              <a:t>03</a:t>
            </a:r>
            <a:endParaRPr lang="ko-KR" sz="1125"/>
          </a:p>
        </p:txBody>
      </p:sp>
      <p:sp>
        <p:nvSpPr>
          <p:cNvPr id="5" name="Text 5"/>
          <p:cNvSpPr txBox="1"/>
          <p:nvPr/>
        </p:nvSpPr>
        <p:spPr>
          <a:xfrm>
            <a:off x="619125" y="1524000"/>
            <a:ext cx="762000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697"/>
              </a:lnSpc>
            </a:pPr>
            <a:r>
              <a:rPr lang="ko-KR" sz="2175" b="1">
                <a:solidFill>
                  <a:srgbClr val="FF923E"/>
                </a:solidFill>
                <a:latin typeface="Malgun Gothic"/>
                <a:ea typeface="Malgun Gothic"/>
                <a:cs typeface="Malgun Gothic"/>
              </a:rPr>
              <a:t>01</a:t>
            </a:r>
            <a:endParaRPr lang="ko-KR" sz="2175"/>
          </a:p>
        </p:txBody>
      </p:sp>
      <p:sp>
        <p:nvSpPr>
          <p:cNvPr id="6" name="Text 6"/>
          <p:cNvSpPr txBox="1"/>
          <p:nvPr/>
        </p:nvSpPr>
        <p:spPr>
          <a:xfrm>
            <a:off x="1619250" y="1524000"/>
            <a:ext cx="1952625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697"/>
              </a:lnSpc>
            </a:pPr>
            <a:r>
              <a:rPr lang="ko-KR" sz="2175" b="1">
                <a:solidFill>
                  <a:srgbClr val="F0F2EE"/>
                </a:solidFill>
                <a:latin typeface="Malgun Gothic"/>
                <a:ea typeface="Malgun Gothic"/>
                <a:cs typeface="Malgun Gothic"/>
              </a:rPr>
              <a:t>채굴</a:t>
            </a:r>
            <a:endParaRPr lang="ko-KR" sz="2175"/>
          </a:p>
        </p:txBody>
      </p:sp>
      <p:sp>
        <p:nvSpPr>
          <p:cNvPr id="7" name="Text 7"/>
          <p:cNvSpPr txBox="1"/>
          <p:nvPr/>
        </p:nvSpPr>
        <p:spPr>
          <a:xfrm>
            <a:off x="3857625" y="1562100"/>
            <a:ext cx="7667625" cy="6000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232"/>
              </a:lnSpc>
            </a:pPr>
            <a:r>
              <a:rPr lang="ko-KR" sz="1800" b="0">
                <a:solidFill>
                  <a:srgbClr val="AFBEC7"/>
                </a:solidFill>
                <a:latin typeface="Malgun Gothic"/>
                <a:ea typeface="Malgun Gothic"/>
                <a:cs typeface="Malgun Gothic"/>
              </a:rPr>
              <a:t>철광석·구리광석·얼음의 남은 매장량을 소비</a:t>
            </a:r>
            <a:endParaRPr lang="ko-KR" sz="1800"/>
          </a:p>
        </p:txBody>
      </p:sp>
      <p:sp>
        <p:nvSpPr>
          <p:cNvPr id="8" name="Text 8"/>
          <p:cNvSpPr txBox="1"/>
          <p:nvPr/>
        </p:nvSpPr>
        <p:spPr>
          <a:xfrm>
            <a:off x="619125" y="2400300"/>
            <a:ext cx="762000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697"/>
              </a:lnSpc>
            </a:pPr>
            <a:r>
              <a:rPr lang="ko-KR" sz="2175" b="1">
                <a:solidFill>
                  <a:srgbClr val="FF923E"/>
                </a:solidFill>
                <a:latin typeface="Malgun Gothic"/>
                <a:ea typeface="Malgun Gothic"/>
                <a:cs typeface="Malgun Gothic"/>
              </a:rPr>
              <a:t>02</a:t>
            </a:r>
            <a:endParaRPr lang="ko-KR" sz="2175"/>
          </a:p>
        </p:txBody>
      </p:sp>
      <p:sp>
        <p:nvSpPr>
          <p:cNvPr id="9" name="Text 9"/>
          <p:cNvSpPr txBox="1"/>
          <p:nvPr/>
        </p:nvSpPr>
        <p:spPr>
          <a:xfrm>
            <a:off x="1619250" y="2400300"/>
            <a:ext cx="1952625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697"/>
              </a:lnSpc>
            </a:pPr>
            <a:r>
              <a:rPr lang="ko-KR" sz="2175" b="1">
                <a:solidFill>
                  <a:srgbClr val="F0F2EE"/>
                </a:solidFill>
                <a:latin typeface="Malgun Gothic"/>
                <a:ea typeface="Malgun Gothic"/>
                <a:cs typeface="Malgun Gothic"/>
              </a:rPr>
              <a:t>정제·가공</a:t>
            </a:r>
            <a:endParaRPr lang="ko-KR" sz="2175"/>
          </a:p>
        </p:txBody>
      </p:sp>
      <p:sp>
        <p:nvSpPr>
          <p:cNvPr id="10" name="Text 10"/>
          <p:cNvSpPr txBox="1"/>
          <p:nvPr/>
        </p:nvSpPr>
        <p:spPr>
          <a:xfrm>
            <a:off x="3857625" y="2438400"/>
            <a:ext cx="7667625" cy="6000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232"/>
              </a:lnSpc>
            </a:pPr>
            <a:r>
              <a:rPr lang="ko-KR" sz="1800" b="0">
                <a:solidFill>
                  <a:srgbClr val="AFBEC7"/>
                </a:solidFill>
                <a:latin typeface="Malgun Gothic"/>
                <a:ea typeface="Malgun Gothic"/>
                <a:cs typeface="Malgun Gothic"/>
              </a:rPr>
              <a:t>투입 소재와 비용, 소요 시간을 가진 생산품 설정</a:t>
            </a:r>
            <a:endParaRPr lang="ko-KR" sz="1800"/>
          </a:p>
        </p:txBody>
      </p:sp>
      <p:sp>
        <p:nvSpPr>
          <p:cNvPr id="11" name="Text 11"/>
          <p:cNvSpPr txBox="1"/>
          <p:nvPr/>
        </p:nvSpPr>
        <p:spPr>
          <a:xfrm>
            <a:off x="619125" y="3276600"/>
            <a:ext cx="762000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697"/>
              </a:lnSpc>
            </a:pPr>
            <a:r>
              <a:rPr lang="ko-KR" sz="2175" b="1">
                <a:solidFill>
                  <a:srgbClr val="FF923E"/>
                </a:solidFill>
                <a:latin typeface="Malgun Gothic"/>
                <a:ea typeface="Malgun Gothic"/>
                <a:cs typeface="Malgun Gothic"/>
              </a:rPr>
              <a:t>03</a:t>
            </a:r>
            <a:endParaRPr lang="ko-KR" sz="2175"/>
          </a:p>
        </p:txBody>
      </p:sp>
      <p:sp>
        <p:nvSpPr>
          <p:cNvPr id="12" name="Text 12"/>
          <p:cNvSpPr txBox="1"/>
          <p:nvPr/>
        </p:nvSpPr>
        <p:spPr>
          <a:xfrm>
            <a:off x="1619250" y="3276600"/>
            <a:ext cx="1952625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697"/>
              </a:lnSpc>
            </a:pPr>
            <a:r>
              <a:rPr lang="ko-KR" sz="2175" b="1">
                <a:solidFill>
                  <a:srgbClr val="F0F2EE"/>
                </a:solidFill>
                <a:latin typeface="Malgun Gothic"/>
                <a:ea typeface="Malgun Gothic"/>
                <a:cs typeface="Malgun Gothic"/>
              </a:rPr>
              <a:t>물류</a:t>
            </a:r>
            <a:endParaRPr lang="ko-KR" sz="2175"/>
          </a:p>
        </p:txBody>
      </p:sp>
      <p:sp>
        <p:nvSpPr>
          <p:cNvPr id="13" name="Text 13"/>
          <p:cNvSpPr txBox="1"/>
          <p:nvPr/>
        </p:nvSpPr>
        <p:spPr>
          <a:xfrm>
            <a:off x="3857625" y="3314700"/>
            <a:ext cx="7667625" cy="6000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232"/>
              </a:lnSpc>
            </a:pPr>
            <a:r>
              <a:rPr lang="ko-KR" sz="1800" b="0">
                <a:solidFill>
                  <a:srgbClr val="AFBEC7"/>
                </a:solidFill>
                <a:latin typeface="Malgun Gothic"/>
                <a:ea typeface="Malgun Gothic"/>
                <a:cs typeface="Malgun Gothic"/>
              </a:rPr>
              <a:t>지원 드론이 생산 시설에 필요한 재료를 자동 공급</a:t>
            </a:r>
            <a:endParaRPr lang="ko-KR" sz="1800"/>
          </a:p>
        </p:txBody>
      </p:sp>
      <p:sp>
        <p:nvSpPr>
          <p:cNvPr id="14" name="Text 14"/>
          <p:cNvSpPr txBox="1"/>
          <p:nvPr/>
        </p:nvSpPr>
        <p:spPr>
          <a:xfrm>
            <a:off x="619125" y="4152900"/>
            <a:ext cx="762000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697"/>
              </a:lnSpc>
            </a:pPr>
            <a:r>
              <a:rPr lang="ko-KR" sz="2175" b="1">
                <a:solidFill>
                  <a:srgbClr val="FF923E"/>
                </a:solidFill>
                <a:latin typeface="Malgun Gothic"/>
                <a:ea typeface="Malgun Gothic"/>
                <a:cs typeface="Malgun Gothic"/>
              </a:rPr>
              <a:t>04</a:t>
            </a:r>
            <a:endParaRPr lang="ko-KR" sz="2175"/>
          </a:p>
        </p:txBody>
      </p:sp>
      <p:sp>
        <p:nvSpPr>
          <p:cNvPr id="15" name="Text 15"/>
          <p:cNvSpPr txBox="1"/>
          <p:nvPr/>
        </p:nvSpPr>
        <p:spPr>
          <a:xfrm>
            <a:off x="1619250" y="4152900"/>
            <a:ext cx="1952625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697"/>
              </a:lnSpc>
            </a:pPr>
            <a:r>
              <a:rPr lang="ko-KR" sz="2175" b="1">
                <a:solidFill>
                  <a:srgbClr val="F0F2EE"/>
                </a:solidFill>
                <a:latin typeface="Malgun Gothic"/>
                <a:ea typeface="Malgun Gothic"/>
                <a:cs typeface="Malgun Gothic"/>
              </a:rPr>
              <a:t>거래</a:t>
            </a:r>
            <a:endParaRPr lang="ko-KR" sz="2175"/>
          </a:p>
        </p:txBody>
      </p:sp>
      <p:sp>
        <p:nvSpPr>
          <p:cNvPr id="16" name="Text 16"/>
          <p:cNvSpPr txBox="1"/>
          <p:nvPr/>
        </p:nvSpPr>
        <p:spPr>
          <a:xfrm>
            <a:off x="3857625" y="4191000"/>
            <a:ext cx="7667625" cy="6000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232"/>
              </a:lnSpc>
            </a:pPr>
            <a:r>
              <a:rPr lang="ko-KR" sz="1800" b="0">
                <a:solidFill>
                  <a:srgbClr val="AFBEC7"/>
                </a:solidFill>
                <a:latin typeface="Malgun Gothic"/>
                <a:ea typeface="Malgun Gothic"/>
                <a:cs typeface="Malgun Gothic"/>
              </a:rPr>
              <a:t>시세와 실제 매수·매도 가격을 비교해 거래</a:t>
            </a:r>
            <a:endParaRPr lang="ko-KR" sz="1800"/>
          </a:p>
        </p:txBody>
      </p:sp>
      <p:sp>
        <p:nvSpPr>
          <p:cNvPr id="17" name="Text 17"/>
          <p:cNvSpPr txBox="1"/>
          <p:nvPr/>
        </p:nvSpPr>
        <p:spPr>
          <a:xfrm>
            <a:off x="619125" y="5029200"/>
            <a:ext cx="762000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697"/>
              </a:lnSpc>
            </a:pPr>
            <a:r>
              <a:rPr lang="ko-KR" sz="2175" b="1">
                <a:solidFill>
                  <a:srgbClr val="FF923E"/>
                </a:solidFill>
                <a:latin typeface="Malgun Gothic"/>
                <a:ea typeface="Malgun Gothic"/>
                <a:cs typeface="Malgun Gothic"/>
              </a:rPr>
              <a:t>05</a:t>
            </a:r>
            <a:endParaRPr lang="ko-KR" sz="2175"/>
          </a:p>
        </p:txBody>
      </p:sp>
      <p:sp>
        <p:nvSpPr>
          <p:cNvPr id="18" name="Text 18"/>
          <p:cNvSpPr txBox="1"/>
          <p:nvPr/>
        </p:nvSpPr>
        <p:spPr>
          <a:xfrm>
            <a:off x="1619250" y="5029200"/>
            <a:ext cx="1952625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697"/>
              </a:lnSpc>
            </a:pPr>
            <a:r>
              <a:rPr lang="ko-KR" sz="2175" b="1">
                <a:solidFill>
                  <a:srgbClr val="F0F2EE"/>
                </a:solidFill>
                <a:latin typeface="Malgun Gothic"/>
                <a:ea typeface="Malgun Gothic"/>
                <a:cs typeface="Malgun Gothic"/>
              </a:rPr>
              <a:t>확장</a:t>
            </a:r>
            <a:endParaRPr lang="ko-KR" sz="2175"/>
          </a:p>
        </p:txBody>
      </p:sp>
      <p:sp>
        <p:nvSpPr>
          <p:cNvPr id="19" name="Text 19"/>
          <p:cNvSpPr txBox="1"/>
          <p:nvPr/>
        </p:nvSpPr>
        <p:spPr>
          <a:xfrm>
            <a:off x="3857625" y="5067300"/>
            <a:ext cx="7667625" cy="6000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232"/>
              </a:lnSpc>
            </a:pPr>
            <a:r>
              <a:rPr lang="ko-KR" sz="1800" b="0">
                <a:solidFill>
                  <a:srgbClr val="AFBEC7"/>
                </a:solidFill>
                <a:latin typeface="Malgun Gothic"/>
                <a:ea typeface="Malgun Gothic"/>
                <a:cs typeface="Malgun Gothic"/>
              </a:rPr>
              <a:t>후보 혜성을 탐사하고 항구를 건설해 개발 구역 추가</a:t>
            </a:r>
            <a:endParaRPr lang="ko-KR"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447675"/>
            <a:ext cx="10906125" cy="790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4278"/>
              </a:lnSpc>
            </a:pPr>
            <a:r>
              <a:rPr lang="ko-KR" sz="3450" b="1">
                <a:solidFill>
                  <a:srgbClr val="F0F2EE"/>
                </a:solidFill>
                <a:latin typeface="Malgun Gothic"/>
                <a:ea typeface="Malgun Gothic"/>
                <a:cs typeface="Malgun Gothic"/>
              </a:rPr>
              <a:t>생산품 설정과 생산라인</a:t>
            </a:r>
            <a:endParaRPr lang="ko-KR" sz="3450"/>
          </a:p>
        </p:txBody>
      </p:sp>
      <p:sp>
        <p:nvSpPr>
          <p:cNvPr id="3" name="Text 3"/>
          <p:cNvSpPr txBox="1"/>
          <p:nvPr/>
        </p:nvSpPr>
        <p:spPr>
          <a:xfrm>
            <a:off x="609600" y="6438900"/>
            <a:ext cx="10001250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1395"/>
              </a:lnSpc>
            </a:pPr>
            <a:r>
              <a:rPr lang="ko-KR" sz="1125" b="0">
                <a:solidFill>
                  <a:srgbClr val="AFBEC7"/>
                </a:solidFill>
                <a:latin typeface="Malgun Gothic"/>
                <a:ea typeface="Malgun Gothic"/>
                <a:cs typeface="Malgun Gothic"/>
              </a:rPr>
              <a:t>COMET FOUNDRY  /  DEVELOPMENT PORTFOLIO</a:t>
            </a:r>
            <a:endParaRPr lang="ko-KR" sz="1125"/>
          </a:p>
        </p:txBody>
      </p:sp>
      <p:sp>
        <p:nvSpPr>
          <p:cNvPr id="4" name="Text 4"/>
          <p:cNvSpPr txBox="1"/>
          <p:nvPr/>
        </p:nvSpPr>
        <p:spPr>
          <a:xfrm>
            <a:off x="11239500" y="6438900"/>
            <a:ext cx="476250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1395"/>
              </a:lnSpc>
            </a:pPr>
            <a:r>
              <a:rPr lang="ko-KR" sz="1125" b="0">
                <a:solidFill>
                  <a:srgbClr val="AFBEC7"/>
                </a:solidFill>
                <a:latin typeface="Malgun Gothic"/>
                <a:ea typeface="Malgun Gothic"/>
                <a:cs typeface="Malgun Gothic"/>
              </a:rPr>
              <a:t>04</a:t>
            </a:r>
            <a:endParaRPr lang="ko-KR" sz="1125"/>
          </a:p>
        </p:txBody>
      </p:sp>
      <p:sp>
        <p:nvSpPr>
          <p:cNvPr id="5" name="Text 5"/>
          <p:cNvSpPr txBox="1"/>
          <p:nvPr/>
        </p:nvSpPr>
        <p:spPr>
          <a:xfrm>
            <a:off x="619125" y="1552575"/>
            <a:ext cx="7524750" cy="438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604"/>
              </a:lnSpc>
            </a:pPr>
            <a:r>
              <a:rPr lang="ko-KR" sz="2100" b="0">
                <a:solidFill>
                  <a:srgbClr val="F0F2EE"/>
                </a:solidFill>
                <a:latin typeface="Malgun Gothic"/>
                <a:ea typeface="Malgun Gothic"/>
                <a:cs typeface="Malgun Gothic"/>
              </a:rPr>
              <a:t>생산 건물을 클릭해 레시피를 선택합니다.</a:t>
            </a:r>
            <a:endParaRPr lang="ko-KR" sz="2100"/>
          </a:p>
        </p:txBody>
      </p:sp>
      <p:sp>
        <p:nvSpPr>
          <p:cNvPr id="6" name="Text 6"/>
          <p:cNvSpPr txBox="1"/>
          <p:nvPr/>
        </p:nvSpPr>
        <p:spPr>
          <a:xfrm>
            <a:off x="619125" y="2314575"/>
            <a:ext cx="695325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232"/>
              </a:lnSpc>
            </a:pPr>
            <a:r>
              <a:rPr lang="ko-KR" sz="1800" b="1">
                <a:solidFill>
                  <a:srgbClr val="FF923E"/>
                </a:solidFill>
                <a:latin typeface="Malgun Gothic"/>
                <a:ea typeface="Malgun Gothic"/>
                <a:cs typeface="Malgun Gothic"/>
              </a:rPr>
              <a:t>철괴 제련 예시</a:t>
            </a:r>
            <a:endParaRPr lang="ko-KR" sz="1800"/>
          </a:p>
        </p:txBody>
      </p:sp>
      <p:sp>
        <p:nvSpPr>
          <p:cNvPr id="7" name="Text 7"/>
          <p:cNvSpPr txBox="1"/>
          <p:nvPr/>
        </p:nvSpPr>
        <p:spPr>
          <a:xfrm>
            <a:off x="619125" y="2867025"/>
            <a:ext cx="7524750" cy="523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3627"/>
              </a:lnSpc>
            </a:pPr>
            <a:r>
              <a:rPr lang="ko-KR" sz="2925" b="1">
                <a:solidFill>
                  <a:srgbClr val="F0F2EE"/>
                </a:solidFill>
                <a:latin typeface="Malgun Gothic"/>
                <a:ea typeface="Malgun Gothic"/>
                <a:cs typeface="Malgun Gothic"/>
              </a:rPr>
              <a:t>철광석 3스택으로 철괴 2스택 생산</a:t>
            </a:r>
            <a:endParaRPr lang="ko-KR" sz="2925"/>
          </a:p>
        </p:txBody>
      </p:sp>
      <p:sp>
        <p:nvSpPr>
          <p:cNvPr id="8" name="Text 8"/>
          <p:cNvSpPr txBox="1"/>
          <p:nvPr/>
        </p:nvSpPr>
        <p:spPr>
          <a:xfrm>
            <a:off x="619125" y="3629025"/>
            <a:ext cx="6953250" cy="704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604"/>
              </a:lnSpc>
            </a:pPr>
            <a:r>
              <a:rPr lang="ko-KR" sz="2100" b="0">
                <a:solidFill>
                  <a:srgbClr val="F0F2EE"/>
                </a:solidFill>
                <a:latin typeface="Malgun Gothic"/>
                <a:ea typeface="Malgun Gothic"/>
                <a:cs typeface="Malgun Gothic"/>
              </a:rPr>
              <a:t>생산 비용 4솔라</a:t>
            </a:r>
            <a:endParaRPr lang="ko-KR" sz="2100"/>
          </a:p>
          <a:p>
            <a:pPr>
              <a:lnSpc>
                <a:spcPts val="2604"/>
              </a:lnSpc>
            </a:pPr>
            <a:r>
              <a:rPr lang="ko-KR" sz="2100" b="0">
                <a:solidFill>
                  <a:srgbClr val="F0F2EE"/>
                </a:solidFill>
                <a:latin typeface="Malgun Gothic"/>
                <a:ea typeface="Malgun Gothic"/>
                <a:cs typeface="Malgun Gothic"/>
              </a:rPr>
              <a:t>소요 시간 5초, 기본 속도 기준</a:t>
            </a:r>
            <a:endParaRPr lang="ko-KR" sz="2100"/>
          </a:p>
        </p:txBody>
      </p:sp>
      <p:sp>
        <p:nvSpPr>
          <p:cNvPr id="9" name="Text 9"/>
          <p:cNvSpPr txBox="1"/>
          <p:nvPr/>
        </p:nvSpPr>
        <p:spPr>
          <a:xfrm>
            <a:off x="619125" y="4752975"/>
            <a:ext cx="6858000" cy="1066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325"/>
              </a:lnSpc>
            </a:pPr>
            <a:r>
              <a:rPr lang="ko-KR" sz="1875" b="0">
                <a:solidFill>
                  <a:srgbClr val="AFBEC7"/>
                </a:solidFill>
                <a:latin typeface="Malgun Gothic"/>
                <a:ea typeface="Malgun Gothic"/>
                <a:cs typeface="Malgun Gothic"/>
              </a:rPr>
              <a:t>팝업에서 필요한 재료와 보유량을 비교합니다.</a:t>
            </a:r>
            <a:endParaRPr lang="ko-KR" sz="1875"/>
          </a:p>
          <a:p>
            <a:pPr>
              <a:lnSpc>
                <a:spcPts val="2325"/>
              </a:lnSpc>
            </a:pPr>
            <a:r>
              <a:rPr lang="ko-KR" sz="1875" b="0">
                <a:solidFill>
                  <a:srgbClr val="AFBEC7"/>
                </a:solidFill>
                <a:latin typeface="Malgun Gothic"/>
                <a:ea typeface="Malgun Gothic"/>
                <a:cs typeface="Malgun Gothic"/>
              </a:rPr>
              <a:t>완성품·비용·시간을 확인한 뒤 생산품을 설정합니다.</a:t>
            </a:r>
            <a:endParaRPr lang="ko-KR" sz="1875"/>
          </a:p>
          <a:p>
            <a:pPr>
              <a:lnSpc>
                <a:spcPts val="2325"/>
              </a:lnSpc>
            </a:pPr>
            <a:r>
              <a:rPr lang="ko-KR" sz="1875" b="0">
                <a:solidFill>
                  <a:srgbClr val="AFBEC7"/>
                </a:solidFill>
                <a:latin typeface="Malgun Gothic"/>
                <a:ea typeface="Malgun Gothic"/>
                <a:cs typeface="Malgun Gothic"/>
              </a:rPr>
              <a:t>드론이 채굴기와 생산 시설 사이를 운반합니다.</a:t>
            </a:r>
            <a:endParaRPr lang="ko-KR" sz="1875"/>
          </a:p>
        </p:txBody>
      </p:sp>
      <p:pic>
        <p:nvPicPr>
          <p:cNvPr id="10" name="Image 10"/>
          <p:cNvPicPr>
            <a:picLocks noChangeAspect="1"/>
          </p:cNvPicPr>
          <p:nvPr/>
        </p:nvPicPr>
        <p:blipFill>
          <a:blip r:embed="rIdImg2"/>
          <a:stretch>
            <a:fillRect/>
          </a:stretch>
        </p:blipFill>
        <p:spPr>
          <a:xfrm>
            <a:off x="8924925" y="1609725"/>
            <a:ext cx="2152650" cy="2152650"/>
          </a:xfrm>
          <a:prstGeom prst="rect">
            <a:avLst/>
          </a:prstGeom>
        </p:spPr>
      </p:pic>
      <p:pic>
        <p:nvPicPr>
          <p:cNvPr id="11" name="Image 11"/>
          <p:cNvPicPr>
            <a:picLocks noChangeAspect="1"/>
          </p:cNvPicPr>
          <p:nvPr/>
        </p:nvPicPr>
        <p:blipFill>
          <a:blip r:embed="rIdImg3"/>
          <a:stretch>
            <a:fillRect/>
          </a:stretch>
        </p:blipFill>
        <p:spPr>
          <a:xfrm>
            <a:off x="9096375" y="4029075"/>
            <a:ext cx="1809750" cy="18097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447675"/>
            <a:ext cx="10906125" cy="790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4278"/>
              </a:lnSpc>
            </a:pPr>
            <a:r>
              <a:rPr lang="ko-KR" sz="3450" b="1">
                <a:solidFill>
                  <a:srgbClr val="F0F2EE"/>
                </a:solidFill>
                <a:latin typeface="Malgun Gothic"/>
                <a:ea typeface="Malgun Gothic"/>
                <a:cs typeface="Malgun Gothic"/>
              </a:rPr>
              <a:t>생산과 거래의 재고·비용 보존</a:t>
            </a:r>
            <a:endParaRPr lang="ko-KR" sz="3450"/>
          </a:p>
        </p:txBody>
      </p:sp>
      <p:sp>
        <p:nvSpPr>
          <p:cNvPr id="3" name="Text 3"/>
          <p:cNvSpPr txBox="1"/>
          <p:nvPr/>
        </p:nvSpPr>
        <p:spPr>
          <a:xfrm>
            <a:off x="609600" y="6438900"/>
            <a:ext cx="10001250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1395"/>
              </a:lnSpc>
            </a:pPr>
            <a:r>
              <a:rPr lang="ko-KR" sz="1125" b="0">
                <a:solidFill>
                  <a:srgbClr val="AFBEC7"/>
                </a:solidFill>
                <a:latin typeface="Malgun Gothic"/>
                <a:ea typeface="Malgun Gothic"/>
                <a:cs typeface="Malgun Gothic"/>
              </a:rPr>
              <a:t>COMET FOUNDRY  /  DEVELOPMENT PORTFOLIO</a:t>
            </a:r>
            <a:endParaRPr lang="ko-KR" sz="1125"/>
          </a:p>
        </p:txBody>
      </p:sp>
      <p:sp>
        <p:nvSpPr>
          <p:cNvPr id="4" name="Text 4"/>
          <p:cNvSpPr txBox="1"/>
          <p:nvPr/>
        </p:nvSpPr>
        <p:spPr>
          <a:xfrm>
            <a:off x="11239500" y="6438900"/>
            <a:ext cx="476250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1395"/>
              </a:lnSpc>
            </a:pPr>
            <a:r>
              <a:rPr lang="ko-KR" sz="1125" b="0">
                <a:solidFill>
                  <a:srgbClr val="AFBEC7"/>
                </a:solidFill>
                <a:latin typeface="Malgun Gothic"/>
                <a:ea typeface="Malgun Gothic"/>
                <a:cs typeface="Malgun Gothic"/>
              </a:rPr>
              <a:t>05</a:t>
            </a:r>
            <a:endParaRPr lang="ko-KR" sz="1125"/>
          </a:p>
        </p:txBody>
      </p:sp>
      <p:sp>
        <p:nvSpPr>
          <p:cNvPr id="5" name="Text 5"/>
          <p:cNvSpPr txBox="1"/>
          <p:nvPr/>
        </p:nvSpPr>
        <p:spPr>
          <a:xfrm>
            <a:off x="619125" y="1524000"/>
            <a:ext cx="10620375" cy="438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697"/>
              </a:lnSpc>
            </a:pPr>
            <a:r>
              <a:rPr lang="ko-KR" sz="2175" b="0">
                <a:solidFill>
                  <a:srgbClr val="F0F2EE"/>
                </a:solidFill>
                <a:latin typeface="Malgun Gothic"/>
                <a:ea typeface="Malgun Gothic"/>
                <a:cs typeface="Malgun Gothic"/>
              </a:rPr>
              <a:t>완성 가능한 배치만 재료와 비용을 차감합니다.</a:t>
            </a:r>
            <a:endParaRPr lang="ko-KR" sz="2175"/>
          </a:p>
        </p:txBody>
      </p:sp>
      <p:sp>
        <p:nvSpPr>
          <p:cNvPr id="6" name="Text 6"/>
          <p:cNvSpPr txBox="1"/>
          <p:nvPr/>
        </p:nvSpPr>
        <p:spPr>
          <a:xfrm>
            <a:off x="619125" y="2276475"/>
            <a:ext cx="4953000" cy="504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883"/>
              </a:lnSpc>
            </a:pPr>
            <a:r>
              <a:rPr lang="ko-KR" sz="2325" b="1">
                <a:solidFill>
                  <a:srgbClr val="FF923E"/>
                </a:solidFill>
                <a:latin typeface="Malgun Gothic"/>
                <a:ea typeface="Malgun Gothic"/>
                <a:cs typeface="Malgun Gothic"/>
              </a:rPr>
              <a:t>얼음 2스택으로 물 3스택 생산</a:t>
            </a:r>
            <a:endParaRPr lang="ko-KR" sz="2325"/>
          </a:p>
        </p:txBody>
      </p:sp>
      <p:sp>
        <p:nvSpPr>
          <p:cNvPr id="7" name="Text 7"/>
          <p:cNvSpPr txBox="1"/>
          <p:nvPr/>
        </p:nvSpPr>
        <p:spPr>
          <a:xfrm>
            <a:off x="619125" y="3028950"/>
            <a:ext cx="5000625" cy="1438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511"/>
              </a:lnSpc>
            </a:pPr>
            <a:r>
              <a:rPr lang="ko-KR" sz="2025" b="0">
                <a:solidFill>
                  <a:srgbClr val="F0F2EE"/>
                </a:solidFill>
                <a:latin typeface="Malgun Gothic"/>
                <a:ea typeface="Malgun Gothic"/>
                <a:cs typeface="Malgun Gothic"/>
              </a:rPr>
              <a:t>완성품이 차지할 공간까지 확인</a:t>
            </a:r>
            <a:endParaRPr lang="ko-KR" sz="2025"/>
          </a:p>
          <a:p>
            <a:pPr>
              <a:lnSpc>
                <a:spcPts val="2511"/>
              </a:lnSpc>
            </a:pPr>
            <a:r>
              <a:rPr lang="ko-KR" sz="2025" b="0">
                <a:solidFill>
                  <a:srgbClr val="F0F2EE"/>
                </a:solidFill>
                <a:latin typeface="Malgun Gothic"/>
                <a:ea typeface="Malgun Gothic"/>
                <a:cs typeface="Malgun Gothic"/>
              </a:rPr>
              <a:t>공간 부족 시 재료·자금 유지</a:t>
            </a:r>
            <a:endParaRPr lang="ko-KR" sz="2025"/>
          </a:p>
          <a:p>
            <a:pPr>
              <a:lnSpc>
                <a:spcPts val="2511"/>
              </a:lnSpc>
            </a:pPr>
            <a:r>
              <a:rPr lang="ko-KR" sz="2025" b="0">
                <a:solidFill>
                  <a:srgbClr val="F0F2EE"/>
                </a:solidFill>
                <a:latin typeface="Malgun Gothic"/>
                <a:ea typeface="Malgun Gothic"/>
                <a:cs typeface="Malgun Gothic"/>
              </a:rPr>
              <a:t>공간 확보 후 생산 재개</a:t>
            </a:r>
            <a:endParaRPr lang="ko-KR" sz="2025"/>
          </a:p>
        </p:txBody>
      </p:sp>
      <p:sp>
        <p:nvSpPr>
          <p:cNvPr id="8" name="Text 8"/>
          <p:cNvSpPr txBox="1"/>
          <p:nvPr/>
        </p:nvSpPr>
        <p:spPr>
          <a:xfrm>
            <a:off x="6600825" y="2295525"/>
            <a:ext cx="4762500" cy="4476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883"/>
              </a:lnSpc>
            </a:pPr>
            <a:r>
              <a:rPr lang="ko-KR" sz="2325" b="1">
                <a:solidFill>
                  <a:srgbClr val="FF923E"/>
                </a:solidFill>
                <a:latin typeface="Malgun Gothic"/>
                <a:ea typeface="Malgun Gothic"/>
                <a:cs typeface="Malgun Gothic"/>
              </a:rPr>
              <a:t>거래 전 조건 검사</a:t>
            </a:r>
            <a:endParaRPr lang="ko-KR" sz="2325"/>
          </a:p>
        </p:txBody>
      </p:sp>
      <p:sp>
        <p:nvSpPr>
          <p:cNvPr id="9" name="Text 9"/>
          <p:cNvSpPr txBox="1"/>
          <p:nvPr/>
        </p:nvSpPr>
        <p:spPr>
          <a:xfrm>
            <a:off x="6600825" y="3028950"/>
            <a:ext cx="4810125" cy="1438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511"/>
              </a:lnSpc>
            </a:pPr>
            <a:r>
              <a:rPr lang="ko-KR" sz="2025" b="0">
                <a:solidFill>
                  <a:srgbClr val="F0F2EE"/>
                </a:solidFill>
                <a:latin typeface="Malgun Gothic"/>
                <a:ea typeface="Malgun Gothic"/>
                <a:cs typeface="Malgun Gothic"/>
              </a:rPr>
              <a:t>판매할 재고와 구매 자금 검사</a:t>
            </a:r>
            <a:endParaRPr lang="ko-KR" sz="2025"/>
          </a:p>
          <a:p>
            <a:pPr>
              <a:lnSpc>
                <a:spcPts val="2511"/>
              </a:lnSpc>
            </a:pPr>
            <a:r>
              <a:rPr lang="ko-KR" sz="2025" b="0">
                <a:solidFill>
                  <a:srgbClr val="F0F2EE"/>
                </a:solidFill>
                <a:latin typeface="Malgun Gothic"/>
                <a:ea typeface="Malgun Gothic"/>
                <a:cs typeface="Malgun Gothic"/>
              </a:rPr>
              <a:t>입고 가능한 저장 공간 검사</a:t>
            </a:r>
            <a:endParaRPr lang="ko-KR" sz="2025"/>
          </a:p>
          <a:p>
            <a:pPr>
              <a:lnSpc>
                <a:spcPts val="2511"/>
              </a:lnSpc>
            </a:pPr>
            <a:r>
              <a:rPr lang="ko-KR" sz="2025" b="0">
                <a:solidFill>
                  <a:srgbClr val="F0F2EE"/>
                </a:solidFill>
                <a:latin typeface="Malgun Gothic"/>
                <a:ea typeface="Malgun Gothic"/>
                <a:cs typeface="Malgun Gothic"/>
              </a:rPr>
              <a:t>실패 시 기존 재고·자금 유지</a:t>
            </a:r>
            <a:endParaRPr lang="ko-KR" sz="2025"/>
          </a:p>
        </p:txBody>
      </p:sp>
      <p:sp>
        <p:nvSpPr>
          <p:cNvPr id="10" name="Text 10"/>
          <p:cNvSpPr txBox="1"/>
          <p:nvPr/>
        </p:nvSpPr>
        <p:spPr>
          <a:xfrm>
            <a:off x="619125" y="5172075"/>
            <a:ext cx="10572750" cy="723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139"/>
              </a:lnSpc>
            </a:pPr>
            <a:r>
              <a:rPr lang="ko-KR" sz="1725" b="0">
                <a:solidFill>
                  <a:srgbClr val="AFBEC7"/>
                </a:solidFill>
                <a:latin typeface="Malgun Gothic"/>
                <a:ea typeface="Malgun Gothic"/>
                <a:cs typeface="Malgun Gothic"/>
              </a:rPr>
              <a:t>같은 레시피를 다시 선택하면 진행도를 유지합니다.</a:t>
            </a:r>
            <a:endParaRPr lang="ko-KR" sz="1725"/>
          </a:p>
          <a:p>
            <a:pPr>
              <a:lnSpc>
                <a:spcPts val="2139"/>
              </a:lnSpc>
            </a:pPr>
            <a:r>
              <a:rPr lang="ko-KR" sz="1725" b="0">
                <a:solidFill>
                  <a:srgbClr val="AFBEC7"/>
                </a:solidFill>
                <a:latin typeface="Malgun Gothic"/>
                <a:ea typeface="Malgun Gothic"/>
                <a:cs typeface="Malgun Gothic"/>
              </a:rPr>
              <a:t>큰 시간 간격에서도 여러 배치를 처리하고 남은 생산 시간을 보존합니다.</a:t>
            </a:r>
            <a:endParaRPr lang="ko-KR" sz="1725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447675"/>
            <a:ext cx="10906125" cy="790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4278"/>
              </a:lnSpc>
            </a:pPr>
            <a:r>
              <a:rPr lang="ko-KR" sz="3450" b="1">
                <a:solidFill>
                  <a:srgbClr val="F0F2EE"/>
                </a:solidFill>
                <a:latin typeface="Malgun Gothic"/>
                <a:ea typeface="Malgun Gothic"/>
                <a:cs typeface="Malgun Gothic"/>
              </a:rPr>
              <a:t>혜성 탐사와 개척</a:t>
            </a:r>
            <a:endParaRPr lang="ko-KR" sz="3450"/>
          </a:p>
        </p:txBody>
      </p:sp>
      <p:sp>
        <p:nvSpPr>
          <p:cNvPr id="3" name="Text 3"/>
          <p:cNvSpPr txBox="1"/>
          <p:nvPr/>
        </p:nvSpPr>
        <p:spPr>
          <a:xfrm>
            <a:off x="609600" y="6438900"/>
            <a:ext cx="10001250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1395"/>
              </a:lnSpc>
            </a:pPr>
            <a:r>
              <a:rPr lang="ko-KR" sz="1125" b="0">
                <a:solidFill>
                  <a:srgbClr val="AFBEC7"/>
                </a:solidFill>
                <a:latin typeface="Malgun Gothic"/>
                <a:ea typeface="Malgun Gothic"/>
                <a:cs typeface="Malgun Gothic"/>
              </a:rPr>
              <a:t>COMET FOUNDRY  /  DEVELOPMENT PORTFOLIO</a:t>
            </a:r>
            <a:endParaRPr lang="ko-KR" sz="1125"/>
          </a:p>
        </p:txBody>
      </p:sp>
      <p:sp>
        <p:nvSpPr>
          <p:cNvPr id="4" name="Text 4"/>
          <p:cNvSpPr txBox="1"/>
          <p:nvPr/>
        </p:nvSpPr>
        <p:spPr>
          <a:xfrm>
            <a:off x="11239500" y="6438900"/>
            <a:ext cx="476250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1395"/>
              </a:lnSpc>
            </a:pPr>
            <a:r>
              <a:rPr lang="ko-KR" sz="1125" b="0">
                <a:solidFill>
                  <a:srgbClr val="AFBEC7"/>
                </a:solidFill>
                <a:latin typeface="Malgun Gothic"/>
                <a:ea typeface="Malgun Gothic"/>
                <a:cs typeface="Malgun Gothic"/>
              </a:rPr>
              <a:t>06</a:t>
            </a:r>
            <a:endParaRPr lang="ko-KR" sz="1125"/>
          </a:p>
        </p:txBody>
      </p:sp>
      <p:sp>
        <p:nvSpPr>
          <p:cNvPr id="5" name="Text 5"/>
          <p:cNvSpPr txBox="1"/>
          <p:nvPr/>
        </p:nvSpPr>
        <p:spPr>
          <a:xfrm>
            <a:off x="619125" y="1533525"/>
            <a:ext cx="7381875" cy="495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790"/>
              </a:lnSpc>
            </a:pPr>
            <a:r>
              <a:rPr lang="ko-KR" sz="2250" b="0">
                <a:solidFill>
                  <a:srgbClr val="F0F2EE"/>
                </a:solidFill>
                <a:latin typeface="Malgun Gothic"/>
                <a:ea typeface="Malgun Gothic"/>
                <a:cs typeface="Malgun Gothic"/>
              </a:rPr>
              <a:t>발견한 후보 3개 중 하나를 선택합니다.</a:t>
            </a:r>
            <a:endParaRPr lang="ko-KR" sz="2250"/>
          </a:p>
        </p:txBody>
      </p:sp>
      <p:sp>
        <p:nvSpPr>
          <p:cNvPr id="6" name="Text 6"/>
          <p:cNvSpPr txBox="1"/>
          <p:nvPr/>
        </p:nvSpPr>
        <p:spPr>
          <a:xfrm>
            <a:off x="619125" y="2371725"/>
            <a:ext cx="7381875" cy="1000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697"/>
              </a:lnSpc>
            </a:pPr>
            <a:r>
              <a:rPr lang="ko-KR" sz="2175" b="0">
                <a:solidFill>
                  <a:srgbClr val="F0F2EE"/>
                </a:solidFill>
                <a:latin typeface="Malgun Gothic"/>
                <a:ea typeface="Malgun Gothic"/>
                <a:cs typeface="Malgun Gothic"/>
              </a:rPr>
              <a:t>탐사 비용 1,500솔라</a:t>
            </a:r>
            <a:endParaRPr lang="ko-KR" sz="2175"/>
          </a:p>
          <a:p>
            <a:pPr>
              <a:lnSpc>
                <a:spcPts val="2697"/>
              </a:lnSpc>
            </a:pPr>
            <a:r>
              <a:rPr lang="ko-KR" sz="2175" b="0">
                <a:solidFill>
                  <a:srgbClr val="F0F2EE"/>
                </a:solidFill>
                <a:latin typeface="Malgun Gothic"/>
                <a:ea typeface="Malgun Gothic"/>
                <a:cs typeface="Malgun Gothic"/>
              </a:rPr>
              <a:t>탐사 시간 8초</a:t>
            </a:r>
            <a:endParaRPr lang="ko-KR" sz="2175"/>
          </a:p>
        </p:txBody>
      </p:sp>
      <p:sp>
        <p:nvSpPr>
          <p:cNvPr id="7" name="Text 7"/>
          <p:cNvSpPr txBox="1"/>
          <p:nvPr/>
        </p:nvSpPr>
        <p:spPr>
          <a:xfrm>
            <a:off x="619125" y="3705225"/>
            <a:ext cx="7381875" cy="11144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511"/>
              </a:lnSpc>
            </a:pPr>
            <a:r>
              <a:rPr lang="ko-KR" sz="2025" b="0">
                <a:solidFill>
                  <a:srgbClr val="AFBEC7"/>
                </a:solidFill>
                <a:latin typeface="Malgun Gothic"/>
                <a:ea typeface="Malgun Gothic"/>
                <a:cs typeface="Malgun Gothic"/>
              </a:rPr>
              <a:t>후보의 좌표, 크기, 자원과 개척 비용을 비교합니다.</a:t>
            </a:r>
            <a:endParaRPr lang="ko-KR" sz="2025"/>
          </a:p>
          <a:p>
            <a:pPr>
              <a:lnSpc>
                <a:spcPts val="2511"/>
              </a:lnSpc>
            </a:pPr>
            <a:r>
              <a:rPr lang="ko-KR" sz="2025" b="0">
                <a:solidFill>
                  <a:srgbClr val="AFBEC7"/>
                </a:solidFill>
                <a:latin typeface="Malgun Gothic"/>
                <a:ea typeface="Malgun Gothic"/>
                <a:cs typeface="Malgun Gothic"/>
              </a:rPr>
              <a:t>개척 비용을 지불하면 소형 항구를 자동 건설합니다.</a:t>
            </a:r>
            <a:endParaRPr lang="ko-KR" sz="2025"/>
          </a:p>
          <a:p>
            <a:pPr>
              <a:lnSpc>
                <a:spcPts val="2511"/>
              </a:lnSpc>
            </a:pPr>
            <a:r>
              <a:rPr lang="ko-KR" sz="2025" b="0">
                <a:solidFill>
                  <a:srgbClr val="AFBEC7"/>
                </a:solidFill>
                <a:latin typeface="Malgun Gothic"/>
                <a:ea typeface="Malgun Gothic"/>
                <a:cs typeface="Malgun Gothic"/>
              </a:rPr>
              <a:t>소유 목록에서 새 혜성을 선택해 시설을 건설합니다.</a:t>
            </a:r>
            <a:endParaRPr lang="ko-KR" sz="2025"/>
          </a:p>
        </p:txBody>
      </p:sp>
      <p:sp>
        <p:nvSpPr>
          <p:cNvPr id="8" name="Text 8"/>
          <p:cNvSpPr txBox="1"/>
          <p:nvPr/>
        </p:nvSpPr>
        <p:spPr>
          <a:xfrm>
            <a:off x="619125" y="5257800"/>
            <a:ext cx="7381875" cy="657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232"/>
              </a:lnSpc>
            </a:pPr>
            <a:r>
              <a:rPr lang="ko-KR" sz="1800" b="1">
                <a:solidFill>
                  <a:srgbClr val="FF923E"/>
                </a:solidFill>
                <a:latin typeface="Malgun Gothic"/>
                <a:ea typeface="Malgun Gothic"/>
                <a:cs typeface="Malgun Gothic"/>
              </a:rPr>
              <a:t>선택하지 않은 혜성도 생산을 계속합니다.</a:t>
            </a:r>
            <a:endParaRPr lang="ko-KR" sz="1800"/>
          </a:p>
        </p:txBody>
      </p:sp>
      <p:pic>
        <p:nvPicPr>
          <p:cNvPr id="9" name="Image 9"/>
          <p:cNvPicPr>
            <a:picLocks noChangeAspect="1"/>
          </p:cNvPicPr>
          <p:nvPr/>
        </p:nvPicPr>
        <p:blipFill>
          <a:blip r:embed="rIdImg4"/>
          <a:stretch>
            <a:fillRect/>
          </a:stretch>
        </p:blipFill>
        <p:spPr>
          <a:xfrm>
            <a:off x="8820150" y="2543175"/>
            <a:ext cx="2362200" cy="2362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447675"/>
            <a:ext cx="10906125" cy="790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4278"/>
              </a:lnSpc>
            </a:pPr>
            <a:r>
              <a:rPr lang="ko-KR" sz="3450" b="1">
                <a:solidFill>
                  <a:srgbClr val="F0F2EE"/>
                </a:solidFill>
                <a:latin typeface="Malgun Gothic"/>
                <a:ea typeface="Malgun Gothic"/>
                <a:cs typeface="Malgun Gothic"/>
              </a:rPr>
              <a:t>혜성 간 물자 수송</a:t>
            </a:r>
            <a:endParaRPr lang="ko-KR" sz="3450"/>
          </a:p>
        </p:txBody>
      </p:sp>
      <p:sp>
        <p:nvSpPr>
          <p:cNvPr id="3" name="Text 3"/>
          <p:cNvSpPr txBox="1"/>
          <p:nvPr/>
        </p:nvSpPr>
        <p:spPr>
          <a:xfrm>
            <a:off x="609600" y="6438900"/>
            <a:ext cx="10001250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1395"/>
              </a:lnSpc>
            </a:pPr>
            <a:r>
              <a:rPr lang="ko-KR" sz="1125" b="0">
                <a:solidFill>
                  <a:srgbClr val="AFBEC7"/>
                </a:solidFill>
                <a:latin typeface="Malgun Gothic"/>
                <a:ea typeface="Malgun Gothic"/>
                <a:cs typeface="Malgun Gothic"/>
              </a:rPr>
              <a:t>COMET FOUNDRY  /  DEVELOPMENT PORTFOLIO</a:t>
            </a:r>
            <a:endParaRPr lang="ko-KR" sz="1125"/>
          </a:p>
        </p:txBody>
      </p:sp>
      <p:sp>
        <p:nvSpPr>
          <p:cNvPr id="4" name="Text 4"/>
          <p:cNvSpPr txBox="1"/>
          <p:nvPr/>
        </p:nvSpPr>
        <p:spPr>
          <a:xfrm>
            <a:off x="11239500" y="6438900"/>
            <a:ext cx="476250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1395"/>
              </a:lnSpc>
            </a:pPr>
            <a:r>
              <a:rPr lang="ko-KR" sz="1125" b="0">
                <a:solidFill>
                  <a:srgbClr val="AFBEC7"/>
                </a:solidFill>
                <a:latin typeface="Malgun Gothic"/>
                <a:ea typeface="Malgun Gothic"/>
                <a:cs typeface="Malgun Gothic"/>
              </a:rPr>
              <a:t>07</a:t>
            </a:r>
            <a:endParaRPr lang="ko-KR" sz="1125"/>
          </a:p>
        </p:txBody>
      </p:sp>
      <p:sp>
        <p:nvSpPr>
          <p:cNvPr id="5" name="Text 5"/>
          <p:cNvSpPr txBox="1"/>
          <p:nvPr/>
        </p:nvSpPr>
        <p:spPr>
          <a:xfrm>
            <a:off x="619125" y="1504950"/>
            <a:ext cx="10572750" cy="581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697"/>
              </a:lnSpc>
            </a:pPr>
            <a:r>
              <a:rPr lang="ko-KR" sz="2175" b="0">
                <a:solidFill>
                  <a:srgbClr val="F0F2EE"/>
                </a:solidFill>
                <a:latin typeface="Malgun Gothic"/>
                <a:ea typeface="Malgun Gothic"/>
                <a:cs typeface="Malgun Gothic"/>
              </a:rPr>
              <a:t>출발·도착 혜성, 물자, 수량을 선택해 수송선을 파견합니다.</a:t>
            </a:r>
            <a:endParaRPr lang="ko-KR" sz="2175"/>
          </a:p>
        </p:txBody>
      </p:sp>
      <p:sp>
        <p:nvSpPr>
          <p:cNvPr id="6" name="Text 6"/>
          <p:cNvSpPr txBox="1"/>
          <p:nvPr/>
        </p:nvSpPr>
        <p:spPr>
          <a:xfrm>
            <a:off x="619125" y="2628900"/>
            <a:ext cx="3429000" cy="714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5952"/>
              </a:lnSpc>
            </a:pPr>
            <a:r>
              <a:rPr lang="ko-KR" sz="4800" b="1">
                <a:solidFill>
                  <a:srgbClr val="FF923E"/>
                </a:solidFill>
                <a:latin typeface="Malgun Gothic"/>
                <a:ea typeface="Malgun Gothic"/>
                <a:cs typeface="Malgun Gothic"/>
              </a:rPr>
              <a:t>100</a:t>
            </a:r>
            <a:endParaRPr lang="ko-KR" sz="4800"/>
          </a:p>
        </p:txBody>
      </p:sp>
      <p:sp>
        <p:nvSpPr>
          <p:cNvPr id="7" name="Text 7"/>
          <p:cNvSpPr txBox="1"/>
          <p:nvPr/>
        </p:nvSpPr>
        <p:spPr>
          <a:xfrm>
            <a:off x="619125" y="3429000"/>
            <a:ext cx="3429000" cy="4667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511"/>
              </a:lnSpc>
            </a:pPr>
            <a:r>
              <a:rPr lang="ko-KR" sz="2025" b="0">
                <a:solidFill>
                  <a:srgbClr val="F0F2EE"/>
                </a:solidFill>
                <a:latin typeface="Malgun Gothic"/>
                <a:ea typeface="Malgun Gothic"/>
                <a:cs typeface="Malgun Gothic"/>
              </a:rPr>
              <a:t>선박당 적재 스택</a:t>
            </a:r>
            <a:endParaRPr lang="ko-KR" sz="2025"/>
          </a:p>
        </p:txBody>
      </p:sp>
      <p:sp>
        <p:nvSpPr>
          <p:cNvPr id="8" name="Text 8"/>
          <p:cNvSpPr txBox="1"/>
          <p:nvPr/>
        </p:nvSpPr>
        <p:spPr>
          <a:xfrm>
            <a:off x="4733925" y="2619375"/>
            <a:ext cx="66675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604"/>
              </a:lnSpc>
            </a:pPr>
            <a:r>
              <a:rPr lang="ko-KR" sz="2100" b="0">
                <a:solidFill>
                  <a:srgbClr val="F0F2EE"/>
                </a:solidFill>
                <a:latin typeface="Malgun Gothic"/>
                <a:ea typeface="Malgun Gothic"/>
                <a:cs typeface="Malgun Gothic"/>
              </a:rPr>
              <a:t>첫 수송선 무료 제공</a:t>
            </a:r>
            <a:endParaRPr lang="ko-KR" sz="2100"/>
          </a:p>
          <a:p>
            <a:pPr>
              <a:lnSpc>
                <a:spcPts val="2604"/>
              </a:lnSpc>
            </a:pPr>
            <a:r>
              <a:rPr lang="ko-KR" sz="2100" b="0">
                <a:solidFill>
                  <a:srgbClr val="F0F2EE"/>
                </a:solidFill>
                <a:latin typeface="Malgun Gothic"/>
                <a:ea typeface="Malgun Gothic"/>
                <a:cs typeface="Malgun Gothic"/>
              </a:rPr>
              <a:t>추가 수송선 구매 12,000솔라</a:t>
            </a:r>
            <a:endParaRPr lang="ko-KR" sz="2100"/>
          </a:p>
          <a:p>
            <a:pPr>
              <a:lnSpc>
                <a:spcPts val="2604"/>
              </a:lnSpc>
            </a:pPr>
            <a:r>
              <a:rPr lang="ko-KR" sz="2100" b="0">
                <a:solidFill>
                  <a:srgbClr val="F0F2EE"/>
                </a:solidFill>
                <a:latin typeface="Malgun Gothic"/>
                <a:ea typeface="Malgun Gothic"/>
                <a:cs typeface="Malgun Gothic"/>
              </a:rPr>
              <a:t>운송 중 화물과 진행도를 저장·복원</a:t>
            </a:r>
            <a:endParaRPr lang="ko-KR" sz="2100"/>
          </a:p>
        </p:txBody>
      </p:sp>
      <p:sp>
        <p:nvSpPr>
          <p:cNvPr id="9" name="Text 9"/>
          <p:cNvSpPr txBox="1"/>
          <p:nvPr/>
        </p:nvSpPr>
        <p:spPr>
          <a:xfrm>
            <a:off x="619125" y="4438650"/>
            <a:ext cx="10572750" cy="495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790"/>
              </a:lnSpc>
            </a:pPr>
            <a:r>
              <a:rPr lang="ko-KR" sz="2250" b="1">
                <a:solidFill>
                  <a:srgbClr val="F0F2EE"/>
                </a:solidFill>
                <a:latin typeface="Malgun Gothic"/>
                <a:ea typeface="Malgun Gothic"/>
                <a:cs typeface="Malgun Gothic"/>
              </a:rPr>
              <a:t>출발 재고 20 = 남은 재고 10 + 선박 화물 10</a:t>
            </a:r>
            <a:endParaRPr lang="ko-KR" sz="2250"/>
          </a:p>
        </p:txBody>
      </p:sp>
      <p:sp>
        <p:nvSpPr>
          <p:cNvPr id="10" name="Text 10"/>
          <p:cNvSpPr txBox="1"/>
          <p:nvPr/>
        </p:nvSpPr>
        <p:spPr>
          <a:xfrm>
            <a:off x="619125" y="5248275"/>
            <a:ext cx="10572750" cy="800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325"/>
              </a:lnSpc>
            </a:pPr>
            <a:r>
              <a:rPr lang="ko-KR" sz="1875" b="0">
                <a:solidFill>
                  <a:srgbClr val="AFBEC7"/>
                </a:solidFill>
                <a:latin typeface="Malgun Gothic"/>
                <a:ea typeface="Malgun Gothic"/>
                <a:cs typeface="Malgun Gothic"/>
              </a:rPr>
              <a:t>도착 항구가 차면 남은 화물을 선내에 보관합니다.</a:t>
            </a:r>
            <a:endParaRPr lang="ko-KR" sz="1875"/>
          </a:p>
          <a:p>
            <a:pPr>
              <a:lnSpc>
                <a:spcPts val="2325"/>
              </a:lnSpc>
            </a:pPr>
            <a:r>
              <a:rPr lang="ko-KR" sz="1875" b="0">
                <a:solidFill>
                  <a:srgbClr val="AFBEC7"/>
                </a:solidFill>
                <a:latin typeface="Malgun Gothic"/>
                <a:ea typeface="Malgun Gothic"/>
                <a:cs typeface="Malgun Gothic"/>
              </a:rPr>
              <a:t>공간이 생기면 부분 하역하고, 모두 내리면 선박을 다시 사용합니다.</a:t>
            </a:r>
            <a:endParaRPr lang="ko-KR" sz="1875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447675"/>
            <a:ext cx="10906125" cy="790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4278"/>
              </a:lnSpc>
            </a:pPr>
            <a:r>
              <a:rPr lang="ko-KR" sz="3450" b="1">
                <a:solidFill>
                  <a:srgbClr val="F0F2EE"/>
                </a:solidFill>
                <a:latin typeface="Malgun Gothic"/>
                <a:ea typeface="Malgun Gothic"/>
                <a:cs typeface="Malgun Gothic"/>
              </a:rPr>
              <a:t>정가 기준 시장 변동</a:t>
            </a:r>
            <a:endParaRPr lang="ko-KR" sz="3450"/>
          </a:p>
        </p:txBody>
      </p:sp>
      <p:sp>
        <p:nvSpPr>
          <p:cNvPr id="3" name="Text 3"/>
          <p:cNvSpPr txBox="1"/>
          <p:nvPr/>
        </p:nvSpPr>
        <p:spPr>
          <a:xfrm>
            <a:off x="609600" y="6438900"/>
            <a:ext cx="10001250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1395"/>
              </a:lnSpc>
            </a:pPr>
            <a:r>
              <a:rPr lang="ko-KR" sz="1125" b="0">
                <a:solidFill>
                  <a:srgbClr val="AFBEC7"/>
                </a:solidFill>
                <a:latin typeface="Malgun Gothic"/>
                <a:ea typeface="Malgun Gothic"/>
                <a:cs typeface="Malgun Gothic"/>
              </a:rPr>
              <a:t>COMET FOUNDRY  /  DEVELOPMENT PORTFOLIO</a:t>
            </a:r>
            <a:endParaRPr lang="ko-KR" sz="1125"/>
          </a:p>
        </p:txBody>
      </p:sp>
      <p:sp>
        <p:nvSpPr>
          <p:cNvPr id="4" name="Text 4"/>
          <p:cNvSpPr txBox="1"/>
          <p:nvPr/>
        </p:nvSpPr>
        <p:spPr>
          <a:xfrm>
            <a:off x="11239500" y="6438900"/>
            <a:ext cx="476250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1395"/>
              </a:lnSpc>
            </a:pPr>
            <a:r>
              <a:rPr lang="ko-KR" sz="1125" b="0">
                <a:solidFill>
                  <a:srgbClr val="AFBEC7"/>
                </a:solidFill>
                <a:latin typeface="Malgun Gothic"/>
                <a:ea typeface="Malgun Gothic"/>
                <a:cs typeface="Malgun Gothic"/>
              </a:rPr>
              <a:t>08</a:t>
            </a:r>
            <a:endParaRPr lang="ko-KR" sz="1125"/>
          </a:p>
        </p:txBody>
      </p:sp>
      <p:sp>
        <p:nvSpPr>
          <p:cNvPr id="5" name="Text 5"/>
          <p:cNvSpPr txBox="1"/>
          <p:nvPr/>
        </p:nvSpPr>
        <p:spPr>
          <a:xfrm>
            <a:off x="619125" y="1533525"/>
            <a:ext cx="10572750" cy="495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697"/>
              </a:lnSpc>
            </a:pPr>
            <a:r>
              <a:rPr lang="ko-KR" sz="2175" b="0">
                <a:solidFill>
                  <a:srgbClr val="F0F2EE"/>
                </a:solidFill>
                <a:latin typeface="Malgun Gothic"/>
                <a:ea typeface="Malgun Gothic"/>
                <a:cs typeface="Malgun Gothic"/>
              </a:rPr>
              <a:t>소재별 정가를 기준으로 시세를 계산합니다.</a:t>
            </a:r>
            <a:endParaRPr lang="ko-KR" sz="2175"/>
          </a:p>
        </p:txBody>
      </p:sp>
      <p:sp>
        <p:nvSpPr>
          <p:cNvPr id="6" name="Text 6"/>
          <p:cNvSpPr txBox="1"/>
          <p:nvPr/>
        </p:nvSpPr>
        <p:spPr>
          <a:xfrm>
            <a:off x="619125" y="2543175"/>
            <a:ext cx="4572000" cy="7715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6417"/>
              </a:lnSpc>
            </a:pPr>
            <a:r>
              <a:rPr lang="ko-KR" sz="5175" b="1">
                <a:solidFill>
                  <a:srgbClr val="FF923E"/>
                </a:solidFill>
                <a:latin typeface="Malgun Gothic"/>
                <a:ea typeface="Malgun Gothic"/>
                <a:cs typeface="Malgun Gothic"/>
              </a:rPr>
              <a:t>±30%</a:t>
            </a:r>
            <a:endParaRPr lang="ko-KR" sz="5175"/>
          </a:p>
        </p:txBody>
      </p:sp>
      <p:sp>
        <p:nvSpPr>
          <p:cNvPr id="7" name="Text 7"/>
          <p:cNvSpPr txBox="1"/>
          <p:nvPr/>
        </p:nvSpPr>
        <p:spPr>
          <a:xfrm>
            <a:off x="619125" y="3533775"/>
            <a:ext cx="4476750" cy="4762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697"/>
              </a:lnSpc>
            </a:pPr>
            <a:r>
              <a:rPr lang="ko-KR" sz="2175" b="0">
                <a:solidFill>
                  <a:srgbClr val="F0F2EE"/>
                </a:solidFill>
                <a:latin typeface="Malgun Gothic"/>
                <a:ea typeface="Malgun Gothic"/>
                <a:cs typeface="Malgun Gothic"/>
              </a:rPr>
              <a:t>이벤트 없는 일반 시세</a:t>
            </a:r>
            <a:endParaRPr lang="ko-KR" sz="2175"/>
          </a:p>
        </p:txBody>
      </p:sp>
      <p:sp>
        <p:nvSpPr>
          <p:cNvPr id="8" name="Text 8"/>
          <p:cNvSpPr txBox="1"/>
          <p:nvPr/>
        </p:nvSpPr>
        <p:spPr>
          <a:xfrm>
            <a:off x="6610350" y="2543175"/>
            <a:ext cx="4572000" cy="7715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6417"/>
              </a:lnSpc>
            </a:pPr>
            <a:r>
              <a:rPr lang="ko-KR" sz="5175" b="1">
                <a:solidFill>
                  <a:srgbClr val="FF923E"/>
                </a:solidFill>
                <a:latin typeface="Malgun Gothic"/>
                <a:ea typeface="Malgun Gothic"/>
                <a:cs typeface="Malgun Gothic"/>
              </a:rPr>
              <a:t>±45%</a:t>
            </a:r>
            <a:endParaRPr lang="ko-KR" sz="5175"/>
          </a:p>
        </p:txBody>
      </p:sp>
      <p:sp>
        <p:nvSpPr>
          <p:cNvPr id="9" name="Text 9"/>
          <p:cNvSpPr txBox="1"/>
          <p:nvPr/>
        </p:nvSpPr>
        <p:spPr>
          <a:xfrm>
            <a:off x="6610350" y="3533775"/>
            <a:ext cx="4476750" cy="4762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697"/>
              </a:lnSpc>
            </a:pPr>
            <a:r>
              <a:rPr lang="ko-KR" sz="2175" b="0">
                <a:solidFill>
                  <a:srgbClr val="F0F2EE"/>
                </a:solidFill>
                <a:latin typeface="Malgun Gothic"/>
                <a:ea typeface="Malgun Gothic"/>
                <a:cs typeface="Malgun Gothic"/>
              </a:rPr>
              <a:t>수요·공급 이벤트 기간</a:t>
            </a:r>
            <a:endParaRPr lang="ko-KR" sz="2175"/>
          </a:p>
        </p:txBody>
      </p:sp>
      <p:sp>
        <p:nvSpPr>
          <p:cNvPr id="10" name="Text 10"/>
          <p:cNvSpPr txBox="1"/>
          <p:nvPr/>
        </p:nvSpPr>
        <p:spPr>
          <a:xfrm>
            <a:off x="619125" y="4467225"/>
            <a:ext cx="10572750" cy="647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418"/>
              </a:lnSpc>
            </a:pPr>
            <a:r>
              <a:rPr lang="ko-KR" sz="1950" b="0">
                <a:solidFill>
                  <a:srgbClr val="AFBEC7"/>
                </a:solidFill>
                <a:latin typeface="Malgun Gothic"/>
                <a:ea typeface="Malgun Gothic"/>
                <a:cs typeface="Malgun Gothic"/>
              </a:rPr>
              <a:t>정가 0%선을 중앙에 표시하고, 위 구간은 빨강·아래 구간은 파랑으로 구분합니다.</a:t>
            </a:r>
            <a:endParaRPr lang="ko-KR" sz="1950"/>
          </a:p>
          <a:p>
            <a:pPr>
              <a:lnSpc>
                <a:spcPts val="2418"/>
              </a:lnSpc>
            </a:pPr>
            <a:r>
              <a:rPr lang="ko-KR" sz="1950" b="0">
                <a:solidFill>
                  <a:srgbClr val="AFBEC7"/>
                </a:solidFill>
                <a:latin typeface="Malgun Gothic"/>
                <a:ea typeface="Malgun Gothic"/>
                <a:cs typeface="Malgun Gothic"/>
              </a:rPr>
              <a:t>6·12·18·24개월 시세를 확인하고 실제 거래 단가는 별도로 표시합니다.</a:t>
            </a:r>
            <a:endParaRPr lang="ko-KR" sz="1950"/>
          </a:p>
        </p:txBody>
      </p:sp>
      <p:sp>
        <p:nvSpPr>
          <p:cNvPr id="11" name="Text 11"/>
          <p:cNvSpPr txBox="1"/>
          <p:nvPr/>
        </p:nvSpPr>
        <p:spPr>
          <a:xfrm>
            <a:off x="619125" y="5476875"/>
            <a:ext cx="10572750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046"/>
              </a:lnSpc>
            </a:pPr>
            <a:r>
              <a:rPr lang="ko-KR" sz="1650" b="0">
                <a:solidFill>
                  <a:srgbClr val="F0F2EE"/>
                </a:solidFill>
                <a:latin typeface="Malgun Gothic"/>
                <a:ea typeface="Malgun Gothic"/>
                <a:cs typeface="Malgun Gothic"/>
              </a:rPr>
              <a:t>정가 예시: 철광석 12 / 철괴 48 / 철판 110 / 산업장비 2,400 솔라·스택</a:t>
            </a:r>
            <a:endParaRPr lang="ko-KR" sz="16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447675"/>
            <a:ext cx="10906125" cy="790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4278"/>
              </a:lnSpc>
            </a:pPr>
            <a:r>
              <a:rPr lang="ko-KR" sz="3450" b="1">
                <a:solidFill>
                  <a:srgbClr val="F0F2EE"/>
                </a:solidFill>
                <a:latin typeface="Malgun Gothic"/>
                <a:ea typeface="Malgun Gothic"/>
                <a:cs typeface="Malgun Gothic"/>
              </a:rPr>
              <a:t>거래소 차트 오류 수정</a:t>
            </a:r>
            <a:endParaRPr lang="ko-KR" sz="3450"/>
          </a:p>
        </p:txBody>
      </p:sp>
      <p:sp>
        <p:nvSpPr>
          <p:cNvPr id="3" name="Text 3"/>
          <p:cNvSpPr txBox="1"/>
          <p:nvPr/>
        </p:nvSpPr>
        <p:spPr>
          <a:xfrm>
            <a:off x="609600" y="6438900"/>
            <a:ext cx="10001250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1395"/>
              </a:lnSpc>
            </a:pPr>
            <a:r>
              <a:rPr lang="ko-KR" sz="1125" b="0">
                <a:solidFill>
                  <a:srgbClr val="AFBEC7"/>
                </a:solidFill>
                <a:latin typeface="Malgun Gothic"/>
                <a:ea typeface="Malgun Gothic"/>
                <a:cs typeface="Malgun Gothic"/>
              </a:rPr>
              <a:t>COMET FOUNDRY  /  DEVELOPMENT PORTFOLIO</a:t>
            </a:r>
            <a:endParaRPr lang="ko-KR" sz="1125"/>
          </a:p>
        </p:txBody>
      </p:sp>
      <p:sp>
        <p:nvSpPr>
          <p:cNvPr id="4" name="Text 4"/>
          <p:cNvSpPr txBox="1"/>
          <p:nvPr/>
        </p:nvSpPr>
        <p:spPr>
          <a:xfrm>
            <a:off x="11239500" y="6438900"/>
            <a:ext cx="476250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1395"/>
              </a:lnSpc>
            </a:pPr>
            <a:r>
              <a:rPr lang="ko-KR" sz="1125" b="0">
                <a:solidFill>
                  <a:srgbClr val="AFBEC7"/>
                </a:solidFill>
                <a:latin typeface="Malgun Gothic"/>
                <a:ea typeface="Malgun Gothic"/>
                <a:cs typeface="Malgun Gothic"/>
              </a:rPr>
              <a:t>09</a:t>
            </a:r>
            <a:endParaRPr lang="ko-KR" sz="1125"/>
          </a:p>
        </p:txBody>
      </p:sp>
      <p:sp>
        <p:nvSpPr>
          <p:cNvPr id="5" name="Text 5"/>
          <p:cNvSpPr txBox="1"/>
          <p:nvPr/>
        </p:nvSpPr>
        <p:spPr>
          <a:xfrm>
            <a:off x="619125" y="1428750"/>
            <a:ext cx="51435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325"/>
              </a:lnSpc>
            </a:pPr>
            <a:r>
              <a:rPr lang="ko-KR" sz="1875" b="1">
                <a:solidFill>
                  <a:srgbClr val="FF923E"/>
                </a:solidFill>
                <a:latin typeface="Malgun Gothic"/>
                <a:ea typeface="Malgun Gothic"/>
                <a:cs typeface="Malgun Gothic"/>
              </a:rPr>
              <a:t>수정 전 게임 화면</a:t>
            </a:r>
            <a:endParaRPr lang="ko-KR" sz="1875"/>
          </a:p>
        </p:txBody>
      </p:sp>
      <p:sp>
        <p:nvSpPr>
          <p:cNvPr id="6" name="Text 6"/>
          <p:cNvSpPr txBox="1"/>
          <p:nvPr/>
        </p:nvSpPr>
        <p:spPr>
          <a:xfrm>
            <a:off x="6334125" y="1428750"/>
            <a:ext cx="51435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325"/>
              </a:lnSpc>
            </a:pPr>
            <a:r>
              <a:rPr lang="ko-KR" sz="1875" b="1">
                <a:solidFill>
                  <a:srgbClr val="FF923E"/>
                </a:solidFill>
                <a:latin typeface="Malgun Gothic"/>
                <a:ea typeface="Malgun Gothic"/>
                <a:cs typeface="Malgun Gothic"/>
              </a:rPr>
              <a:t>수정 후 시세선 출력</a:t>
            </a:r>
            <a:endParaRPr lang="ko-KR" sz="1875"/>
          </a:p>
        </p:txBody>
      </p:sp>
      <p:pic>
        <p:nvPicPr>
          <p:cNvPr id="7" name="Image 7"/>
          <p:cNvPicPr>
            <a:picLocks noChangeAspect="1"/>
          </p:cNvPicPr>
          <p:nvPr/>
        </p:nvPicPr>
        <p:blipFill>
          <a:blip r:embed="rIdImg5"/>
          <a:stretch>
            <a:fillRect/>
          </a:stretch>
        </p:blipFill>
        <p:spPr>
          <a:xfrm>
            <a:off x="619125" y="1981863"/>
            <a:ext cx="5238750" cy="2941899"/>
          </a:xfrm>
          <a:prstGeom prst="rect">
            <a:avLst/>
          </a:prstGeom>
        </p:spPr>
      </p:pic>
      <p:pic>
        <p:nvPicPr>
          <p:cNvPr id="8" name="Image 8"/>
          <p:cNvPicPr>
            <a:picLocks noChangeAspect="1"/>
          </p:cNvPicPr>
          <p:nvPr/>
        </p:nvPicPr>
        <p:blipFill>
          <a:blip r:embed="rIdImg6"/>
          <a:stretch>
            <a:fillRect/>
          </a:stretch>
        </p:blipFill>
        <p:spPr>
          <a:xfrm>
            <a:off x="6334125" y="2103703"/>
            <a:ext cx="5238750" cy="2698219"/>
          </a:xfrm>
          <a:prstGeom prst="rect">
            <a:avLst/>
          </a:prstGeom>
        </p:spPr>
      </p:pic>
      <p:sp>
        <p:nvSpPr>
          <p:cNvPr id="9" name="Text 9"/>
          <p:cNvSpPr txBox="1"/>
          <p:nvPr/>
        </p:nvSpPr>
        <p:spPr>
          <a:xfrm>
            <a:off x="619125" y="5248275"/>
            <a:ext cx="5143500" cy="7334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139"/>
              </a:lnSpc>
            </a:pPr>
            <a:r>
              <a:rPr lang="ko-KR" sz="1725" b="0">
                <a:solidFill>
                  <a:srgbClr val="AFBEC7"/>
                </a:solidFill>
                <a:latin typeface="Malgun Gothic"/>
                <a:ea typeface="Malgun Gothic"/>
                <a:cs typeface="Malgun Gothic"/>
              </a:rPr>
              <a:t>선이 끊어지고 차트 밖으로 번짐</a:t>
            </a:r>
            <a:endParaRPr lang="ko-KR" sz="1725"/>
          </a:p>
          <a:p>
            <a:pPr>
              <a:lnSpc>
                <a:spcPts val="2139"/>
              </a:lnSpc>
            </a:pPr>
            <a:r>
              <a:rPr lang="ko-KR" sz="1725" b="0">
                <a:solidFill>
                  <a:srgbClr val="AFBEC7"/>
                </a:solidFill>
                <a:latin typeface="Malgun Gothic"/>
                <a:ea typeface="Malgun Gothic"/>
                <a:cs typeface="Malgun Gothic"/>
              </a:rPr>
              <a:t>배율·회전 행렬의 좌표 충돌로 판단</a:t>
            </a:r>
            <a:endParaRPr lang="ko-KR" sz="1725"/>
          </a:p>
        </p:txBody>
      </p:sp>
      <p:sp>
        <p:nvSpPr>
          <p:cNvPr id="10" name="Text 10"/>
          <p:cNvSpPr txBox="1"/>
          <p:nvPr/>
        </p:nvSpPr>
        <p:spPr>
          <a:xfrm>
            <a:off x="6334125" y="5248275"/>
            <a:ext cx="5238750" cy="800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139"/>
              </a:lnSpc>
            </a:pPr>
            <a:r>
              <a:rPr lang="ko-KR" sz="1725" b="0">
                <a:solidFill>
                  <a:srgbClr val="AFBEC7"/>
                </a:solidFill>
                <a:latin typeface="Malgun Gothic"/>
                <a:ea typeface="Malgun Gothic"/>
                <a:cs typeface="Malgun Gothic"/>
              </a:rPr>
              <a:t>차트 내부 픽셀로 선을 직접 렌더링</a:t>
            </a:r>
            <a:endParaRPr lang="ko-KR" sz="1725"/>
          </a:p>
          <a:p>
            <a:pPr>
              <a:lnSpc>
                <a:spcPts val="2139"/>
              </a:lnSpc>
            </a:pPr>
            <a:r>
              <a:rPr lang="ko-KR" sz="1725" b="0">
                <a:solidFill>
                  <a:srgbClr val="AFBEC7"/>
                </a:solidFill>
                <a:latin typeface="Malgun Gothic"/>
                <a:ea typeface="Malgun Gothic"/>
                <a:cs typeface="Malgun Gothic"/>
              </a:rPr>
              <a:t>연속선·경계 검사·정가 교차 색 분리</a:t>
            </a:r>
            <a:endParaRPr lang="ko-KR" sz="1725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447675"/>
            <a:ext cx="10906125" cy="790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4278"/>
              </a:lnSpc>
            </a:pPr>
            <a:r>
              <a:rPr lang="ko-KR" sz="3450" b="1">
                <a:solidFill>
                  <a:srgbClr val="F0F2EE"/>
                </a:solidFill>
                <a:latin typeface="Malgun Gothic"/>
                <a:ea typeface="Malgun Gothic"/>
                <a:cs typeface="Malgun Gothic"/>
              </a:rPr>
              <a:t>코드 구조와 저장 데이터</a:t>
            </a:r>
            <a:endParaRPr lang="ko-KR" sz="3450"/>
          </a:p>
        </p:txBody>
      </p:sp>
      <p:sp>
        <p:nvSpPr>
          <p:cNvPr id="3" name="Text 3"/>
          <p:cNvSpPr txBox="1"/>
          <p:nvPr/>
        </p:nvSpPr>
        <p:spPr>
          <a:xfrm>
            <a:off x="609600" y="6438900"/>
            <a:ext cx="10001250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1395"/>
              </a:lnSpc>
            </a:pPr>
            <a:r>
              <a:rPr lang="ko-KR" sz="1125" b="0">
                <a:solidFill>
                  <a:srgbClr val="AFBEC7"/>
                </a:solidFill>
                <a:latin typeface="Malgun Gothic"/>
                <a:ea typeface="Malgun Gothic"/>
                <a:cs typeface="Malgun Gothic"/>
              </a:rPr>
              <a:t>COMET FOUNDRY  /  DEVELOPMENT PORTFOLIO</a:t>
            </a:r>
            <a:endParaRPr lang="ko-KR" sz="1125"/>
          </a:p>
        </p:txBody>
      </p:sp>
      <p:sp>
        <p:nvSpPr>
          <p:cNvPr id="4" name="Text 4"/>
          <p:cNvSpPr txBox="1"/>
          <p:nvPr/>
        </p:nvSpPr>
        <p:spPr>
          <a:xfrm>
            <a:off x="11239500" y="6438900"/>
            <a:ext cx="476250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1395"/>
              </a:lnSpc>
            </a:pPr>
            <a:r>
              <a:rPr lang="ko-KR" sz="1125" b="0">
                <a:solidFill>
                  <a:srgbClr val="AFBEC7"/>
                </a:solidFill>
                <a:latin typeface="Malgun Gothic"/>
                <a:ea typeface="Malgun Gothic"/>
                <a:cs typeface="Malgun Gothic"/>
              </a:rPr>
              <a:t>10</a:t>
            </a:r>
            <a:endParaRPr lang="ko-KR" sz="1125"/>
          </a:p>
        </p:txBody>
      </p:sp>
      <p:sp>
        <p:nvSpPr>
          <p:cNvPr id="5" name="Text 5"/>
          <p:cNvSpPr txBox="1"/>
          <p:nvPr/>
        </p:nvSpPr>
        <p:spPr>
          <a:xfrm>
            <a:off x="619125" y="1628775"/>
            <a:ext cx="2762250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697"/>
              </a:lnSpc>
            </a:pPr>
            <a:r>
              <a:rPr lang="ko-KR" sz="2175" b="1">
                <a:solidFill>
                  <a:srgbClr val="FF923E"/>
                </a:solidFill>
                <a:latin typeface="Malgun Gothic"/>
                <a:ea typeface="Malgun Gothic"/>
                <a:cs typeface="Malgun Gothic"/>
              </a:rPr>
              <a:t>콘텐츠 데이터</a:t>
            </a:r>
            <a:endParaRPr lang="ko-KR" sz="2175"/>
          </a:p>
        </p:txBody>
      </p:sp>
      <p:sp>
        <p:nvSpPr>
          <p:cNvPr id="6" name="Text 6"/>
          <p:cNvSpPr txBox="1"/>
          <p:nvPr/>
        </p:nvSpPr>
        <p:spPr>
          <a:xfrm>
            <a:off x="3695700" y="1628775"/>
            <a:ext cx="7620000" cy="7334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418"/>
              </a:lnSpc>
            </a:pPr>
            <a:r>
              <a:rPr lang="ko-KR" sz="1950" b="0">
                <a:solidFill>
                  <a:srgbClr val="F0F2EE"/>
                </a:solidFill>
                <a:latin typeface="Malgun Gothic"/>
                <a:ea typeface="Malgun Gothic"/>
                <a:cs typeface="Malgun Gothic"/>
              </a:rPr>
              <a:t>FoundryContent</a:t>
            </a:r>
            <a:endParaRPr lang="ko-KR" sz="1950"/>
          </a:p>
          <a:p>
            <a:pPr>
              <a:lnSpc>
                <a:spcPts val="2418"/>
              </a:lnSpc>
            </a:pPr>
            <a:r>
              <a:rPr lang="ko-KR" sz="1950" b="0">
                <a:solidFill>
                  <a:srgbClr val="F0F2EE"/>
                </a:solidFill>
                <a:latin typeface="Malgun Gothic"/>
                <a:ea typeface="Malgun Gothic"/>
                <a:cs typeface="Malgun Gothic"/>
              </a:rPr>
              <a:t>소재·레시피·건물 정의와 런타임 데이터 생성</a:t>
            </a:r>
            <a:endParaRPr lang="ko-KR" sz="1950"/>
          </a:p>
        </p:txBody>
      </p:sp>
      <p:sp>
        <p:nvSpPr>
          <p:cNvPr id="7" name="Text 7"/>
          <p:cNvSpPr txBox="1"/>
          <p:nvPr/>
        </p:nvSpPr>
        <p:spPr>
          <a:xfrm>
            <a:off x="619125" y="2800350"/>
            <a:ext cx="2762250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697"/>
              </a:lnSpc>
            </a:pPr>
            <a:r>
              <a:rPr lang="ko-KR" sz="2175" b="1">
                <a:solidFill>
                  <a:srgbClr val="FF923E"/>
                </a:solidFill>
                <a:latin typeface="Malgun Gothic"/>
                <a:ea typeface="Malgun Gothic"/>
                <a:cs typeface="Malgun Gothic"/>
              </a:rPr>
              <a:t>시뮬레이션</a:t>
            </a:r>
            <a:endParaRPr lang="ko-KR" sz="2175"/>
          </a:p>
        </p:txBody>
      </p:sp>
      <p:sp>
        <p:nvSpPr>
          <p:cNvPr id="8" name="Text 8"/>
          <p:cNvSpPr txBox="1"/>
          <p:nvPr/>
        </p:nvSpPr>
        <p:spPr>
          <a:xfrm>
            <a:off x="3695700" y="2800350"/>
            <a:ext cx="7620000" cy="7334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418"/>
              </a:lnSpc>
            </a:pPr>
            <a:r>
              <a:rPr lang="ko-KR" sz="1950" b="0">
                <a:solidFill>
                  <a:srgbClr val="F0F2EE"/>
                </a:solidFill>
                <a:latin typeface="Malgun Gothic"/>
                <a:ea typeface="Malgun Gothic"/>
                <a:cs typeface="Malgun Gothic"/>
              </a:rPr>
              <a:t>FoundrySession + FoundryExpansion</a:t>
            </a:r>
            <a:endParaRPr lang="ko-KR" sz="1950"/>
          </a:p>
          <a:p>
            <a:pPr>
              <a:lnSpc>
                <a:spcPts val="2418"/>
              </a:lnSpc>
            </a:pPr>
            <a:r>
              <a:rPr lang="ko-KR" sz="1950" b="0">
                <a:solidFill>
                  <a:srgbClr val="F0F2EE"/>
                </a:solidFill>
                <a:latin typeface="Malgun Gothic"/>
                <a:ea typeface="Malgun Gothic"/>
                <a:cs typeface="Malgun Gothic"/>
              </a:rPr>
              <a:t>0.1초 단위 업데이트와 모든 소유 혜성의 상태 관리</a:t>
            </a:r>
            <a:endParaRPr lang="ko-KR" sz="1950"/>
          </a:p>
        </p:txBody>
      </p:sp>
      <p:sp>
        <p:nvSpPr>
          <p:cNvPr id="9" name="Text 9"/>
          <p:cNvSpPr txBox="1"/>
          <p:nvPr/>
        </p:nvSpPr>
        <p:spPr>
          <a:xfrm>
            <a:off x="619125" y="3971925"/>
            <a:ext cx="2762250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697"/>
              </a:lnSpc>
            </a:pPr>
            <a:r>
              <a:rPr lang="ko-KR" sz="2175" b="1">
                <a:solidFill>
                  <a:srgbClr val="FF923E"/>
                </a:solidFill>
                <a:latin typeface="Malgun Gothic"/>
                <a:ea typeface="Malgun Gothic"/>
                <a:cs typeface="Malgun Gothic"/>
              </a:rPr>
              <a:t>화면</a:t>
            </a:r>
            <a:endParaRPr lang="ko-KR" sz="2175"/>
          </a:p>
        </p:txBody>
      </p:sp>
      <p:sp>
        <p:nvSpPr>
          <p:cNvPr id="10" name="Text 10"/>
          <p:cNvSpPr txBox="1"/>
          <p:nvPr/>
        </p:nvSpPr>
        <p:spPr>
          <a:xfrm>
            <a:off x="3695700" y="3971925"/>
            <a:ext cx="7620000" cy="7334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418"/>
              </a:lnSpc>
            </a:pPr>
            <a:r>
              <a:rPr lang="ko-KR" sz="1950" b="0">
                <a:solidFill>
                  <a:srgbClr val="F0F2EE"/>
                </a:solidFill>
                <a:latin typeface="Malgun Gothic"/>
                <a:ea typeface="Malgun Gothic"/>
                <a:cs typeface="Malgun Gothic"/>
              </a:rPr>
              <a:t>FoundryPlayableController + FoundryManagementUI</a:t>
            </a:r>
            <a:endParaRPr lang="ko-KR" sz="1950"/>
          </a:p>
          <a:p>
            <a:pPr>
              <a:lnSpc>
                <a:spcPts val="2418"/>
              </a:lnSpc>
            </a:pPr>
            <a:r>
              <a:rPr lang="ko-KR" sz="1950" b="0">
                <a:solidFill>
                  <a:srgbClr val="F0F2EE"/>
                </a:solidFill>
                <a:latin typeface="Malgun Gothic"/>
                <a:ea typeface="Malgun Gothic"/>
                <a:cs typeface="Malgun Gothic"/>
              </a:rPr>
              <a:t>건설·생산 설정·거래·혜성관리 화면 연결</a:t>
            </a:r>
            <a:endParaRPr lang="ko-KR" sz="1950"/>
          </a:p>
        </p:txBody>
      </p:sp>
      <p:sp>
        <p:nvSpPr>
          <p:cNvPr id="11" name="Text 11"/>
          <p:cNvSpPr txBox="1"/>
          <p:nvPr/>
        </p:nvSpPr>
        <p:spPr>
          <a:xfrm>
            <a:off x="619125" y="5143500"/>
            <a:ext cx="2762250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697"/>
              </a:lnSpc>
            </a:pPr>
            <a:r>
              <a:rPr lang="ko-KR" sz="2175" b="1">
                <a:solidFill>
                  <a:srgbClr val="FF923E"/>
                </a:solidFill>
                <a:latin typeface="Malgun Gothic"/>
                <a:ea typeface="Malgun Gothic"/>
                <a:cs typeface="Malgun Gothic"/>
              </a:rPr>
              <a:t>저장·복원</a:t>
            </a:r>
            <a:endParaRPr lang="ko-KR" sz="2175"/>
          </a:p>
        </p:txBody>
      </p:sp>
      <p:sp>
        <p:nvSpPr>
          <p:cNvPr id="12" name="Text 12"/>
          <p:cNvSpPr txBox="1"/>
          <p:nvPr/>
        </p:nvSpPr>
        <p:spPr>
          <a:xfrm>
            <a:off x="3695700" y="5143500"/>
            <a:ext cx="7620000" cy="8667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418"/>
              </a:lnSpc>
            </a:pPr>
            <a:r>
              <a:rPr lang="ko-KR" sz="1950" b="0">
                <a:solidFill>
                  <a:srgbClr val="F0F2EE"/>
                </a:solidFill>
                <a:latin typeface="Malgun Gothic"/>
                <a:ea typeface="Malgun Gothic"/>
                <a:cs typeface="Malgun Gothic"/>
              </a:rPr>
              <a:t>FoundryPersistence</a:t>
            </a:r>
            <a:endParaRPr lang="ko-KR" sz="1950"/>
          </a:p>
          <a:p>
            <a:pPr>
              <a:lnSpc>
                <a:spcPts val="2418"/>
              </a:lnSpc>
            </a:pPr>
            <a:r>
              <a:rPr lang="ko-KR" sz="1950" b="0">
                <a:solidFill>
                  <a:srgbClr val="F0F2EE"/>
                </a:solidFill>
                <a:latin typeface="Malgun Gothic"/>
                <a:ea typeface="Malgun Gothic"/>
                <a:cs typeface="Malgun Gothic"/>
              </a:rPr>
              <a:t>v2 다중 혜성 저장, v1 읽기, 잘못된 데이터의 적용 거부</a:t>
            </a:r>
            <a:endParaRPr lang="ko-KR" sz="195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447675"/>
            <a:ext cx="10906125" cy="790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4278"/>
              </a:lnSpc>
            </a:pPr>
            <a:r>
              <a:rPr lang="ko-KR" sz="3450" b="1">
                <a:solidFill>
                  <a:srgbClr val="F0F2EE"/>
                </a:solidFill>
                <a:latin typeface="Malgun Gothic"/>
                <a:ea typeface="Malgun Gothic"/>
                <a:cs typeface="Malgun Gothic"/>
              </a:rPr>
              <a:t>테스트로 확인한 구현 범위</a:t>
            </a:r>
            <a:endParaRPr lang="ko-KR" sz="3450"/>
          </a:p>
        </p:txBody>
      </p:sp>
      <p:sp>
        <p:nvSpPr>
          <p:cNvPr id="3" name="Text 3"/>
          <p:cNvSpPr txBox="1"/>
          <p:nvPr/>
        </p:nvSpPr>
        <p:spPr>
          <a:xfrm>
            <a:off x="609600" y="6438900"/>
            <a:ext cx="10001250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1395"/>
              </a:lnSpc>
            </a:pPr>
            <a:r>
              <a:rPr lang="ko-KR" sz="1125" b="0">
                <a:solidFill>
                  <a:srgbClr val="AFBEC7"/>
                </a:solidFill>
                <a:latin typeface="Malgun Gothic"/>
                <a:ea typeface="Malgun Gothic"/>
                <a:cs typeface="Malgun Gothic"/>
              </a:rPr>
              <a:t>COMET FOUNDRY  /  DEVELOPMENT PORTFOLIO</a:t>
            </a:r>
            <a:endParaRPr lang="ko-KR" sz="1125"/>
          </a:p>
        </p:txBody>
      </p:sp>
      <p:sp>
        <p:nvSpPr>
          <p:cNvPr id="4" name="Text 4"/>
          <p:cNvSpPr txBox="1"/>
          <p:nvPr/>
        </p:nvSpPr>
        <p:spPr>
          <a:xfrm>
            <a:off x="11239500" y="6438900"/>
            <a:ext cx="476250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1395"/>
              </a:lnSpc>
            </a:pPr>
            <a:r>
              <a:rPr lang="ko-KR" sz="1125" b="0">
                <a:solidFill>
                  <a:srgbClr val="AFBEC7"/>
                </a:solidFill>
                <a:latin typeface="Malgun Gothic"/>
                <a:ea typeface="Malgun Gothic"/>
                <a:cs typeface="Malgun Gothic"/>
              </a:rPr>
              <a:t>11</a:t>
            </a:r>
            <a:endParaRPr lang="ko-KR" sz="1125"/>
          </a:p>
        </p:txBody>
      </p:sp>
      <p:sp>
        <p:nvSpPr>
          <p:cNvPr id="5" name="Text 5"/>
          <p:cNvSpPr txBox="1"/>
          <p:nvPr/>
        </p:nvSpPr>
        <p:spPr>
          <a:xfrm>
            <a:off x="619125" y="1552575"/>
            <a:ext cx="3238500" cy="9810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7998"/>
              </a:lnSpc>
            </a:pPr>
            <a:r>
              <a:rPr lang="ko-KR" sz="6450" b="1">
                <a:solidFill>
                  <a:srgbClr val="FF923E"/>
                </a:solidFill>
                <a:latin typeface="Malgun Gothic"/>
                <a:ea typeface="Malgun Gothic"/>
                <a:cs typeface="Malgun Gothic"/>
              </a:rPr>
              <a:t>22/22</a:t>
            </a:r>
            <a:endParaRPr lang="ko-KR" sz="6450"/>
          </a:p>
        </p:txBody>
      </p:sp>
      <p:sp>
        <p:nvSpPr>
          <p:cNvPr id="6" name="Text 6"/>
          <p:cNvSpPr txBox="1"/>
          <p:nvPr/>
        </p:nvSpPr>
        <p:spPr>
          <a:xfrm>
            <a:off x="619125" y="2762250"/>
            <a:ext cx="3429000" cy="8477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511"/>
              </a:lnSpc>
            </a:pPr>
            <a:r>
              <a:rPr lang="ko-KR" sz="2025" b="0">
                <a:solidFill>
                  <a:srgbClr val="F0F2EE"/>
                </a:solidFill>
                <a:latin typeface="Malgun Gothic"/>
                <a:ea typeface="Malgun Gothic"/>
                <a:cs typeface="Malgun Gothic"/>
              </a:rPr>
              <a:t>관련 Unity EditMode</a:t>
            </a:r>
            <a:endParaRPr lang="ko-KR" sz="2025"/>
          </a:p>
          <a:p>
            <a:pPr>
              <a:lnSpc>
                <a:spcPts val="2511"/>
              </a:lnSpc>
            </a:pPr>
            <a:r>
              <a:rPr lang="ko-KR" sz="2025" b="0">
                <a:solidFill>
                  <a:srgbClr val="F0F2EE"/>
                </a:solidFill>
                <a:latin typeface="Malgun Gothic"/>
                <a:ea typeface="Malgun Gothic"/>
                <a:cs typeface="Malgun Gothic"/>
              </a:rPr>
              <a:t>테스트 통과</a:t>
            </a:r>
            <a:endParaRPr lang="ko-KR" sz="2025"/>
          </a:p>
        </p:txBody>
      </p:sp>
      <p:sp>
        <p:nvSpPr>
          <p:cNvPr id="7" name="Text 7"/>
          <p:cNvSpPr txBox="1"/>
          <p:nvPr/>
        </p:nvSpPr>
        <p:spPr>
          <a:xfrm>
            <a:off x="4857750" y="1666875"/>
            <a:ext cx="6572250" cy="590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325"/>
              </a:lnSpc>
            </a:pPr>
            <a:r>
              <a:rPr lang="ko-KR" sz="1875" b="0">
                <a:solidFill>
                  <a:srgbClr val="F0F2EE"/>
                </a:solidFill>
                <a:latin typeface="Malgun Gothic"/>
                <a:ea typeface="Malgun Gothic"/>
                <a:cs typeface="Malgun Gothic"/>
              </a:rPr>
              <a:t>생산 배치, 재료·비용 보존, 산업장비 생산라인</a:t>
            </a:r>
            <a:endParaRPr lang="ko-KR" sz="1875"/>
          </a:p>
        </p:txBody>
      </p:sp>
      <p:sp>
        <p:nvSpPr>
          <p:cNvPr id="8" name="Text 8"/>
          <p:cNvSpPr txBox="1"/>
          <p:nvPr/>
        </p:nvSpPr>
        <p:spPr>
          <a:xfrm>
            <a:off x="4857750" y="2562225"/>
            <a:ext cx="6572250" cy="590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325"/>
              </a:lnSpc>
            </a:pPr>
            <a:r>
              <a:rPr lang="ko-KR" sz="1875" b="0">
                <a:solidFill>
                  <a:srgbClr val="F0F2EE"/>
                </a:solidFill>
                <a:latin typeface="Malgun Gothic"/>
                <a:ea typeface="Malgun Gothic"/>
                <a:cs typeface="Malgun Gothic"/>
              </a:rPr>
              <a:t>전 등급 거래와 일반·이벤트 변동 한도</a:t>
            </a:r>
            <a:endParaRPr lang="ko-KR" sz="1875"/>
          </a:p>
        </p:txBody>
      </p:sp>
      <p:sp>
        <p:nvSpPr>
          <p:cNvPr id="9" name="Text 9"/>
          <p:cNvSpPr txBox="1"/>
          <p:nvPr/>
        </p:nvSpPr>
        <p:spPr>
          <a:xfrm>
            <a:off x="4857750" y="3457575"/>
            <a:ext cx="6572250" cy="590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325"/>
              </a:lnSpc>
            </a:pPr>
            <a:r>
              <a:rPr lang="ko-KR" sz="1875" b="0">
                <a:solidFill>
                  <a:srgbClr val="F0F2EE"/>
                </a:solidFill>
                <a:latin typeface="Malgun Gothic"/>
                <a:ea typeface="Malgun Gothic"/>
                <a:cs typeface="Malgun Gothic"/>
              </a:rPr>
              <a:t>개척, 배경 생산, 수송 중 저장·복원, 부분 하역</a:t>
            </a:r>
            <a:endParaRPr lang="ko-KR" sz="1875"/>
          </a:p>
        </p:txBody>
      </p:sp>
      <p:sp>
        <p:nvSpPr>
          <p:cNvPr id="10" name="Text 10"/>
          <p:cNvSpPr txBox="1"/>
          <p:nvPr/>
        </p:nvSpPr>
        <p:spPr>
          <a:xfrm>
            <a:off x="4857750" y="4352925"/>
            <a:ext cx="6572250" cy="590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325"/>
              </a:lnSpc>
            </a:pPr>
            <a:r>
              <a:rPr lang="ko-KR" sz="1875" b="0">
                <a:solidFill>
                  <a:srgbClr val="F0F2EE"/>
                </a:solidFill>
                <a:latin typeface="Malgun Gothic"/>
                <a:ea typeface="Malgun Gothic"/>
                <a:cs typeface="Malgun Gothic"/>
              </a:rPr>
              <a:t>튜토리얼 완료와 차트 선 연결·색 분리</a:t>
            </a:r>
            <a:endParaRPr lang="ko-KR" sz="1875"/>
          </a:p>
        </p:txBody>
      </p:sp>
      <p:sp>
        <p:nvSpPr>
          <p:cNvPr id="11" name="Text 11"/>
          <p:cNvSpPr txBox="1"/>
          <p:nvPr/>
        </p:nvSpPr>
        <p:spPr>
          <a:xfrm>
            <a:off x="619125" y="5495925"/>
            <a:ext cx="10763250" cy="504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1860"/>
              </a:lnSpc>
            </a:pPr>
            <a:r>
              <a:rPr lang="ko-KR" sz="1500" b="0">
                <a:solidFill>
                  <a:srgbClr val="AFBEC7"/>
                </a:solidFill>
                <a:latin typeface="Malgun Gothic"/>
                <a:ea typeface="Malgun Gothic"/>
                <a:cs typeface="Malgun Gothic"/>
              </a:rPr>
              <a:t>관련 테스트 필터 실행 결과입니다. 전체 저장소 테스트 통과나 최종 UI 검수 완료를 뜻하지 않습니다.</a:t>
            </a:r>
            <a:endParaRPr lang="ko-KR" sz="15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447675"/>
            <a:ext cx="10906125" cy="790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4278"/>
              </a:lnSpc>
            </a:pPr>
            <a:r>
              <a:rPr lang="ko-KR" sz="3450" b="1">
                <a:solidFill>
                  <a:srgbClr val="F0F2EE"/>
                </a:solidFill>
                <a:latin typeface="Malgun Gothic"/>
                <a:ea typeface="Malgun Gothic"/>
                <a:cs typeface="Malgun Gothic"/>
              </a:rPr>
              <a:t>생산과 거래를 안내하는 튜토리얼</a:t>
            </a:r>
            <a:endParaRPr lang="ko-KR" sz="3450"/>
          </a:p>
        </p:txBody>
      </p:sp>
      <p:sp>
        <p:nvSpPr>
          <p:cNvPr id="3" name="Text 3"/>
          <p:cNvSpPr txBox="1"/>
          <p:nvPr/>
        </p:nvSpPr>
        <p:spPr>
          <a:xfrm>
            <a:off x="609600" y="6438900"/>
            <a:ext cx="10001250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1395"/>
              </a:lnSpc>
            </a:pPr>
            <a:r>
              <a:rPr lang="ko-KR" sz="1125" b="0">
                <a:solidFill>
                  <a:srgbClr val="AFBEC7"/>
                </a:solidFill>
                <a:latin typeface="Malgun Gothic"/>
                <a:ea typeface="Malgun Gothic"/>
                <a:cs typeface="Malgun Gothic"/>
              </a:rPr>
              <a:t>COMET FOUNDRY  /  DEVELOPMENT PORTFOLIO</a:t>
            </a:r>
            <a:endParaRPr lang="ko-KR" sz="1125"/>
          </a:p>
        </p:txBody>
      </p:sp>
      <p:sp>
        <p:nvSpPr>
          <p:cNvPr id="4" name="Text 4"/>
          <p:cNvSpPr txBox="1"/>
          <p:nvPr/>
        </p:nvSpPr>
        <p:spPr>
          <a:xfrm>
            <a:off x="11239500" y="6438900"/>
            <a:ext cx="476250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1395"/>
              </a:lnSpc>
            </a:pPr>
            <a:r>
              <a:rPr lang="ko-KR" sz="1125" b="0">
                <a:solidFill>
                  <a:srgbClr val="AFBEC7"/>
                </a:solidFill>
                <a:latin typeface="Malgun Gothic"/>
                <a:ea typeface="Malgun Gothic"/>
                <a:cs typeface="Malgun Gothic"/>
              </a:rPr>
              <a:t>12</a:t>
            </a:r>
            <a:endParaRPr lang="ko-KR" sz="1125"/>
          </a:p>
        </p:txBody>
      </p:sp>
      <p:sp>
        <p:nvSpPr>
          <p:cNvPr id="5" name="Text 5"/>
          <p:cNvSpPr txBox="1"/>
          <p:nvPr/>
        </p:nvSpPr>
        <p:spPr>
          <a:xfrm>
            <a:off x="619125" y="1524000"/>
            <a:ext cx="10477500" cy="4857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604"/>
              </a:lnSpc>
            </a:pPr>
            <a:r>
              <a:rPr lang="ko-KR" sz="2100" b="0">
                <a:solidFill>
                  <a:srgbClr val="F0F2EE"/>
                </a:solidFill>
                <a:latin typeface="Malgun Gothic"/>
                <a:ea typeface="Malgun Gothic"/>
                <a:cs typeface="Malgun Gothic"/>
              </a:rPr>
              <a:t>발전소·기본 창고·채굴기 2개로 시작합니다.</a:t>
            </a:r>
            <a:endParaRPr lang="ko-KR" sz="2100"/>
          </a:p>
        </p:txBody>
      </p:sp>
      <p:sp>
        <p:nvSpPr>
          <p:cNvPr id="6" name="Text 6"/>
          <p:cNvSpPr txBox="1"/>
          <p:nvPr/>
        </p:nvSpPr>
        <p:spPr>
          <a:xfrm>
            <a:off x="619125" y="2533650"/>
            <a:ext cx="714375" cy="409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604"/>
              </a:lnSpc>
            </a:pPr>
            <a:r>
              <a:rPr lang="ko-KR" sz="2100" b="1">
                <a:solidFill>
                  <a:srgbClr val="FF923E"/>
                </a:solidFill>
                <a:latin typeface="Malgun Gothic"/>
                <a:ea typeface="Malgun Gothic"/>
                <a:cs typeface="Malgun Gothic"/>
              </a:rPr>
              <a:t>01</a:t>
            </a:r>
            <a:endParaRPr lang="ko-KR" sz="2100"/>
          </a:p>
        </p:txBody>
      </p:sp>
      <p:sp>
        <p:nvSpPr>
          <p:cNvPr id="7" name="Text 7"/>
          <p:cNvSpPr txBox="1"/>
          <p:nvPr/>
        </p:nvSpPr>
        <p:spPr>
          <a:xfrm>
            <a:off x="1657350" y="2533650"/>
            <a:ext cx="1581150" cy="409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604"/>
              </a:lnSpc>
            </a:pPr>
            <a:r>
              <a:rPr lang="ko-KR" sz="2100" b="1">
                <a:solidFill>
                  <a:srgbClr val="F0F2EE"/>
                </a:solidFill>
                <a:latin typeface="Malgun Gothic"/>
                <a:ea typeface="Malgun Gothic"/>
                <a:cs typeface="Malgun Gothic"/>
              </a:rPr>
              <a:t>정제소</a:t>
            </a:r>
            <a:endParaRPr lang="ko-KR" sz="2100"/>
          </a:p>
        </p:txBody>
      </p:sp>
      <p:sp>
        <p:nvSpPr>
          <p:cNvPr id="8" name="Text 8"/>
          <p:cNvSpPr txBox="1"/>
          <p:nvPr/>
        </p:nvSpPr>
        <p:spPr>
          <a:xfrm>
            <a:off x="3571875" y="2562225"/>
            <a:ext cx="7810500" cy="542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232"/>
              </a:lnSpc>
            </a:pPr>
            <a:r>
              <a:rPr lang="ko-KR" sz="1800" b="0">
                <a:solidFill>
                  <a:srgbClr val="AFBEC7"/>
                </a:solidFill>
                <a:latin typeface="Malgun Gothic"/>
                <a:ea typeface="Malgun Gothic"/>
                <a:cs typeface="Malgun Gothic"/>
              </a:rPr>
              <a:t>정제소 건설, 철괴 제련 설정, 철괴 2스택 완성</a:t>
            </a:r>
            <a:endParaRPr lang="ko-KR" sz="1800"/>
          </a:p>
        </p:txBody>
      </p:sp>
      <p:sp>
        <p:nvSpPr>
          <p:cNvPr id="9" name="Text 9"/>
          <p:cNvSpPr txBox="1"/>
          <p:nvPr/>
        </p:nvSpPr>
        <p:spPr>
          <a:xfrm>
            <a:off x="619125" y="3371850"/>
            <a:ext cx="714375" cy="409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604"/>
              </a:lnSpc>
            </a:pPr>
            <a:r>
              <a:rPr lang="ko-KR" sz="2100" b="1">
                <a:solidFill>
                  <a:srgbClr val="FF923E"/>
                </a:solidFill>
                <a:latin typeface="Malgun Gothic"/>
                <a:ea typeface="Malgun Gothic"/>
                <a:cs typeface="Malgun Gothic"/>
              </a:rPr>
              <a:t>02</a:t>
            </a:r>
            <a:endParaRPr lang="ko-KR" sz="2100"/>
          </a:p>
        </p:txBody>
      </p:sp>
      <p:sp>
        <p:nvSpPr>
          <p:cNvPr id="10" name="Text 10"/>
          <p:cNvSpPr txBox="1"/>
          <p:nvPr/>
        </p:nvSpPr>
        <p:spPr>
          <a:xfrm>
            <a:off x="1657350" y="3371850"/>
            <a:ext cx="1581150" cy="409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604"/>
              </a:lnSpc>
            </a:pPr>
            <a:r>
              <a:rPr lang="ko-KR" sz="2100" b="1">
                <a:solidFill>
                  <a:srgbClr val="F0F2EE"/>
                </a:solidFill>
                <a:latin typeface="Malgun Gothic"/>
                <a:ea typeface="Malgun Gothic"/>
                <a:cs typeface="Malgun Gothic"/>
              </a:rPr>
              <a:t>가공소</a:t>
            </a:r>
            <a:endParaRPr lang="ko-KR" sz="2100"/>
          </a:p>
        </p:txBody>
      </p:sp>
      <p:sp>
        <p:nvSpPr>
          <p:cNvPr id="11" name="Text 11"/>
          <p:cNvSpPr txBox="1"/>
          <p:nvPr/>
        </p:nvSpPr>
        <p:spPr>
          <a:xfrm>
            <a:off x="3571875" y="3400425"/>
            <a:ext cx="7810500" cy="542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232"/>
              </a:lnSpc>
            </a:pPr>
            <a:r>
              <a:rPr lang="ko-KR" sz="1800" b="0">
                <a:solidFill>
                  <a:srgbClr val="AFBEC7"/>
                </a:solidFill>
                <a:latin typeface="Malgun Gothic"/>
                <a:ea typeface="Malgun Gothic"/>
                <a:cs typeface="Malgun Gothic"/>
              </a:rPr>
              <a:t>금속 가공소 건설, 철판 압연 설정, 철판 2스택 완성</a:t>
            </a:r>
            <a:endParaRPr lang="ko-KR" sz="1800"/>
          </a:p>
        </p:txBody>
      </p:sp>
      <p:sp>
        <p:nvSpPr>
          <p:cNvPr id="12" name="Text 12"/>
          <p:cNvSpPr txBox="1"/>
          <p:nvPr/>
        </p:nvSpPr>
        <p:spPr>
          <a:xfrm>
            <a:off x="619125" y="4210050"/>
            <a:ext cx="714375" cy="409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604"/>
              </a:lnSpc>
            </a:pPr>
            <a:r>
              <a:rPr lang="ko-KR" sz="2100" b="1">
                <a:solidFill>
                  <a:srgbClr val="FF923E"/>
                </a:solidFill>
                <a:latin typeface="Malgun Gothic"/>
                <a:ea typeface="Malgun Gothic"/>
                <a:cs typeface="Malgun Gothic"/>
              </a:rPr>
              <a:t>03</a:t>
            </a:r>
            <a:endParaRPr lang="ko-KR" sz="2100"/>
          </a:p>
        </p:txBody>
      </p:sp>
      <p:sp>
        <p:nvSpPr>
          <p:cNvPr id="13" name="Text 13"/>
          <p:cNvSpPr txBox="1"/>
          <p:nvPr/>
        </p:nvSpPr>
        <p:spPr>
          <a:xfrm>
            <a:off x="1657350" y="4210050"/>
            <a:ext cx="1581150" cy="409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604"/>
              </a:lnSpc>
            </a:pPr>
            <a:r>
              <a:rPr lang="ko-KR" sz="2100" b="1">
                <a:solidFill>
                  <a:srgbClr val="F0F2EE"/>
                </a:solidFill>
                <a:latin typeface="Malgun Gothic"/>
                <a:ea typeface="Malgun Gothic"/>
                <a:cs typeface="Malgun Gothic"/>
              </a:rPr>
              <a:t>거래소</a:t>
            </a:r>
            <a:endParaRPr lang="ko-KR" sz="2100"/>
          </a:p>
        </p:txBody>
      </p:sp>
      <p:sp>
        <p:nvSpPr>
          <p:cNvPr id="14" name="Text 14"/>
          <p:cNvSpPr txBox="1"/>
          <p:nvPr/>
        </p:nvSpPr>
        <p:spPr>
          <a:xfrm>
            <a:off x="3571875" y="4238625"/>
            <a:ext cx="7810500" cy="542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232"/>
              </a:lnSpc>
            </a:pPr>
            <a:r>
              <a:rPr lang="ko-KR" sz="1800" b="0">
                <a:solidFill>
                  <a:srgbClr val="AFBEC7"/>
                </a:solidFill>
                <a:latin typeface="Malgun Gothic"/>
                <a:ea typeface="Malgun Gothic"/>
                <a:cs typeface="Malgun Gothic"/>
              </a:rPr>
              <a:t>거래소 건설로 거래소·혜성관리 HUD 버튼 활성화</a:t>
            </a:r>
            <a:endParaRPr lang="ko-KR" sz="1800"/>
          </a:p>
        </p:txBody>
      </p:sp>
      <p:sp>
        <p:nvSpPr>
          <p:cNvPr id="15" name="Text 15"/>
          <p:cNvSpPr txBox="1"/>
          <p:nvPr/>
        </p:nvSpPr>
        <p:spPr>
          <a:xfrm>
            <a:off x="619125" y="5048250"/>
            <a:ext cx="714375" cy="409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604"/>
              </a:lnSpc>
            </a:pPr>
            <a:r>
              <a:rPr lang="ko-KR" sz="2100" b="1">
                <a:solidFill>
                  <a:srgbClr val="FF923E"/>
                </a:solidFill>
                <a:latin typeface="Malgun Gothic"/>
                <a:ea typeface="Malgun Gothic"/>
                <a:cs typeface="Malgun Gothic"/>
              </a:rPr>
              <a:t>04</a:t>
            </a:r>
            <a:endParaRPr lang="ko-KR" sz="2100"/>
          </a:p>
        </p:txBody>
      </p:sp>
      <p:sp>
        <p:nvSpPr>
          <p:cNvPr id="16" name="Text 16"/>
          <p:cNvSpPr txBox="1"/>
          <p:nvPr/>
        </p:nvSpPr>
        <p:spPr>
          <a:xfrm>
            <a:off x="1657350" y="5048250"/>
            <a:ext cx="1581150" cy="409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604"/>
              </a:lnSpc>
            </a:pPr>
            <a:r>
              <a:rPr lang="ko-KR" sz="2100" b="1">
                <a:solidFill>
                  <a:srgbClr val="F0F2EE"/>
                </a:solidFill>
                <a:latin typeface="Malgun Gothic"/>
                <a:ea typeface="Malgun Gothic"/>
                <a:cs typeface="Malgun Gothic"/>
              </a:rPr>
              <a:t>거래</a:t>
            </a:r>
            <a:endParaRPr lang="ko-KR" sz="2100"/>
          </a:p>
        </p:txBody>
      </p:sp>
      <p:sp>
        <p:nvSpPr>
          <p:cNvPr id="17" name="Text 17"/>
          <p:cNvSpPr txBox="1"/>
          <p:nvPr/>
        </p:nvSpPr>
        <p:spPr>
          <a:xfrm>
            <a:off x="3571875" y="5076825"/>
            <a:ext cx="7810500" cy="542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232"/>
              </a:lnSpc>
            </a:pPr>
            <a:r>
              <a:rPr lang="ko-KR" sz="1800" b="0">
                <a:solidFill>
                  <a:srgbClr val="AFBEC7"/>
                </a:solidFill>
                <a:latin typeface="Malgun Gothic"/>
                <a:ea typeface="Malgun Gothic"/>
                <a:cs typeface="Malgun Gothic"/>
              </a:rPr>
              <a:t>판매와 구매를 각각 직접 완료하면 안내 종료</a:t>
            </a:r>
            <a:endParaRPr lang="ko-KR" sz="1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447675"/>
            <a:ext cx="10906125" cy="790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4278"/>
              </a:lnSpc>
            </a:pPr>
            <a:r>
              <a:rPr lang="ko-KR" sz="3450" b="1">
                <a:solidFill>
                  <a:srgbClr val="F0F2EE"/>
                </a:solidFill>
                <a:latin typeface="Malgun Gothic"/>
                <a:ea typeface="Malgun Gothic"/>
                <a:cs typeface="Malgun Gothic"/>
              </a:rPr>
              <a:t>현재 빌드와 다음 개발 과제</a:t>
            </a:r>
            <a:endParaRPr lang="ko-KR" sz="3450"/>
          </a:p>
        </p:txBody>
      </p:sp>
      <p:sp>
        <p:nvSpPr>
          <p:cNvPr id="3" name="Text 3"/>
          <p:cNvSpPr txBox="1"/>
          <p:nvPr/>
        </p:nvSpPr>
        <p:spPr>
          <a:xfrm>
            <a:off x="609600" y="6438900"/>
            <a:ext cx="10001250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1395"/>
              </a:lnSpc>
            </a:pPr>
            <a:r>
              <a:rPr lang="ko-KR" sz="1125" b="0">
                <a:solidFill>
                  <a:srgbClr val="AFBEC7"/>
                </a:solidFill>
                <a:latin typeface="Malgun Gothic"/>
                <a:ea typeface="Malgun Gothic"/>
                <a:cs typeface="Malgun Gothic"/>
              </a:rPr>
              <a:t>COMET FOUNDRY  /  DEVELOPMENT PORTFOLIO</a:t>
            </a:r>
            <a:endParaRPr lang="ko-KR" sz="1125"/>
          </a:p>
        </p:txBody>
      </p:sp>
      <p:sp>
        <p:nvSpPr>
          <p:cNvPr id="4" name="Text 4"/>
          <p:cNvSpPr txBox="1"/>
          <p:nvPr/>
        </p:nvSpPr>
        <p:spPr>
          <a:xfrm>
            <a:off x="11239500" y="6438900"/>
            <a:ext cx="476250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1395"/>
              </a:lnSpc>
            </a:pPr>
            <a:r>
              <a:rPr lang="ko-KR" sz="1125" b="0">
                <a:solidFill>
                  <a:srgbClr val="AFBEC7"/>
                </a:solidFill>
                <a:latin typeface="Malgun Gothic"/>
                <a:ea typeface="Malgun Gothic"/>
                <a:cs typeface="Malgun Gothic"/>
              </a:rPr>
              <a:t>13</a:t>
            </a:r>
            <a:endParaRPr lang="ko-KR" sz="1125"/>
          </a:p>
        </p:txBody>
      </p:sp>
      <p:sp>
        <p:nvSpPr>
          <p:cNvPr id="5" name="Text 5"/>
          <p:cNvSpPr txBox="1"/>
          <p:nvPr/>
        </p:nvSpPr>
        <p:spPr>
          <a:xfrm>
            <a:off x="619125" y="1619250"/>
            <a:ext cx="48577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790"/>
              </a:lnSpc>
            </a:pPr>
            <a:r>
              <a:rPr lang="ko-KR" sz="2250" b="1">
                <a:solidFill>
                  <a:srgbClr val="FF923E"/>
                </a:solidFill>
                <a:latin typeface="Malgun Gothic"/>
                <a:ea typeface="Malgun Gothic"/>
                <a:cs typeface="Malgun Gothic"/>
              </a:rPr>
              <a:t>현재 실행 가능 범위</a:t>
            </a:r>
            <a:endParaRPr lang="ko-KR" sz="2250"/>
          </a:p>
        </p:txBody>
      </p:sp>
      <p:sp>
        <p:nvSpPr>
          <p:cNvPr id="6" name="Text 6"/>
          <p:cNvSpPr txBox="1"/>
          <p:nvPr/>
        </p:nvSpPr>
        <p:spPr>
          <a:xfrm>
            <a:off x="619125" y="2409825"/>
            <a:ext cx="4857750" cy="15335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418"/>
              </a:lnSpc>
            </a:pPr>
            <a:r>
              <a:rPr lang="ko-KR" sz="1950" b="0">
                <a:solidFill>
                  <a:srgbClr val="F0F2EE"/>
                </a:solidFill>
                <a:latin typeface="Malgun Gothic"/>
                <a:ea typeface="Malgun Gothic"/>
                <a:cs typeface="Malgun Gothic"/>
              </a:rPr>
              <a:t>Windows 개발 빌드 제공</a:t>
            </a:r>
            <a:endParaRPr lang="ko-KR" sz="1950"/>
          </a:p>
          <a:p>
            <a:pPr>
              <a:lnSpc>
                <a:spcPts val="2418"/>
              </a:lnSpc>
            </a:pPr>
            <a:r>
              <a:rPr lang="ko-KR" sz="1950" b="0">
                <a:solidFill>
                  <a:srgbClr val="F0F2EE"/>
                </a:solidFill>
                <a:latin typeface="Malgun Gothic"/>
                <a:ea typeface="Malgun Gothic"/>
                <a:cs typeface="Malgun Gothic"/>
              </a:rPr>
              <a:t>단일 플레이 경영 흐름 구현</a:t>
            </a:r>
            <a:endParaRPr lang="ko-KR" sz="1950"/>
          </a:p>
          <a:p>
            <a:pPr>
              <a:lnSpc>
                <a:spcPts val="2418"/>
              </a:lnSpc>
            </a:pPr>
            <a:r>
              <a:rPr lang="ko-KR" sz="1950" b="0">
                <a:solidFill>
                  <a:srgbClr val="F0F2EE"/>
                </a:solidFill>
                <a:latin typeface="Malgun Gothic"/>
                <a:ea typeface="Malgun Gothic"/>
                <a:cs typeface="Malgun Gothic"/>
              </a:rPr>
              <a:t>게임 내 저장·불러오기 지원</a:t>
            </a:r>
            <a:endParaRPr lang="ko-KR" sz="1950"/>
          </a:p>
        </p:txBody>
      </p:sp>
      <p:sp>
        <p:nvSpPr>
          <p:cNvPr id="7" name="Text 7"/>
          <p:cNvSpPr txBox="1"/>
          <p:nvPr/>
        </p:nvSpPr>
        <p:spPr>
          <a:xfrm>
            <a:off x="619125" y="4429125"/>
            <a:ext cx="4953000" cy="1219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139"/>
              </a:lnSpc>
            </a:pPr>
            <a:r>
              <a:rPr lang="ko-KR" sz="1725" b="0">
                <a:solidFill>
                  <a:srgbClr val="AFBEC7"/>
                </a:solidFill>
                <a:latin typeface="Malgun Gothic"/>
                <a:ea typeface="Malgun Gothic"/>
                <a:cs typeface="Malgun Gothic"/>
              </a:rPr>
              <a:t>실행: Builds/CometFoundry/CometFoundry.exe</a:t>
            </a:r>
            <a:endParaRPr lang="ko-KR" sz="1725"/>
          </a:p>
          <a:p>
            <a:pPr>
              <a:lnSpc>
                <a:spcPts val="2139"/>
              </a:lnSpc>
            </a:pPr>
            <a:r>
              <a:rPr lang="ko-KR" sz="1725" b="0">
                <a:solidFill>
                  <a:srgbClr val="AFBEC7"/>
                </a:solidFill>
                <a:latin typeface="Malgun Gothic"/>
                <a:ea typeface="Malgun Gothic"/>
                <a:cs typeface="Malgun Gothic"/>
              </a:rPr>
              <a:t>Unity: FoundryPlayableScene.unity</a:t>
            </a:r>
            <a:endParaRPr lang="ko-KR" sz="1725"/>
          </a:p>
          <a:p>
            <a:pPr>
              <a:lnSpc>
                <a:spcPts val="2139"/>
              </a:lnSpc>
            </a:pPr>
            <a:r>
              <a:rPr lang="ko-KR" sz="1725" b="0">
                <a:solidFill>
                  <a:srgbClr val="AFBEC7"/>
                </a:solidFill>
                <a:latin typeface="Malgun Gothic"/>
                <a:ea typeface="Malgun Gothic"/>
                <a:cs typeface="Malgun Gothic"/>
              </a:rPr>
              <a:t>실행 파일과 Data·DLL 폴더를 함께 유지</a:t>
            </a:r>
            <a:endParaRPr lang="ko-KR" sz="1725"/>
          </a:p>
        </p:txBody>
      </p:sp>
      <p:sp>
        <p:nvSpPr>
          <p:cNvPr id="8" name="Text 8"/>
          <p:cNvSpPr txBox="1"/>
          <p:nvPr/>
        </p:nvSpPr>
        <p:spPr>
          <a:xfrm>
            <a:off x="6619875" y="1619250"/>
            <a:ext cx="48577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790"/>
              </a:lnSpc>
            </a:pPr>
            <a:r>
              <a:rPr lang="ko-KR" sz="2250" b="1">
                <a:solidFill>
                  <a:srgbClr val="FF923E"/>
                </a:solidFill>
                <a:latin typeface="Malgun Gothic"/>
                <a:ea typeface="Malgun Gothic"/>
                <a:cs typeface="Malgun Gothic"/>
              </a:rPr>
              <a:t>다음 개발 과제</a:t>
            </a:r>
            <a:endParaRPr lang="ko-KR" sz="2250"/>
          </a:p>
        </p:txBody>
      </p:sp>
      <p:sp>
        <p:nvSpPr>
          <p:cNvPr id="9" name="Text 9"/>
          <p:cNvSpPr txBox="1"/>
          <p:nvPr/>
        </p:nvSpPr>
        <p:spPr>
          <a:xfrm>
            <a:off x="6619875" y="2409825"/>
            <a:ext cx="4857750" cy="20002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418"/>
              </a:lnSpc>
            </a:pPr>
            <a:r>
              <a:rPr lang="ko-KR" sz="1950" b="0">
                <a:solidFill>
                  <a:srgbClr val="F0F2EE"/>
                </a:solidFill>
                <a:latin typeface="Malgun Gothic"/>
                <a:ea typeface="Malgun Gothic"/>
                <a:cs typeface="Malgun Gothic"/>
              </a:rPr>
              <a:t>해상도별 전체 화면 검수</a:t>
            </a:r>
            <a:endParaRPr lang="ko-KR" sz="1950"/>
          </a:p>
          <a:p>
            <a:pPr>
              <a:lnSpc>
                <a:spcPts val="2418"/>
              </a:lnSpc>
            </a:pPr>
            <a:r>
              <a:rPr lang="ko-KR" sz="1950" b="0">
                <a:solidFill>
                  <a:srgbClr val="F0F2EE"/>
                </a:solidFill>
                <a:latin typeface="Malgun Gothic"/>
                <a:ea typeface="Malgun Gothic"/>
                <a:cs typeface="Malgun Gothic"/>
              </a:rPr>
              <a:t>장시간 경제·생산 밸런스 조정</a:t>
            </a:r>
            <a:endParaRPr lang="ko-KR" sz="1950"/>
          </a:p>
          <a:p>
            <a:pPr>
              <a:lnSpc>
                <a:spcPts val="2418"/>
              </a:lnSpc>
            </a:pPr>
            <a:r>
              <a:rPr lang="ko-KR" sz="1950" b="0">
                <a:solidFill>
                  <a:srgbClr val="F0F2EE"/>
                </a:solidFill>
                <a:latin typeface="Malgun Gothic"/>
                <a:ea typeface="Malgun Gothic"/>
                <a:cs typeface="Malgun Gothic"/>
              </a:rPr>
              <a:t>탐사와 수송 진행 정보 보강</a:t>
            </a:r>
            <a:endParaRPr lang="ko-KR" sz="1950"/>
          </a:p>
          <a:p>
            <a:pPr>
              <a:lnSpc>
                <a:spcPts val="2418"/>
              </a:lnSpc>
            </a:pPr>
            <a:r>
              <a:rPr lang="ko-KR" sz="1950" b="0">
                <a:solidFill>
                  <a:srgbClr val="F0F2EE"/>
                </a:solidFill>
                <a:latin typeface="Malgun Gothic"/>
                <a:ea typeface="Malgun Gothic"/>
                <a:cs typeface="Malgun Gothic"/>
              </a:rPr>
              <a:t>최종 아트·연출 개선</a:t>
            </a:r>
            <a:endParaRPr lang="ko-KR" sz="1950"/>
          </a:p>
        </p:txBody>
      </p:sp>
      <p:sp>
        <p:nvSpPr>
          <p:cNvPr id="10" name="Text 10"/>
          <p:cNvSpPr txBox="1"/>
          <p:nvPr/>
        </p:nvSpPr>
        <p:spPr>
          <a:xfrm>
            <a:off x="6619875" y="4838700"/>
            <a:ext cx="4857750" cy="990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046"/>
              </a:lnSpc>
            </a:pPr>
            <a:r>
              <a:rPr lang="ko-KR" sz="1650" b="0">
                <a:solidFill>
                  <a:srgbClr val="AFBEC7"/>
                </a:solidFill>
                <a:latin typeface="Malgun Gothic"/>
                <a:ea typeface="Malgun Gothic"/>
                <a:cs typeface="Malgun Gothic"/>
              </a:rPr>
              <a:t>현재 결과물은 개발 단계의 플레이어블입니다.</a:t>
            </a:r>
            <a:endParaRPr lang="ko-KR" sz="1650"/>
          </a:p>
          <a:p>
            <a:pPr>
              <a:lnSpc>
                <a:spcPts val="2046"/>
              </a:lnSpc>
            </a:pPr>
            <a:r>
              <a:rPr lang="ko-KR" sz="1650" b="0">
                <a:solidFill>
                  <a:srgbClr val="AFBEC7"/>
                </a:solidFill>
                <a:latin typeface="Malgun Gothic"/>
                <a:ea typeface="Malgun Gothic"/>
                <a:cs typeface="Malgun Gothic"/>
              </a:rPr>
              <a:t>최종 게임 화면의 재캡처 검수는 남아 있습니다.</a:t>
            </a:r>
            <a:endParaRPr lang="ko-KR" sz="16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met Foundry">
  <a:themeElements>
    <a:clrScheme name="Foundry">
      <a:dk1>
        <a:srgbClr val="101D26"/>
      </a:dk1>
      <a:lt1>
        <a:srgbClr val="F0F2EE"/>
      </a:lt1>
      <a:dk2>
        <a:srgbClr val="182C38"/>
      </a:dk2>
      <a:lt2>
        <a:srgbClr val="AFBEC7"/>
      </a:lt2>
      <a:accent1>
        <a:srgbClr val="FF923E"/>
      </a:accent1>
      <a:accent2>
        <a:srgbClr val="F5545B"/>
      </a:accent2>
      <a:accent3>
        <a:srgbClr val="4C9BFF"/>
      </a:accent3>
      <a:accent4>
        <a:srgbClr val="7DD6B1"/>
      </a:accent4>
      <a:accent5>
        <a:srgbClr val="FFFFFF"/>
      </a:accent5>
      <a:accent6>
        <a:srgbClr val="ADBECA"/>
      </a:accent6>
      <a:hlink>
        <a:srgbClr val="4C9BFF"/>
      </a:hlink>
      <a:folHlink>
        <a:srgbClr val="AB83ED"/>
      </a:folHlink>
    </a:clrScheme>
    <a:fontScheme name="Malgun">
      <a:majorFont>
        <a:latin typeface="Malgun Gothic"/>
        <a:ea typeface="Malgun Gothic"/>
        <a:cs typeface="Malgun Gothic"/>
      </a:majorFont>
      <a:minorFont>
        <a:latin typeface="Malgun Gothic"/>
        <a:ea typeface="Malgun Gothic"/>
        <a:cs typeface="Malgun Gothic"/>
      </a:minorFont>
    </a:fontScheme>
    <a:fmtScheme name="Foundry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  <a:prstDash val="solid"/>
        </a:ln>
        <a:ln w="9525">
          <a:solidFill>
            <a:schemeClr val="phClr"/>
          </a:solidFill>
          <a:prstDash val="solid"/>
        </a:ln>
        <a:ln w="9525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